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7516B-B83B-1BB2-2988-541C258C4C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5516CA-2CCB-86EA-AB32-936821BC35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FF33F0-D9CB-A332-7B1D-80E08E3AD1D0}"/>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5" name="Footer Placeholder 4">
            <a:extLst>
              <a:ext uri="{FF2B5EF4-FFF2-40B4-BE49-F238E27FC236}">
                <a16:creationId xmlns:a16="http://schemas.microsoft.com/office/drawing/2014/main" id="{5D80C42C-5439-3FB5-4791-65CFEFC457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61CEF-E8F7-10A2-B013-F55CE3EA85FD}"/>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4172860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64DC9-EC13-2F77-CBA2-32CA8F7DC5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9CED70-2F1B-067F-6A9F-6A719655CB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AE53D0-176E-3D94-35D1-9F3B0BD66A84}"/>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5" name="Footer Placeholder 4">
            <a:extLst>
              <a:ext uri="{FF2B5EF4-FFF2-40B4-BE49-F238E27FC236}">
                <a16:creationId xmlns:a16="http://schemas.microsoft.com/office/drawing/2014/main" id="{F29E03E7-0B00-F452-6214-6F4846BD52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4741E-3E9B-A3E2-50A8-14BE5C2AAED2}"/>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3078860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FB59A-75F9-284B-5A34-C4879E1508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7F55A4-A34A-DBC9-D996-B376143324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0B81D8-2BC3-35B6-F762-7C4C5E0AB4AC}"/>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5" name="Footer Placeholder 4">
            <a:extLst>
              <a:ext uri="{FF2B5EF4-FFF2-40B4-BE49-F238E27FC236}">
                <a16:creationId xmlns:a16="http://schemas.microsoft.com/office/drawing/2014/main" id="{DB80373E-B294-4B67-DFF4-286AEB701C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A9ACD-34B9-06BC-64D7-E9AA81FE91DA}"/>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2409814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4AAC1-CF8D-DAE9-ED93-1EF7FE712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6C8615-8FF6-CCB9-4BF9-68FCA61402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F3DD1F-6967-B6C1-F163-B7FC804434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18F125-FBA9-5248-BF62-CCBA755E476C}"/>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6" name="Footer Placeholder 5">
            <a:extLst>
              <a:ext uri="{FF2B5EF4-FFF2-40B4-BE49-F238E27FC236}">
                <a16:creationId xmlns:a16="http://schemas.microsoft.com/office/drawing/2014/main" id="{FD6D90BD-1571-C23B-753E-62A2595B43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378F17-CAA4-95B5-2E04-470015023124}"/>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1271450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9917-022F-25D6-67E4-ABBEA253EC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4B5C1D-D62C-371A-8F03-877B69E61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BA7C2C-9DD8-36E1-A6FA-4E7B8B3837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2F66F5-3263-09DB-8E92-A67C46CD9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58E313-30C1-F9F0-D5D6-D6C171262D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053794-A79D-7AD7-09B0-F8F9C81499A8}"/>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8" name="Footer Placeholder 7">
            <a:extLst>
              <a:ext uri="{FF2B5EF4-FFF2-40B4-BE49-F238E27FC236}">
                <a16:creationId xmlns:a16="http://schemas.microsoft.com/office/drawing/2014/main" id="{FE1A147F-90EA-4391-915A-446F7C13A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469EE4-5A45-E3F1-8685-95F97D9FC2FE}"/>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296359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FA7A-4BA3-B87A-0912-5235DD6A14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F8A71B-84FA-1F26-8349-6FB177B0B2A8}"/>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4" name="Footer Placeholder 3">
            <a:extLst>
              <a:ext uri="{FF2B5EF4-FFF2-40B4-BE49-F238E27FC236}">
                <a16:creationId xmlns:a16="http://schemas.microsoft.com/office/drawing/2014/main" id="{734721DC-4DD5-B8F5-8B93-D9613F9010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18C691-708D-2222-832D-C4C819B552ED}"/>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3133597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19C100-9B67-0B07-CDC6-D920B1121FE3}"/>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3" name="Footer Placeholder 2">
            <a:extLst>
              <a:ext uri="{FF2B5EF4-FFF2-40B4-BE49-F238E27FC236}">
                <a16:creationId xmlns:a16="http://schemas.microsoft.com/office/drawing/2014/main" id="{78034250-A5A8-9DAD-1C83-A2BC18EA42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1FF94D-8E84-6C0A-98E7-AF518E53CF18}"/>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3529235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E0DC2-E83A-B489-E190-CC6E0952F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1EBFB-D92A-9A0B-628E-57260F60A2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A40E0C-1841-1977-2F4D-1EB3998032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1E55A-665C-9048-327E-AC4D77B373B6}"/>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6" name="Footer Placeholder 5">
            <a:extLst>
              <a:ext uri="{FF2B5EF4-FFF2-40B4-BE49-F238E27FC236}">
                <a16:creationId xmlns:a16="http://schemas.microsoft.com/office/drawing/2014/main" id="{E468AC8A-0E59-A1E1-542E-15B5B87936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F782EF-8605-6EA9-A710-02D892D89644}"/>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255089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21C95-C4C8-078C-0FC4-2C2330371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6D5D43-29CF-9228-B7FC-194FD4953AD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A5C653-9287-C0A7-1FF2-940C91751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D19894-1D91-5401-355B-503DA3F0C63E}"/>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6" name="Footer Placeholder 5">
            <a:extLst>
              <a:ext uri="{FF2B5EF4-FFF2-40B4-BE49-F238E27FC236}">
                <a16:creationId xmlns:a16="http://schemas.microsoft.com/office/drawing/2014/main" id="{CE218955-E8CB-9784-0D9F-9183C24C94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E722FD-0775-BAF8-724C-76E9D6B71138}"/>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343908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4FF7-86E9-EF6E-2C0F-AC90C0B88B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471AAC-AB23-D700-5FE7-60AF36A9C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9677B3-4A6E-5AE1-C861-D24735A4DC3A}"/>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5" name="Footer Placeholder 4">
            <a:extLst>
              <a:ext uri="{FF2B5EF4-FFF2-40B4-BE49-F238E27FC236}">
                <a16:creationId xmlns:a16="http://schemas.microsoft.com/office/drawing/2014/main" id="{71FD7F5F-7E0F-D915-E4CD-4E0E2C49D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D986EF-F7C4-58E9-CD8F-3E72A0E4A1F4}"/>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1457322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AD97E8-994E-18F5-B629-2A7ACEE656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9CFC66-3AFE-4EA5-6451-36F469ADC7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3A5B36-67EE-1A2A-BBA2-E52CB1AF9CEA}"/>
              </a:ext>
            </a:extLst>
          </p:cNvPr>
          <p:cNvSpPr>
            <a:spLocks noGrp="1"/>
          </p:cNvSpPr>
          <p:nvPr>
            <p:ph type="dt" sz="half" idx="10"/>
          </p:nvPr>
        </p:nvSpPr>
        <p:spPr/>
        <p:txBody>
          <a:bodyPr/>
          <a:lstStyle/>
          <a:p>
            <a:fld id="{28FEC0B0-9B24-4955-AAFC-3591ED58176D}" type="datetimeFigureOut">
              <a:rPr lang="en-US" smtClean="0"/>
              <a:t>10/22/2026</a:t>
            </a:fld>
            <a:endParaRPr lang="en-US"/>
          </a:p>
        </p:txBody>
      </p:sp>
      <p:sp>
        <p:nvSpPr>
          <p:cNvPr id="5" name="Footer Placeholder 4">
            <a:extLst>
              <a:ext uri="{FF2B5EF4-FFF2-40B4-BE49-F238E27FC236}">
                <a16:creationId xmlns:a16="http://schemas.microsoft.com/office/drawing/2014/main" id="{06EF0E33-DB9B-A11D-88C0-566DFB1ED3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DAF3F3-16D6-9B0C-B89B-CA6B2C5FAB53}"/>
              </a:ext>
            </a:extLst>
          </p:cNvPr>
          <p:cNvSpPr>
            <a:spLocks noGrp="1"/>
          </p:cNvSpPr>
          <p:nvPr>
            <p:ph type="sldNum" sz="quarter" idx="12"/>
          </p:nvPr>
        </p:nvSpPr>
        <p:spPr/>
        <p:txBody>
          <a:bodyPr/>
          <a:lstStyle/>
          <a:p>
            <a:fld id="{E81A6055-C3D1-4ECC-AFA2-93CB93648930}" type="slidenum">
              <a:rPr lang="en-US" smtClean="0"/>
              <a:t>‹#›</a:t>
            </a:fld>
            <a:endParaRPr lang="en-US"/>
          </a:p>
        </p:txBody>
      </p:sp>
    </p:spTree>
    <p:extLst>
      <p:ext uri="{BB962C8B-B14F-4D97-AF65-F5344CB8AC3E}">
        <p14:creationId xmlns:p14="http://schemas.microsoft.com/office/powerpoint/2010/main" val="1094174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2F9A5D-9B02-7D70-2BD1-1301BE84E9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9AB164-4029-4FD2-BACA-7CD1563F18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332ED-431C-C014-0BB7-4B4C5BB592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FEC0B0-9B24-4955-AAFC-3591ED58176D}" type="datetimeFigureOut">
              <a:rPr lang="en-US" smtClean="0"/>
              <a:t>10/22/2026</a:t>
            </a:fld>
            <a:endParaRPr lang="en-US"/>
          </a:p>
        </p:txBody>
      </p:sp>
      <p:sp>
        <p:nvSpPr>
          <p:cNvPr id="5" name="Footer Placeholder 4">
            <a:extLst>
              <a:ext uri="{FF2B5EF4-FFF2-40B4-BE49-F238E27FC236}">
                <a16:creationId xmlns:a16="http://schemas.microsoft.com/office/drawing/2014/main" id="{4EC6E58E-ED02-7C8F-EA58-44241BB4F1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109C64-1838-8525-D6EA-810F7867E6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1A6055-C3D1-4ECC-AFA2-93CB93648930}" type="slidenum">
              <a:rPr lang="en-US" smtClean="0"/>
              <a:t>‹#›</a:t>
            </a:fld>
            <a:endParaRPr lang="en-US"/>
          </a:p>
        </p:txBody>
      </p:sp>
    </p:spTree>
    <p:extLst>
      <p:ext uri="{BB962C8B-B14F-4D97-AF65-F5344CB8AC3E}">
        <p14:creationId xmlns:p14="http://schemas.microsoft.com/office/powerpoint/2010/main" val="110202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4F287A-B5B8-E33B-0256-A4CA20216A75}"/>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53F37EF-3928-6BD0-346B-E90BA9ECBD5E}"/>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9ECEF737-EE08-4D2F-D3BA-484899FF48C2}"/>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01 / 27</a:t>
            </a:r>
          </a:p>
        </p:txBody>
      </p:sp>
      <p:sp>
        <p:nvSpPr>
          <p:cNvPr id="5" name="TextBox 4">
            <a:extLst>
              <a:ext uri="{FF2B5EF4-FFF2-40B4-BE49-F238E27FC236}">
                <a16:creationId xmlns:a16="http://schemas.microsoft.com/office/drawing/2014/main" id="{C412B2EE-4B7B-B9FB-47B8-E2EA95952AED}"/>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en-US" sz="3000" b="1">
                <a:solidFill>
                  <a:srgbClr val="5B2453"/>
                </a:solidFill>
                <a:latin typeface="Arial" panose="020B0604020202020204" pitchFamily="34" charset="0"/>
                <a:cs typeface="Arial" panose="020B0604020202020204" pitchFamily="34" charset="0"/>
              </a:rPr>
              <a:t>MeetSpace</a:t>
            </a:r>
          </a:p>
        </p:txBody>
      </p:sp>
      <p:sp>
        <p:nvSpPr>
          <p:cNvPr id="6" name="TextBox 5">
            <a:extLst>
              <a:ext uri="{FF2B5EF4-FFF2-40B4-BE49-F238E27FC236}">
                <a16:creationId xmlns:a16="http://schemas.microsoft.com/office/drawing/2014/main" id="{AF07F2F2-2F9C-1E20-7BB0-3A870B73E621}"/>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AI-Powered Room Booking Assistant</a:t>
            </a:r>
          </a:p>
        </p:txBody>
      </p:sp>
      <p:sp>
        <p:nvSpPr>
          <p:cNvPr id="7" name="Rectangle: Rounded Corners 6">
            <a:extLst>
              <a:ext uri="{FF2B5EF4-FFF2-40B4-BE49-F238E27FC236}">
                <a16:creationId xmlns:a16="http://schemas.microsoft.com/office/drawing/2014/main" id="{5C3866D7-A7F7-15BC-F2BB-7E35783FA712}"/>
              </a:ext>
            </a:extLst>
          </p:cNvPr>
          <p:cNvSpPr/>
          <p:nvPr/>
        </p:nvSpPr>
        <p:spPr>
          <a:xfrm>
            <a:off x="6184900" y="2336800"/>
            <a:ext cx="5473700"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3924782-F091-F61B-62E2-01F0741999DC}"/>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E845AE6-3BC4-0EC6-DB27-5D288890D763}"/>
              </a:ext>
            </a:extLst>
          </p:cNvPr>
          <p:cNvSpPr txBox="1"/>
          <p:nvPr/>
        </p:nvSpPr>
        <p:spPr>
          <a:xfrm>
            <a:off x="6350000" y="2489200"/>
            <a:ext cx="5118100" cy="359073"/>
          </a:xfrm>
          <a:prstGeom prst="rect">
            <a:avLst/>
          </a:prstGeom>
          <a:noFill/>
        </p:spPr>
        <p:txBody>
          <a:bodyPr vert="horz" wrap="square" lIns="38100" tIns="25400" rIns="38100" bIns="25400" rtlCol="0">
            <a:spAutoFit/>
          </a:bodyPr>
          <a:lstStyle/>
          <a:p>
            <a:pPr algn="r" rtl="1">
              <a:spcAft>
                <a:spcPts val="400"/>
              </a:spcAft>
            </a:pPr>
            <a:r>
              <a:rPr lang="en-US" sz="2000" b="1">
                <a:solidFill>
                  <a:srgbClr val="5B2453"/>
                </a:solidFill>
                <a:latin typeface="Arial" panose="020B0604020202020204" pitchFamily="34" charset="0"/>
                <a:cs typeface="Arial" panose="020B0604020202020204" pitchFamily="34" charset="0"/>
              </a:rPr>
              <a:t>Reema Abdulaziz Alkharaan</a:t>
            </a:r>
          </a:p>
        </p:txBody>
      </p:sp>
      <p:sp>
        <p:nvSpPr>
          <p:cNvPr id="10" name="TextBox 9">
            <a:extLst>
              <a:ext uri="{FF2B5EF4-FFF2-40B4-BE49-F238E27FC236}">
                <a16:creationId xmlns:a16="http://schemas.microsoft.com/office/drawing/2014/main" id="{C1AFB061-162B-8C69-0B88-291E446C4709}"/>
              </a:ext>
            </a:extLst>
          </p:cNvPr>
          <p:cNvSpPr txBox="1"/>
          <p:nvPr/>
        </p:nvSpPr>
        <p:spPr>
          <a:xfrm>
            <a:off x="6350000" y="3175000"/>
            <a:ext cx="5143500" cy="97975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دورة رفع الإنتاجية بالذكاء الاصطناعي — أكاديمية سدايا
المشروع الختامي | مسار أداة مبنية | نسخة التقييم: 22 أكتوبر 2026</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1FC32235-001F-98C7-5E7D-85850772DE7B}"/>
              </a:ext>
            </a:extLst>
          </p:cNvPr>
          <p:cNvSpPr/>
          <p:nvPr/>
        </p:nvSpPr>
        <p:spPr>
          <a:xfrm>
            <a:off x="533400" y="2336800"/>
            <a:ext cx="5473700"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A47352-ABF1-EE34-CA6B-964A5A6CFFB3}"/>
              </a:ext>
            </a:extLst>
          </p:cNvPr>
          <p:cNvSpPr/>
          <p:nvPr/>
        </p:nvSpPr>
        <p:spPr>
          <a:xfrm>
            <a:off x="59182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0E2179B-128F-CE6A-0BDB-3B4A2451971A}"/>
              </a:ext>
            </a:extLst>
          </p:cNvPr>
          <p:cNvSpPr txBox="1"/>
          <p:nvPr/>
        </p:nvSpPr>
        <p:spPr>
          <a:xfrm>
            <a:off x="698500" y="2489200"/>
            <a:ext cx="5118100"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من طلب القاعة إلى حجز محفوظ</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B555647-9F44-AA35-E7E1-7C6D2589B7C0}"/>
              </a:ext>
            </a:extLst>
          </p:cNvPr>
          <p:cNvSpPr txBox="1"/>
          <p:nvPr/>
        </p:nvSpPr>
        <p:spPr>
          <a:xfrm>
            <a:off x="698500" y="3175000"/>
            <a:ext cx="51435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تطبيق محلي يفهم الطلب بالعربية والإنجليزية، ويتحقق من القواعد، ويعرض خيارات للمراجعة والتأكيد. عرض مكتمل للقراءة دون شرح شفهي.</a:t>
            </a:r>
            <a:endParaRPr lang="en-US" sz="1900">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11BEFCB9-BEAC-7464-CBE8-83C1679F611B}"/>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30D83A1-391E-4F51-BE36-D6301C4D3DCA}"/>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ar-SA" sz="1000">
                <a:solidFill>
                  <a:srgbClr val="6C6570"/>
                </a:solidFill>
                <a:latin typeface="Arial" panose="020B0604020202020204" pitchFamily="34" charset="0"/>
                <a:cs typeface="Arial" panose="020B0604020202020204" pitchFamily="34" charset="0"/>
              </a:rPr>
              <a:t>المصادر: الوثائق المعتمدة وقياسات صاحبة المشروع | فهرس الأدلة في آخر العرض</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832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12424E-CDBC-7CE4-9F95-78831E6977C3}"/>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EE3749E-A8DD-866F-EDB6-170D87B56B03}"/>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9BCA0766-5D96-C289-6953-DFA4742A915C}"/>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02 / 27</a:t>
            </a:r>
          </a:p>
        </p:txBody>
      </p:sp>
      <p:sp>
        <p:nvSpPr>
          <p:cNvPr id="5" name="TextBox 4">
            <a:extLst>
              <a:ext uri="{FF2B5EF4-FFF2-40B4-BE49-F238E27FC236}">
                <a16:creationId xmlns:a16="http://schemas.microsoft.com/office/drawing/2014/main" id="{C96E8A35-E4FE-BD1A-8EF0-FA1FF3E6849B}"/>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الخلاصة التنفيذية: أثر مقاس وحدود واضحة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A437CF3-0461-A481-3DD2-7D9BEADFB443}"/>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في ثلاث مقارنات تعليمية متطابقة السيناريوهات بحسب إفادة صاحبة المشروع، انخفض مجموع المدة الكلية المبلّغ عنها بنسبة 68.79%.</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06F61E63-1BCA-241D-12AE-109788997FB2}"/>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78846A8-6FFE-FE9B-F498-D368FD987252}"/>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FBB5C73-DF20-2B71-3161-08D79A679ACF}"/>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المشكلة والحل</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E9C3E92-5F69-1E3E-3EF7-B05FEDDEBE7B}"/>
              </a:ext>
            </a:extLst>
          </p:cNvPr>
          <p:cNvSpPr txBox="1"/>
          <p:nvPr/>
        </p:nvSpPr>
        <p:spPr>
          <a:xfrm>
            <a:off x="8233833"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البريد و</a:t>
            </a:r>
            <a:r>
              <a:rPr lang="en-US" sz="1900">
                <a:solidFill>
                  <a:srgbClr val="30263B"/>
                </a:solidFill>
                <a:latin typeface="Arial" panose="020B0604020202020204" pitchFamily="34" charset="0"/>
                <a:cs typeface="Arial" panose="020B0604020202020204" pitchFamily="34" charset="0"/>
              </a:rPr>
              <a:t>Excel </a:t>
            </a:r>
            <a:r>
              <a:rPr lang="ar-SA" sz="1900">
                <a:solidFill>
                  <a:srgbClr val="30263B"/>
                </a:solidFill>
                <a:latin typeface="Arial" panose="020B0604020202020204" pitchFamily="34" charset="0"/>
                <a:cs typeface="Arial" panose="020B0604020202020204" pitchFamily="34" charset="0"/>
              </a:rPr>
              <a:t>يتطلبان نقل التفاصيل والتحقق من التوفر وتسجيل الحجز يدويًا. بُني </a:t>
            </a:r>
            <a:r>
              <a:rPr lang="en-US" sz="1900">
                <a:solidFill>
                  <a:srgbClr val="30263B"/>
                </a:solidFill>
                <a:latin typeface="Arial" panose="020B0604020202020204" pitchFamily="34" charset="0"/>
                <a:cs typeface="Arial" panose="020B0604020202020204" pitchFamily="34" charset="0"/>
              </a:rPr>
              <a:t>MeetSpace </a:t>
            </a:r>
            <a:r>
              <a:rPr lang="ar-SA" sz="1900">
                <a:solidFill>
                  <a:srgbClr val="30263B"/>
                </a:solidFill>
                <a:latin typeface="Arial" panose="020B0604020202020204" pitchFamily="34" charset="0"/>
                <a:cs typeface="Arial" panose="020B0604020202020204" pitchFamily="34" charset="0"/>
              </a:rPr>
              <a:t>باستخدام </a:t>
            </a:r>
            <a:r>
              <a:rPr lang="en-US" sz="1900">
                <a:solidFill>
                  <a:srgbClr val="30263B"/>
                </a:solidFill>
                <a:latin typeface="Arial" panose="020B0604020202020204" pitchFamily="34" charset="0"/>
                <a:cs typeface="Arial" panose="020B0604020202020204" pitchFamily="34" charset="0"/>
              </a:rPr>
              <a:t>Codex </a:t>
            </a:r>
            <a:r>
              <a:rPr lang="ar-SA" sz="1900">
                <a:solidFill>
                  <a:srgbClr val="30263B"/>
                </a:solidFill>
                <a:latin typeface="Arial" panose="020B0604020202020204" pitchFamily="34" charset="0"/>
                <a:cs typeface="Arial" panose="020B0604020202020204" pitchFamily="34" charset="0"/>
              </a:rPr>
              <a:t>مع واجهة وتقويم و</a:t>
            </a:r>
            <a:r>
              <a:rPr lang="en-US" sz="1900">
                <a:solidFill>
                  <a:srgbClr val="30263B"/>
                </a:solidFill>
                <a:latin typeface="Arial" panose="020B0604020202020204" pitchFamily="34" charset="0"/>
                <a:cs typeface="Arial" panose="020B0604020202020204" pitchFamily="34" charset="0"/>
              </a:rPr>
              <a:t>Backend </a:t>
            </a:r>
            <a:r>
              <a:rPr lang="ar-SA" sz="1900">
                <a:solidFill>
                  <a:srgbClr val="30263B"/>
                </a:solidFill>
                <a:latin typeface="Arial" panose="020B0604020202020204" pitchFamily="34" charset="0"/>
                <a:cs typeface="Arial" panose="020B0604020202020204" pitchFamily="34" charset="0"/>
              </a:rPr>
              <a:t>وقاعدة </a:t>
            </a:r>
            <a:r>
              <a:rPr lang="en-US" sz="1900">
                <a:solidFill>
                  <a:srgbClr val="30263B"/>
                </a:solidFill>
                <a:latin typeface="Arial" panose="020B0604020202020204" pitchFamily="34" charset="0"/>
                <a:cs typeface="Arial" panose="020B0604020202020204" pitchFamily="34" charset="0"/>
              </a:rPr>
              <a:t>Firestore </a:t>
            </a:r>
            <a:r>
              <a:rPr lang="ar-SA" sz="1900">
                <a:solidFill>
                  <a:srgbClr val="30263B"/>
                </a:solidFill>
                <a:latin typeface="Arial" panose="020B0604020202020204" pitchFamily="34" charset="0"/>
                <a:cs typeface="Arial" panose="020B0604020202020204" pitchFamily="34" charset="0"/>
              </a:rPr>
              <a:t>فعلية.</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80E93D7E-50F2-2F0F-9616-4FEF762F65A9}"/>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BE0D12-3401-28BF-C6BC-1564F9C2B76A}"/>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B8DC5B6-FE27-4F8E-A738-EFA5AFC13EBF}"/>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من 12:17 إلى 3:50</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5241E4F-BAA5-CF82-DF8D-C3A09661AC3A}"/>
              </a:ext>
            </a:extLst>
          </p:cNvPr>
          <p:cNvSpPr txBox="1"/>
          <p:nvPr/>
        </p:nvSpPr>
        <p:spPr>
          <a:xfrm>
            <a:off x="4466167"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إجمالي البريد و</a:t>
            </a:r>
            <a:r>
              <a:rPr lang="en-US" sz="1900">
                <a:solidFill>
                  <a:srgbClr val="30263B"/>
                </a:solidFill>
                <a:latin typeface="Arial" panose="020B0604020202020204" pitchFamily="34" charset="0"/>
                <a:cs typeface="Arial" panose="020B0604020202020204" pitchFamily="34" charset="0"/>
              </a:rPr>
              <a:t>Excel: 737 </a:t>
            </a:r>
            <a:r>
              <a:rPr lang="ar-SA" sz="1900">
                <a:solidFill>
                  <a:srgbClr val="30263B"/>
                </a:solidFill>
                <a:latin typeface="Arial" panose="020B0604020202020204" pitchFamily="34" charset="0"/>
                <a:cs typeface="Arial" panose="020B0604020202020204" pitchFamily="34" charset="0"/>
              </a:rPr>
              <a:t>ثانية؛ </a:t>
            </a:r>
            <a:r>
              <a:rPr lang="en-US" sz="1900">
                <a:solidFill>
                  <a:srgbClr val="30263B"/>
                </a:solidFill>
                <a:latin typeface="Arial" panose="020B0604020202020204" pitchFamily="34" charset="0"/>
                <a:cs typeface="Arial" panose="020B0604020202020204" pitchFamily="34" charset="0"/>
              </a:rPr>
              <a:t>MeetSpace: 230 </a:t>
            </a:r>
            <a:r>
              <a:rPr lang="ar-SA" sz="1900">
                <a:solidFill>
                  <a:srgbClr val="30263B"/>
                </a:solidFill>
                <a:latin typeface="Arial" panose="020B0604020202020204" pitchFamily="34" charset="0"/>
                <a:cs typeface="Arial" panose="020B0604020202020204" pitchFamily="34" charset="0"/>
              </a:rPr>
              <a:t>ثانية. الوفر المرصود: 507 ثوانٍ، أي 8:27. هذه مدة كلية وليست قياسًا مستقلًا للعمل النشط.</a:t>
            </a:r>
            <a:endParaRPr lang="en-US" sz="1900">
              <a:solidFill>
                <a:srgbClr val="30263B"/>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4866A048-C415-0DBB-6D5B-46F15AA0F8FB}"/>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3F537EA-C79D-4E95-386F-057DBD388DA9}"/>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CEC9379-4365-3F7B-5583-C8B8F4D83DD8}"/>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ما تثبته الأدلة وما ينقص</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A97EC305-D6BC-0853-AFCD-7D1ADED8B82D}"/>
              </a:ext>
            </a:extLst>
          </p:cNvPr>
          <p:cNvSpPr txBox="1"/>
          <p:nvPr/>
        </p:nvSpPr>
        <p:spPr>
          <a:xfrm>
            <a:off x="698500"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37 اختبار وحدة ناجحًا حاليًا، وسجلات اختبارات فعلية ولقطات حديثة. لا توجد مصادقة آمنة أو استضافة عامة أو تجربة زميل أو قياس هاتف فعلي؛ لا يُدّعى اكتمالها.</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85E581B8-13D1-8DF3-7AA0-C8767F777A82}"/>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997DFD6-4CED-7B90-AB96-5EC9E0846347}"/>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E03: docs/Productivity_Results.md؛ E05: unit_checks.txt؛ E07: readiness_probe.json</a:t>
            </a:r>
          </a:p>
        </p:txBody>
      </p:sp>
    </p:spTree>
    <p:extLst>
      <p:ext uri="{BB962C8B-B14F-4D97-AF65-F5344CB8AC3E}">
        <p14:creationId xmlns:p14="http://schemas.microsoft.com/office/powerpoint/2010/main" val="1475504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D7FDC7-F85E-A0BE-FB96-AD803732F61A}"/>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D09C564-FAEE-3149-6F06-29489E1FAE33}"/>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81C59B2A-D861-83B2-7F98-1D7F7F407143}"/>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03 / 27</a:t>
            </a:r>
          </a:p>
        </p:txBody>
      </p:sp>
      <p:sp>
        <p:nvSpPr>
          <p:cNvPr id="5" name="TextBox 4">
            <a:extLst>
              <a:ext uri="{FF2B5EF4-FFF2-40B4-BE49-F238E27FC236}">
                <a16:creationId xmlns:a16="http://schemas.microsoft.com/office/drawing/2014/main" id="{FD22C300-B385-01E1-61AF-49A1DB178419}"/>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المهمة وخط الأساس</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FF9277C-2E4B-3F25-DE90-59D88D6F5B24}"/>
              </a:ext>
            </a:extLst>
          </p:cNvPr>
          <p:cNvSpPr txBox="1"/>
          <p:nvPr/>
        </p:nvSpPr>
        <p:spPr>
          <a:xfrm>
            <a:off x="533400" y="1320800"/>
            <a:ext cx="1112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المهمة: بدء طلب حجز قاعة، استكمال البيانات وفحص التوفر، ثم تسجيل حجز وإبلاغ طالبة الحجز. مثّلت صاحبة المشروع دورَي الموظفة والمنسقة ببيانات افتراضية.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2F8FF295-3806-BB28-E070-766276EF0855}"/>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21A7128-E78A-6DC8-6E58-F729CCD65269}"/>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الحالة</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6FE166C7-5323-135E-46E3-8DE8796C23C5}"/>
              </a:ext>
            </a:extLst>
          </p:cNvPr>
          <p:cNvSpPr/>
          <p:nvPr/>
        </p:nvSpPr>
        <p:spPr>
          <a:xfrm>
            <a:off x="79502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7BF2A2-CCF1-8F63-5117-09C9CFFCE50E}"/>
              </a:ext>
            </a:extLst>
          </p:cNvPr>
          <p:cNvSpPr txBox="1"/>
          <p:nvPr/>
        </p:nvSpPr>
        <p:spPr>
          <a:xfrm>
            <a:off x="8039100" y="2768600"/>
            <a:ext cx="35052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Typical</a:t>
            </a:r>
          </a:p>
        </p:txBody>
      </p:sp>
      <p:sp>
        <p:nvSpPr>
          <p:cNvPr id="11" name="Rectangle 10">
            <a:extLst>
              <a:ext uri="{FF2B5EF4-FFF2-40B4-BE49-F238E27FC236}">
                <a16:creationId xmlns:a16="http://schemas.microsoft.com/office/drawing/2014/main" id="{931C8FBF-5067-E2D1-7BCC-0EA4D912E0E7}"/>
              </a:ext>
            </a:extLst>
          </p:cNvPr>
          <p:cNvSpPr/>
          <p:nvPr/>
        </p:nvSpPr>
        <p:spPr>
          <a:xfrm>
            <a:off x="79502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80D05C8-FDF9-5EEC-9D61-92C2A137B9B7}"/>
              </a:ext>
            </a:extLst>
          </p:cNvPr>
          <p:cNvSpPr txBox="1"/>
          <p:nvPr/>
        </p:nvSpPr>
        <p:spPr>
          <a:xfrm>
            <a:off x="8039100" y="3522133"/>
            <a:ext cx="35052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Messy</a:t>
            </a:r>
          </a:p>
        </p:txBody>
      </p:sp>
      <p:sp>
        <p:nvSpPr>
          <p:cNvPr id="13" name="Rectangle 12">
            <a:extLst>
              <a:ext uri="{FF2B5EF4-FFF2-40B4-BE49-F238E27FC236}">
                <a16:creationId xmlns:a16="http://schemas.microsoft.com/office/drawing/2014/main" id="{874C41E2-C323-CA39-2187-B4B71A9EFD3B}"/>
              </a:ext>
            </a:extLst>
          </p:cNvPr>
          <p:cNvSpPr/>
          <p:nvPr/>
        </p:nvSpPr>
        <p:spPr>
          <a:xfrm>
            <a:off x="79502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DA41A83-772A-FF4D-FC3C-40BAD447A0AD}"/>
              </a:ext>
            </a:extLst>
          </p:cNvPr>
          <p:cNvSpPr txBox="1"/>
          <p:nvPr/>
        </p:nvSpPr>
        <p:spPr>
          <a:xfrm>
            <a:off x="8039100" y="4275667"/>
            <a:ext cx="35052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Edge</a:t>
            </a:r>
          </a:p>
        </p:txBody>
      </p:sp>
      <p:sp>
        <p:nvSpPr>
          <p:cNvPr id="15" name="Rectangle 14">
            <a:extLst>
              <a:ext uri="{FF2B5EF4-FFF2-40B4-BE49-F238E27FC236}">
                <a16:creationId xmlns:a16="http://schemas.microsoft.com/office/drawing/2014/main" id="{F58711F5-F5E4-FDC2-49C5-C6144314F840}"/>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349DD1C-FF20-09EF-36D3-546772E6D0D4}"/>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الوصف الفعلي</a:t>
            </a:r>
            <a:endParaRPr lang="en-US" sz="1600" b="1">
              <a:solidFill>
                <a:srgbClr val="FFFFFF"/>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2FF660E-7100-8B72-694E-96EEE0637381}"/>
              </a:ext>
            </a:extLst>
          </p:cNvPr>
          <p:cNvSpPr/>
          <p:nvPr/>
        </p:nvSpPr>
        <p:spPr>
          <a:xfrm>
            <a:off x="42418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A6071A6-8674-98BF-B0BB-0EA679A35607}"/>
              </a:ext>
            </a:extLst>
          </p:cNvPr>
          <p:cNvSpPr txBox="1"/>
          <p:nvPr/>
        </p:nvSpPr>
        <p:spPr>
          <a:xfrm>
            <a:off x="4330700" y="2768600"/>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طلب مكتمل؛ فحص القاعة وتسجيلها وإرسال التأكيد</a:t>
            </a:r>
            <a:endParaRPr lang="en-US">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D56435DC-DFE0-8139-C90D-5E9BB2EF0AC7}"/>
              </a:ext>
            </a:extLst>
          </p:cNvPr>
          <p:cNvSpPr/>
          <p:nvPr/>
        </p:nvSpPr>
        <p:spPr>
          <a:xfrm>
            <a:off x="42418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022D029-AC73-4A89-89F1-54E72D55FB6F}"/>
              </a:ext>
            </a:extLst>
          </p:cNvPr>
          <p:cNvSpPr txBox="1"/>
          <p:nvPr/>
        </p:nvSpPr>
        <p:spPr>
          <a:xfrm>
            <a:off x="4330700" y="3522133"/>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طلب ينقصه وقت الاجتماع؛ مراسلة لاستكماله</a:t>
            </a:r>
            <a:endParaRPr lang="en-US">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6CD7636D-57BE-0853-8F66-89836D3796D4}"/>
              </a:ext>
            </a:extLst>
          </p:cNvPr>
          <p:cNvSpPr/>
          <p:nvPr/>
        </p:nvSpPr>
        <p:spPr>
          <a:xfrm>
            <a:off x="42418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E80DF0A-8C6C-DB2B-6459-BA49C233B5FA}"/>
              </a:ext>
            </a:extLst>
          </p:cNvPr>
          <p:cNvSpPr txBox="1"/>
          <p:nvPr/>
        </p:nvSpPr>
        <p:spPr>
          <a:xfrm>
            <a:off x="4330700" y="4275667"/>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تعارض قائم؛ فحصه واقتراح بديل ثم التسجيل</a:t>
            </a:r>
            <a:endParaRPr lang="en-US">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314409C6-544A-A362-8AB3-96D92775F4A5}"/>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07A8F0E-D127-E139-879D-34620DA57765}"/>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خط الأساس: البريد و</a:t>
            </a:r>
            <a:r>
              <a:rPr lang="en-US" sz="1600" b="1">
                <a:solidFill>
                  <a:srgbClr val="FFFFFF"/>
                </a:solidFill>
                <a:latin typeface="Arial" panose="020B0604020202020204" pitchFamily="34" charset="0"/>
                <a:cs typeface="Arial" panose="020B0604020202020204" pitchFamily="34" charset="0"/>
              </a:rPr>
              <a:t>Excel</a:t>
            </a:r>
          </a:p>
        </p:txBody>
      </p:sp>
      <p:sp>
        <p:nvSpPr>
          <p:cNvPr id="25" name="Rectangle 24">
            <a:extLst>
              <a:ext uri="{FF2B5EF4-FFF2-40B4-BE49-F238E27FC236}">
                <a16:creationId xmlns:a16="http://schemas.microsoft.com/office/drawing/2014/main" id="{8C1850DE-999E-F58D-44A5-4FDCF9C390B0}"/>
              </a:ext>
            </a:extLst>
          </p:cNvPr>
          <p:cNvSpPr/>
          <p:nvPr/>
        </p:nvSpPr>
        <p:spPr>
          <a:xfrm>
            <a:off x="5334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63550E3-A7EB-C6CD-DA24-10E84098E740}"/>
              </a:ext>
            </a:extLst>
          </p:cNvPr>
          <p:cNvSpPr txBox="1"/>
          <p:nvPr/>
        </p:nvSpPr>
        <p:spPr>
          <a:xfrm>
            <a:off x="622300" y="2768600"/>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2:38 — 158 ثانية</a:t>
            </a:r>
            <a:endParaRPr lang="en-US">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D014255B-9FF4-2016-BF1B-8AEB38AF7975}"/>
              </a:ext>
            </a:extLst>
          </p:cNvPr>
          <p:cNvSpPr/>
          <p:nvPr/>
        </p:nvSpPr>
        <p:spPr>
          <a:xfrm>
            <a:off x="5334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6267D3F-7F14-6629-25B6-164025D8BAF0}"/>
              </a:ext>
            </a:extLst>
          </p:cNvPr>
          <p:cNvSpPr txBox="1"/>
          <p:nvPr/>
        </p:nvSpPr>
        <p:spPr>
          <a:xfrm>
            <a:off x="622300" y="3522133"/>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3:41 — 221 ثانية</a:t>
            </a:r>
            <a:endParaRPr lang="en-US">
              <a:solidFill>
                <a:srgbClr val="30263B"/>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3C510F6B-D8A9-C165-49C4-1AF3B4EB1653}"/>
              </a:ext>
            </a:extLst>
          </p:cNvPr>
          <p:cNvSpPr/>
          <p:nvPr/>
        </p:nvSpPr>
        <p:spPr>
          <a:xfrm>
            <a:off x="5334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554B831-25D8-B88F-1337-AAD0CFFA461D}"/>
              </a:ext>
            </a:extLst>
          </p:cNvPr>
          <p:cNvSpPr txBox="1"/>
          <p:nvPr/>
        </p:nvSpPr>
        <p:spPr>
          <a:xfrm>
            <a:off x="622300" y="4275667"/>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5:58 — 358 ثانية</a:t>
            </a:r>
            <a:endParaRPr lang="en-US">
              <a:solidFill>
                <a:srgbClr val="30263B"/>
              </a:solidFill>
              <a:latin typeface="Arial" panose="020B0604020202020204" pitchFamily="34" charset="0"/>
              <a:cs typeface="Arial" panose="020B0604020202020204" pitchFamily="34" charset="0"/>
            </a:endParaRPr>
          </a:p>
        </p:txBody>
      </p:sp>
      <p:sp>
        <p:nvSpPr>
          <p:cNvPr id="31" name="Rectangle: Rounded Corners 30">
            <a:extLst>
              <a:ext uri="{FF2B5EF4-FFF2-40B4-BE49-F238E27FC236}">
                <a16:creationId xmlns:a16="http://schemas.microsoft.com/office/drawing/2014/main" id="{E3E3E508-7DAA-6E7F-2767-A8EB6BEC2B19}"/>
              </a:ext>
            </a:extLst>
          </p:cNvPr>
          <p:cNvSpPr/>
          <p:nvPr/>
        </p:nvSpPr>
        <p:spPr>
          <a:xfrm>
            <a:off x="533400" y="5130800"/>
            <a:ext cx="111252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E74F657-6031-BE71-7BAC-CF807EEC80CF}"/>
              </a:ext>
            </a:extLst>
          </p:cNvPr>
          <p:cNvSpPr txBox="1"/>
          <p:nvPr/>
        </p:nvSpPr>
        <p:spPr>
          <a:xfrm>
            <a:off x="698500" y="5232400"/>
            <a:ext cx="10795000" cy="574516"/>
          </a:xfrm>
          <a:prstGeom prst="rect">
            <a:avLst/>
          </a:prstGeom>
          <a:noFill/>
        </p:spPr>
        <p:txBody>
          <a:bodyPr vert="horz" wrap="square" lIns="38100" tIns="25400" rIns="38100" bIns="25400" rtlCol="0">
            <a:spAutoFit/>
          </a:bodyPr>
          <a:lstStyle/>
          <a:p>
            <a:pPr algn="r" rtl="1">
              <a:spcAft>
                <a:spcPts val="400"/>
              </a:spcAft>
            </a:pPr>
            <a:r>
              <a:rPr lang="ar-SA" sz="1700">
                <a:solidFill>
                  <a:srgbClr val="30263B"/>
                </a:solidFill>
                <a:latin typeface="Arial" panose="020B0604020202020204" pitchFamily="34" charset="0"/>
                <a:cs typeface="Arial" panose="020B0604020202020204" pitchFamily="34" charset="0"/>
              </a:rPr>
              <a:t>حدود خط الأساس: لم يُقَس تكرار المهمة شهريًا أو عمل موظفين فعليين. زمن العمل النشط وعدد الأخطاء والتصحيحات غير متاحين. المحاكاة لا تثبت شرط مهمة مؤسسية متكررة.</a:t>
            </a:r>
            <a:endParaRPr lang="en-US" sz="1700">
              <a:solidFill>
                <a:srgbClr val="30263B"/>
              </a:solidFill>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17415CE6-B734-58FB-2689-6E3D5DFC9DA8}"/>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EE6DF6A-4D99-46F3-EC93-60A6CD339351}"/>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E03: Productivity_Results.md، §§3–5؛ CSV: docs/m4/productivity_results.csv</a:t>
            </a:r>
          </a:p>
        </p:txBody>
      </p:sp>
    </p:spTree>
    <p:extLst>
      <p:ext uri="{BB962C8B-B14F-4D97-AF65-F5344CB8AC3E}">
        <p14:creationId xmlns:p14="http://schemas.microsoft.com/office/powerpoint/2010/main" val="3258534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B57A62-0D12-9276-881B-9DD988ACA540}"/>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0CDAA3-48CF-A893-F8E7-0267C64E2621}"/>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7DC9B225-0137-0A05-8715-9F3BB1823F7B}"/>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04 / 27</a:t>
            </a:r>
          </a:p>
        </p:txBody>
      </p:sp>
      <p:sp>
        <p:nvSpPr>
          <p:cNvPr id="5" name="TextBox 4">
            <a:extLst>
              <a:ext uri="{FF2B5EF4-FFF2-40B4-BE49-F238E27FC236}">
                <a16:creationId xmlns:a16="http://schemas.microsoft.com/office/drawing/2014/main" id="{ACCF8ECC-610F-1F8A-C85D-909766C274B1}"/>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المسار المختار: أداة مبنية — </a:t>
            </a:r>
            <a:r>
              <a:rPr lang="en-US" sz="3000" b="1">
                <a:solidFill>
                  <a:srgbClr val="5B2453"/>
                </a:solidFill>
                <a:latin typeface="Arial" panose="020B0604020202020204" pitchFamily="34" charset="0"/>
                <a:cs typeface="Arial" panose="020B0604020202020204" pitchFamily="34" charset="0"/>
              </a:rPr>
              <a:t>Built Tool</a:t>
            </a:r>
          </a:p>
        </p:txBody>
      </p:sp>
      <p:sp>
        <p:nvSpPr>
          <p:cNvPr id="6" name="TextBox 5">
            <a:extLst>
              <a:ext uri="{FF2B5EF4-FFF2-40B4-BE49-F238E27FC236}">
                <a16:creationId xmlns:a16="http://schemas.microsoft.com/office/drawing/2014/main" id="{37936A72-34EA-0274-F8F5-A6C92D45AFA7}"/>
              </a:ext>
            </a:extLst>
          </p:cNvPr>
          <p:cNvSpPr txBox="1"/>
          <p:nvPr/>
        </p:nvSpPr>
        <p:spPr>
          <a:xfrm>
            <a:off x="533400" y="1320800"/>
            <a:ext cx="1112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الحاجة تتجاوز استخراج نص من محادثة: الحجز يتطلب حالة مستمرة، صلاحية مراجعة بشرية، منع تعارض ذريًا وتقويمًا يعرض السجلات الفعلية.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0B63D3DB-C783-F6D2-B4C9-AA6C5D4E35F2}"/>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9058CB7-3E4C-62B5-1C5D-1DBDB3B09A47}"/>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4FD62DF-C273-EA2D-9389-B13186E3AF08}"/>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لماذا لا يكفي أمر واحد؟</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4F80CA8-60F8-B7C1-A1FC-8FBA2146A430}"/>
              </a:ext>
            </a:extLst>
          </p:cNvPr>
          <p:cNvSpPr txBox="1"/>
          <p:nvPr/>
        </p:nvSpPr>
        <p:spPr>
          <a:xfrm>
            <a:off x="8233833" y="3175000"/>
            <a:ext cx="3259667" cy="1220847"/>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إجابة النموذج لا تثبت توفر القاعة ولا تحفظ الحجز. يتولى </a:t>
            </a:r>
            <a:r>
              <a:rPr lang="en-US" sz="1900">
                <a:solidFill>
                  <a:srgbClr val="30263B"/>
                </a:solidFill>
                <a:latin typeface="Arial" panose="020B0604020202020204" pitchFamily="34" charset="0"/>
                <a:cs typeface="Arial" panose="020B0604020202020204" pitchFamily="34" charset="0"/>
              </a:rPr>
              <a:t>Backend </a:t>
            </a:r>
            <a:r>
              <a:rPr lang="ar-SA" sz="1900">
                <a:solidFill>
                  <a:srgbClr val="30263B"/>
                </a:solidFill>
                <a:latin typeface="Arial" panose="020B0604020202020204" pitchFamily="34" charset="0"/>
                <a:cs typeface="Arial" panose="020B0604020202020204" pitchFamily="34" charset="0"/>
              </a:rPr>
              <a:t>قواعد السعة والصيانة والتعارض والحفظ؛ يفسر </a:t>
            </a:r>
            <a:r>
              <a:rPr lang="en-US" sz="1900">
                <a:solidFill>
                  <a:srgbClr val="30263B"/>
                </a:solidFill>
                <a:latin typeface="Arial" panose="020B0604020202020204" pitchFamily="34" charset="0"/>
                <a:cs typeface="Arial" panose="020B0604020202020204" pitchFamily="34" charset="0"/>
              </a:rPr>
              <a:t>Qwen </a:t>
            </a:r>
            <a:r>
              <a:rPr lang="ar-SA" sz="1900">
                <a:solidFill>
                  <a:srgbClr val="30263B"/>
                </a:solidFill>
                <a:latin typeface="Arial" panose="020B0604020202020204" pitchFamily="34" charset="0"/>
                <a:cs typeface="Arial" panose="020B0604020202020204" pitchFamily="34" charset="0"/>
              </a:rPr>
              <a:t>الطلب ويستكمل معلوماته.</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F87A9F3A-A156-33F2-5882-ABFD6813A62C}"/>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DD1BEE-AF40-94A7-0DFB-2941507196F5}"/>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993D9D1-FBBB-DC05-FFCF-E3690DD793F1}"/>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أداة محلية متصلة بخدمة سحابية</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74BD70F-023A-224B-4FD9-632244E11336}"/>
              </a:ext>
            </a:extLst>
          </p:cNvPr>
          <p:cNvSpPr txBox="1"/>
          <p:nvPr/>
        </p:nvSpPr>
        <p:spPr>
          <a:xfrm>
            <a:off x="4466167" y="3175000"/>
            <a:ext cx="3259667" cy="1513235"/>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React + Vite → FastAPI → Ollama / Qwen2 7B. </a:t>
            </a:r>
            <a:r>
              <a:rPr lang="ar-SA" sz="1900">
                <a:solidFill>
                  <a:srgbClr val="30263B"/>
                </a:solidFill>
                <a:latin typeface="Arial" panose="020B0604020202020204" pitchFamily="34" charset="0"/>
                <a:cs typeface="Arial" panose="020B0604020202020204" pitchFamily="34" charset="0"/>
              </a:rPr>
              <a:t>كل قراءة وكتابة </a:t>
            </a:r>
            <a:r>
              <a:rPr lang="en-US" sz="1900">
                <a:solidFill>
                  <a:srgbClr val="30263B"/>
                </a:solidFill>
                <a:latin typeface="Arial" panose="020B0604020202020204" pitchFamily="34" charset="0"/>
                <a:cs typeface="Arial" panose="020B0604020202020204" pitchFamily="34" charset="0"/>
              </a:rPr>
              <a:t>Firestore </a:t>
            </a:r>
            <a:r>
              <a:rPr lang="ar-SA" sz="1900">
                <a:solidFill>
                  <a:srgbClr val="30263B"/>
                </a:solidFill>
                <a:latin typeface="Arial" panose="020B0604020202020204" pitchFamily="34" charset="0"/>
                <a:cs typeface="Arial" panose="020B0604020202020204" pitchFamily="34" charset="0"/>
              </a:rPr>
              <a:t>عبر </a:t>
            </a:r>
            <a:r>
              <a:rPr lang="en-US" sz="1900">
                <a:solidFill>
                  <a:srgbClr val="30263B"/>
                </a:solidFill>
                <a:latin typeface="Arial" panose="020B0604020202020204" pitchFamily="34" charset="0"/>
                <a:cs typeface="Arial" panose="020B0604020202020204" pitchFamily="34" charset="0"/>
              </a:rPr>
              <a:t>Python Admin SDK؛ </a:t>
            </a:r>
            <a:r>
              <a:rPr lang="ar-SA" sz="1900">
                <a:solidFill>
                  <a:srgbClr val="30263B"/>
                </a:solidFill>
                <a:latin typeface="Arial" panose="020B0604020202020204" pitchFamily="34" charset="0"/>
                <a:cs typeface="Arial" panose="020B0604020202020204" pitchFamily="34" charset="0"/>
              </a:rPr>
              <a:t>تشغيل النموذج محلي لا يعني أن قاعدة البيانات محلية.</a:t>
            </a:r>
            <a:endParaRPr lang="en-US" sz="1900">
              <a:solidFill>
                <a:srgbClr val="30263B"/>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5A209E44-4B32-0C47-0398-2ED8EA5C8C43}"/>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639AD3-2B09-18CA-8C10-E2B79A9DDF01}"/>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6B5FB0C-D79A-58B7-7837-77A29A1EFCDC}"/>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وصول المقيّم</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06C385C-08BD-CAB9-86D0-E8B2DFE7CBB8}"/>
              </a:ext>
            </a:extLst>
          </p:cNvPr>
          <p:cNvSpPr txBox="1"/>
          <p:nvPr/>
        </p:nvSpPr>
        <p:spPr>
          <a:xfrm>
            <a:off x="698500"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لا يوجد رابط استضافة عام. عنوان 127.0.0.1 يعمل على جهاز التشغيل فقط. مشاركة مراجعة محلية تحت الإشراف أو طريقة وصول معتمدة تحتاج اتفاقًا مع المدرّب؛ لم تُنفّذ استضافة.</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1E996CD8-C46F-C12E-0E19-B4E08DFA5807}"/>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D752A71-C0C1-0AD5-FF7B-87FC95284451}"/>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E01: AGENTS.md §§3،9؛ E02: SPEC؛ O2: </a:t>
            </a:r>
            <a:r>
              <a:rPr lang="ar-SA" sz="1000">
                <a:solidFill>
                  <a:srgbClr val="6C6570"/>
                </a:solidFill>
                <a:latin typeface="Arial" panose="020B0604020202020204" pitchFamily="34" charset="0"/>
                <a:cs typeface="Arial" panose="020B0604020202020204" pitchFamily="34" charset="0"/>
              </a:rPr>
              <a:t>تمرين بناء الأداة</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936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B9FF1A-47B5-B2AC-25DC-0C6E1D3507CD}"/>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D88B6BE-7A4C-AF59-4AF0-F607921446BE}"/>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DC09F1E7-53CA-3CE7-9EB0-8D6B873A4AF8}"/>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05 / 27</a:t>
            </a:r>
          </a:p>
        </p:txBody>
      </p:sp>
      <p:sp>
        <p:nvSpPr>
          <p:cNvPr id="5" name="TextBox 4">
            <a:extLst>
              <a:ext uri="{FF2B5EF4-FFF2-40B4-BE49-F238E27FC236}">
                <a16:creationId xmlns:a16="http://schemas.microsoft.com/office/drawing/2014/main" id="{61E07864-038C-CAD5-0603-F902E932ADA6}"/>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سير العمل التقليدي — </a:t>
            </a:r>
            <a:r>
              <a:rPr lang="en-US" sz="3000" b="1">
                <a:solidFill>
                  <a:srgbClr val="5B2453"/>
                </a:solidFill>
                <a:latin typeface="Arial" panose="020B0604020202020204" pitchFamily="34" charset="0"/>
                <a:cs typeface="Arial" panose="020B0604020202020204" pitchFamily="34" charset="0"/>
              </a:rPr>
              <a:t>AS-IS</a:t>
            </a:r>
          </a:p>
        </p:txBody>
      </p:sp>
      <p:sp>
        <p:nvSpPr>
          <p:cNvPr id="6" name="TextBox 5">
            <a:extLst>
              <a:ext uri="{FF2B5EF4-FFF2-40B4-BE49-F238E27FC236}">
                <a16:creationId xmlns:a16="http://schemas.microsoft.com/office/drawing/2014/main" id="{6B25F88D-D8F4-F5EF-B83D-C0828EA138AF}"/>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هذا وصف سير العمل الذي حوكِي، وليس ادعاءً بوجود نظام بريد مؤسسي أو مدد انتظار إضافية.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0E4610E1-710D-5173-433A-498ED4AF1DBB}"/>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D25C0BF-0F9B-F93A-FCA4-5A0D923C751C}"/>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الخطوة</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9B2C834-7A9A-723B-E568-5F341E597AB3}"/>
              </a:ext>
            </a:extLst>
          </p:cNvPr>
          <p:cNvSpPr/>
          <p:nvPr/>
        </p:nvSpPr>
        <p:spPr>
          <a:xfrm>
            <a:off x="7950200" y="2730500"/>
            <a:ext cx="36830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CDE7E30-E750-9272-3A81-FBA248BB8D09}"/>
              </a:ext>
            </a:extLst>
          </p:cNvPr>
          <p:cNvSpPr txBox="1"/>
          <p:nvPr/>
        </p:nvSpPr>
        <p:spPr>
          <a:xfrm>
            <a:off x="8039100" y="2768600"/>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1. كتابة الطلب وإرساله</a:t>
            </a:r>
            <a:endParaRPr lang="en-US" sz="1900"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844BD5F-5963-BB3E-54B2-7D2AEE00EA68}"/>
              </a:ext>
            </a:extLst>
          </p:cNvPr>
          <p:cNvSpPr/>
          <p:nvPr/>
        </p:nvSpPr>
        <p:spPr>
          <a:xfrm>
            <a:off x="7950200" y="3581400"/>
            <a:ext cx="36830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60DF3D7-80FE-5C07-0107-697F29F392BC}"/>
              </a:ext>
            </a:extLst>
          </p:cNvPr>
          <p:cNvSpPr txBox="1"/>
          <p:nvPr/>
        </p:nvSpPr>
        <p:spPr>
          <a:xfrm>
            <a:off x="8039100" y="3619500"/>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2. استكمال النقص إن وجد</a:t>
            </a:r>
            <a:endParaRPr lang="en-US" sz="1900"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6A25B1AA-6AB5-8921-A35E-A46925FC2249}"/>
              </a:ext>
            </a:extLst>
          </p:cNvPr>
          <p:cNvSpPr/>
          <p:nvPr/>
        </p:nvSpPr>
        <p:spPr>
          <a:xfrm>
            <a:off x="7950200" y="4432300"/>
            <a:ext cx="36830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4E303F-47F0-92C1-3CE6-526D4F0E77DF}"/>
              </a:ext>
            </a:extLst>
          </p:cNvPr>
          <p:cNvSpPr txBox="1"/>
          <p:nvPr/>
        </p:nvSpPr>
        <p:spPr>
          <a:xfrm>
            <a:off x="8039100" y="4470400"/>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3. فحص </a:t>
            </a:r>
            <a:r>
              <a:rPr lang="en-US" sz="1900" b="1">
                <a:solidFill>
                  <a:srgbClr val="30263B"/>
                </a:solidFill>
                <a:latin typeface="Arial" panose="020B0604020202020204" pitchFamily="34" charset="0"/>
                <a:cs typeface="Arial" panose="020B0604020202020204" pitchFamily="34" charset="0"/>
              </a:rPr>
              <a:t>Excel </a:t>
            </a:r>
            <a:r>
              <a:rPr lang="ar-SA" sz="1900" b="1">
                <a:solidFill>
                  <a:srgbClr val="30263B"/>
                </a:solidFill>
                <a:latin typeface="Arial" panose="020B0604020202020204" pitchFamily="34" charset="0"/>
                <a:cs typeface="Arial" panose="020B0604020202020204" pitchFamily="34" charset="0"/>
              </a:rPr>
              <a:t>والتعارض</a:t>
            </a:r>
            <a:endParaRPr lang="en-US" sz="1900"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79749A3F-F844-F22E-7F92-45BA88285FB6}"/>
              </a:ext>
            </a:extLst>
          </p:cNvPr>
          <p:cNvSpPr/>
          <p:nvPr/>
        </p:nvSpPr>
        <p:spPr>
          <a:xfrm>
            <a:off x="7950200" y="5283200"/>
            <a:ext cx="36830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D90DDFB-2B16-CE36-3F9E-DAD31351CD1A}"/>
              </a:ext>
            </a:extLst>
          </p:cNvPr>
          <p:cNvSpPr txBox="1"/>
          <p:nvPr/>
        </p:nvSpPr>
        <p:spPr>
          <a:xfrm>
            <a:off x="8039100" y="5321300"/>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4. التسجيل وإرسال النتيجة</a:t>
            </a:r>
            <a:endParaRPr lang="en-US" sz="1900" b="1">
              <a:solidFill>
                <a:srgbClr val="30263B"/>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CFB26676-CEFC-D9F6-D9B9-2D5AC9CC7602}"/>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5202A44-20C8-66A8-BAEC-2D104C18B1F3}"/>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المسؤول في المحاكاة</a:t>
            </a:r>
            <a:endParaRPr lang="en-US" sz="1600" b="1">
              <a:solidFill>
                <a:srgbClr val="FFFFFF"/>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5FAB8601-4E78-6669-E16C-81489EB29E91}"/>
              </a:ext>
            </a:extLst>
          </p:cNvPr>
          <p:cNvSpPr/>
          <p:nvPr/>
        </p:nvSpPr>
        <p:spPr>
          <a:xfrm>
            <a:off x="4241800" y="2730500"/>
            <a:ext cx="36830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19AF481-CE58-C0B6-75EF-58756CFBBE98}"/>
              </a:ext>
            </a:extLst>
          </p:cNvPr>
          <p:cNvSpPr txBox="1"/>
          <p:nvPr/>
        </p:nvSpPr>
        <p:spPr>
          <a:xfrm>
            <a:off x="4330700" y="2768600"/>
            <a:ext cx="350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صاحبة المشروع بدور الموظفة</a:t>
            </a:r>
            <a:endParaRPr lang="en-US" sz="1900">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97B47F39-8E0E-E618-EBC8-5D0B608E8509}"/>
              </a:ext>
            </a:extLst>
          </p:cNvPr>
          <p:cNvSpPr/>
          <p:nvPr/>
        </p:nvSpPr>
        <p:spPr>
          <a:xfrm>
            <a:off x="4241800" y="3581400"/>
            <a:ext cx="36830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0EB0C8A-8B00-8F06-A096-48426582F286}"/>
              </a:ext>
            </a:extLst>
          </p:cNvPr>
          <p:cNvSpPr txBox="1"/>
          <p:nvPr/>
        </p:nvSpPr>
        <p:spPr>
          <a:xfrm>
            <a:off x="4330700" y="3619500"/>
            <a:ext cx="350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الدوران عبر البريد</a:t>
            </a:r>
            <a:endParaRPr lang="en-US" sz="1900">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67411C53-ABF7-DB13-B448-08CD0A86ED70}"/>
              </a:ext>
            </a:extLst>
          </p:cNvPr>
          <p:cNvSpPr/>
          <p:nvPr/>
        </p:nvSpPr>
        <p:spPr>
          <a:xfrm>
            <a:off x="4241800" y="4432300"/>
            <a:ext cx="36830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9199408-5101-8184-F063-4AEB400F7038}"/>
              </a:ext>
            </a:extLst>
          </p:cNvPr>
          <p:cNvSpPr txBox="1"/>
          <p:nvPr/>
        </p:nvSpPr>
        <p:spPr>
          <a:xfrm>
            <a:off x="4330700" y="4470400"/>
            <a:ext cx="350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صاحبة المشروع بدور المنسقة</a:t>
            </a:r>
            <a:endParaRPr lang="en-US" sz="1900">
              <a:solidFill>
                <a:srgbClr val="30263B"/>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FB15ADAE-0D26-90F2-4FA6-9B35E24AD784}"/>
              </a:ext>
            </a:extLst>
          </p:cNvPr>
          <p:cNvSpPr/>
          <p:nvPr/>
        </p:nvSpPr>
        <p:spPr>
          <a:xfrm>
            <a:off x="4241800" y="5283200"/>
            <a:ext cx="36830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6C7BB09-203B-5682-D6BD-C4AB9F755686}"/>
              </a:ext>
            </a:extLst>
          </p:cNvPr>
          <p:cNvSpPr txBox="1"/>
          <p:nvPr/>
        </p:nvSpPr>
        <p:spPr>
          <a:xfrm>
            <a:off x="4330700" y="5321300"/>
            <a:ext cx="350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المنسقة، ثم استلام الموظفة</a:t>
            </a:r>
            <a:endParaRPr lang="en-US" sz="1900">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832844AF-756E-BDE2-4059-5B765A5B42D9}"/>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AE0638D-89F3-56FB-6F8D-46E9A6E19F98}"/>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التحقق / الناتج</a:t>
            </a:r>
            <a:endParaRPr lang="en-US" sz="1600" b="1">
              <a:solidFill>
                <a:srgbClr val="FFFFFF"/>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B6828A20-FBE7-DA4A-ED48-84C77C758A5B}"/>
              </a:ext>
            </a:extLst>
          </p:cNvPr>
          <p:cNvSpPr/>
          <p:nvPr/>
        </p:nvSpPr>
        <p:spPr>
          <a:xfrm>
            <a:off x="533400" y="2730500"/>
            <a:ext cx="36830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4EAA4AC-A6B1-0B09-3CA4-23DB646901D2}"/>
              </a:ext>
            </a:extLst>
          </p:cNvPr>
          <p:cNvSpPr txBox="1"/>
          <p:nvPr/>
        </p:nvSpPr>
        <p:spPr>
          <a:xfrm>
            <a:off x="622300" y="2768600"/>
            <a:ext cx="350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نوع القاعة والتاريخ والموعد والحضور</a:t>
            </a:r>
            <a:endParaRPr lang="en-US" sz="1900">
              <a:solidFill>
                <a:srgbClr val="30263B"/>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F25B447B-5C92-30D7-7DC1-008F49B8F8EA}"/>
              </a:ext>
            </a:extLst>
          </p:cNvPr>
          <p:cNvSpPr/>
          <p:nvPr/>
        </p:nvSpPr>
        <p:spPr>
          <a:xfrm>
            <a:off x="533400" y="3581400"/>
            <a:ext cx="36830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8A4A36F-644A-C959-9F0C-10BF6C525CF3}"/>
              </a:ext>
            </a:extLst>
          </p:cNvPr>
          <p:cNvSpPr txBox="1"/>
          <p:nvPr/>
        </p:nvSpPr>
        <p:spPr>
          <a:xfrm>
            <a:off x="622300" y="3619500"/>
            <a:ext cx="3505200" cy="636072"/>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Messy: </a:t>
            </a:r>
            <a:r>
              <a:rPr lang="ar-SA" sz="1900">
                <a:solidFill>
                  <a:srgbClr val="30263B"/>
                </a:solidFill>
                <a:latin typeface="Arial" panose="020B0604020202020204" pitchFamily="34" charset="0"/>
                <a:cs typeface="Arial" panose="020B0604020202020204" pitchFamily="34" charset="0"/>
              </a:rPr>
              <a:t>طلب وقت الاجتماع؛ لا انتظار مصطنع</a:t>
            </a:r>
            <a:endParaRPr lang="en-US" sz="1900">
              <a:solidFill>
                <a:srgbClr val="30263B"/>
              </a:solidFill>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80919273-1805-98E6-B321-4AEDBA2A44E8}"/>
              </a:ext>
            </a:extLst>
          </p:cNvPr>
          <p:cNvSpPr/>
          <p:nvPr/>
        </p:nvSpPr>
        <p:spPr>
          <a:xfrm>
            <a:off x="533400" y="4432300"/>
            <a:ext cx="36830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D87C356-B4E3-CD84-B987-C92EE0FA3092}"/>
              </a:ext>
            </a:extLst>
          </p:cNvPr>
          <p:cNvSpPr txBox="1"/>
          <p:nvPr/>
        </p:nvSpPr>
        <p:spPr>
          <a:xfrm>
            <a:off x="622300" y="4470400"/>
            <a:ext cx="35052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Edge: </a:t>
            </a:r>
            <a:r>
              <a:rPr lang="ar-SA" sz="1900">
                <a:solidFill>
                  <a:srgbClr val="30263B"/>
                </a:solidFill>
                <a:latin typeface="Arial" panose="020B0604020202020204" pitchFamily="34" charset="0"/>
                <a:cs typeface="Arial" panose="020B0604020202020204" pitchFamily="34" charset="0"/>
              </a:rPr>
              <a:t>كشف التعارض وتقديم بديل</a:t>
            </a:r>
            <a:endParaRPr lang="en-US" sz="1900">
              <a:solidFill>
                <a:srgbClr val="30263B"/>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9E3033E-21F1-1BB0-4342-5711FA38C289}"/>
              </a:ext>
            </a:extLst>
          </p:cNvPr>
          <p:cNvSpPr/>
          <p:nvPr/>
        </p:nvSpPr>
        <p:spPr>
          <a:xfrm>
            <a:off x="533400" y="5283200"/>
            <a:ext cx="36830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5426D3C7-C99E-70C7-5A76-5745A24E10C8}"/>
              </a:ext>
            </a:extLst>
          </p:cNvPr>
          <p:cNvSpPr txBox="1"/>
          <p:nvPr/>
        </p:nvSpPr>
        <p:spPr>
          <a:xfrm>
            <a:off x="622300" y="5321300"/>
            <a:ext cx="350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تسجيل يدوي وإرسال تأكيد؛ انتهاء المؤقت</a:t>
            </a:r>
            <a:endParaRPr lang="en-US" sz="1900">
              <a:solidFill>
                <a:srgbClr val="30263B"/>
              </a:solidFill>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444B4620-5278-BE6D-10A4-978DD448AC7F}"/>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2CA5FA1-99AE-A7FB-5F0B-468948855D94}"/>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E03: </a:t>
            </a:r>
            <a:r>
              <a:rPr lang="ar-SA" sz="1000">
                <a:solidFill>
                  <a:srgbClr val="6C6570"/>
                </a:solidFill>
                <a:latin typeface="Arial" panose="020B0604020202020204" pitchFamily="34" charset="0"/>
                <a:cs typeface="Arial" panose="020B0604020202020204" pitchFamily="34" charset="0"/>
              </a:rPr>
              <a:t>إفادة </a:t>
            </a:r>
            <a:r>
              <a:rPr lang="en-US" sz="1000">
                <a:solidFill>
                  <a:srgbClr val="6C6570"/>
                </a:solidFill>
                <a:latin typeface="Arial" panose="020B0604020202020204" pitchFamily="34" charset="0"/>
                <a:cs typeface="Arial" panose="020B0604020202020204" pitchFamily="34" charset="0"/>
              </a:rPr>
              <a:t>Prompt 10.1 </a:t>
            </a:r>
            <a:r>
              <a:rPr lang="ar-SA" sz="1000">
                <a:solidFill>
                  <a:srgbClr val="6C6570"/>
                </a:solidFill>
                <a:latin typeface="Arial" panose="020B0604020202020204" pitchFamily="34" charset="0"/>
                <a:cs typeface="Arial" panose="020B0604020202020204" pitchFamily="34" charset="0"/>
              </a:rPr>
              <a:t>الموثقة في </a:t>
            </a:r>
            <a:r>
              <a:rPr lang="en-US" sz="1000">
                <a:solidFill>
                  <a:srgbClr val="6C6570"/>
                </a:solidFill>
                <a:latin typeface="Arial" panose="020B0604020202020204" pitchFamily="34" charset="0"/>
                <a:cs typeface="Arial" panose="020B0604020202020204" pitchFamily="34" charset="0"/>
              </a:rPr>
              <a:t>Productivity_Results.md؛ </a:t>
            </a:r>
            <a:r>
              <a:rPr lang="ar-SA" sz="1000">
                <a:solidFill>
                  <a:srgbClr val="6C6570"/>
                </a:solidFill>
                <a:latin typeface="Arial" panose="020B0604020202020204" pitchFamily="34" charset="0"/>
                <a:cs typeface="Arial" panose="020B0604020202020204" pitchFamily="34" charset="0"/>
              </a:rPr>
              <a:t>لم يُرفق سجل بريد/</a:t>
            </a:r>
            <a:r>
              <a:rPr lang="en-US" sz="1000">
                <a:solidFill>
                  <a:srgbClr val="6C6570"/>
                </a:solidFill>
                <a:latin typeface="Arial" panose="020B0604020202020204" pitchFamily="34" charset="0"/>
                <a:cs typeface="Arial" panose="020B0604020202020204" pitchFamily="34" charset="0"/>
              </a:rPr>
              <a:t>Excel </a:t>
            </a:r>
            <a:r>
              <a:rPr lang="ar-SA" sz="1000">
                <a:solidFill>
                  <a:srgbClr val="6C6570"/>
                </a:solidFill>
                <a:latin typeface="Arial" panose="020B0604020202020204" pitchFamily="34" charset="0"/>
                <a:cs typeface="Arial" panose="020B0604020202020204" pitchFamily="34" charset="0"/>
              </a:rPr>
              <a:t>مستقل</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5930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7E0C75-BA55-4330-5E27-E57A96FDF62D}"/>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D2236F7-7D50-2B3F-1393-CA07A40361D6}"/>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00AADA1E-E28F-F3F0-E4AB-780DD6BB62E8}"/>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06 / 27</a:t>
            </a:r>
          </a:p>
        </p:txBody>
      </p:sp>
      <p:sp>
        <p:nvSpPr>
          <p:cNvPr id="5" name="TextBox 4">
            <a:extLst>
              <a:ext uri="{FF2B5EF4-FFF2-40B4-BE49-F238E27FC236}">
                <a16:creationId xmlns:a16="http://schemas.microsoft.com/office/drawing/2014/main" id="{6DBBE3BE-B810-F77C-0A5C-378442DA7673}"/>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سير العمل والتفويض — </a:t>
            </a:r>
            <a:r>
              <a:rPr lang="en-US" sz="3000" b="1">
                <a:solidFill>
                  <a:srgbClr val="5B2453"/>
                </a:solidFill>
                <a:latin typeface="Arial" panose="020B0604020202020204" pitchFamily="34" charset="0"/>
                <a:cs typeface="Arial" panose="020B0604020202020204" pitchFamily="34" charset="0"/>
              </a:rPr>
              <a:t>TO-BE</a:t>
            </a:r>
          </a:p>
        </p:txBody>
      </p:sp>
      <p:sp>
        <p:nvSpPr>
          <p:cNvPr id="6" name="TextBox 5">
            <a:extLst>
              <a:ext uri="{FF2B5EF4-FFF2-40B4-BE49-F238E27FC236}">
                <a16:creationId xmlns:a16="http://schemas.microsoft.com/office/drawing/2014/main" id="{BB6C2F7A-8E2B-0189-5577-5E88D96BBE6B}"/>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الطلب يمر بالمحادثة ثم البحث والمراجعة، ولا تصبح القاعة محجوزة بمجرد ظهورها أو اختيارها.</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A315B005-5017-820C-84E0-F813889D99F9}"/>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2F770B-113E-0B61-73E0-B1213C16B5CB}"/>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المرحلة</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9CA8B47-0315-56F7-090E-BB35B1CF32E3}"/>
              </a:ext>
            </a:extLst>
          </p:cNvPr>
          <p:cNvSpPr/>
          <p:nvPr/>
        </p:nvSpPr>
        <p:spPr>
          <a:xfrm>
            <a:off x="7950200" y="2730500"/>
            <a:ext cx="36830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4793E8-1F77-9C10-5198-DC564FEB7EB2}"/>
              </a:ext>
            </a:extLst>
          </p:cNvPr>
          <p:cNvSpPr txBox="1"/>
          <p:nvPr/>
        </p:nvSpPr>
        <p:spPr>
          <a:xfrm>
            <a:off x="8039100" y="2768600"/>
            <a:ext cx="35052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فهم الطلب واستكمال النقص</a:t>
            </a:r>
            <a:endParaRPr lang="en-US"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1D217BFE-0AC9-0DB0-1923-362C5C32C2F1}"/>
              </a:ext>
            </a:extLst>
          </p:cNvPr>
          <p:cNvSpPr/>
          <p:nvPr/>
        </p:nvSpPr>
        <p:spPr>
          <a:xfrm>
            <a:off x="7950200" y="3295650"/>
            <a:ext cx="36830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48EB72A-F9C3-05E9-FB79-93B3E96CC8FF}"/>
              </a:ext>
            </a:extLst>
          </p:cNvPr>
          <p:cNvSpPr txBox="1"/>
          <p:nvPr/>
        </p:nvSpPr>
        <p:spPr>
          <a:xfrm>
            <a:off x="8039100" y="3333750"/>
            <a:ext cx="35052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البحث وتقديم خيارات</a:t>
            </a:r>
            <a:endParaRPr lang="en-US"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48231A77-6180-AB42-1CEE-8AFBE6BA11E4}"/>
              </a:ext>
            </a:extLst>
          </p:cNvPr>
          <p:cNvSpPr/>
          <p:nvPr/>
        </p:nvSpPr>
        <p:spPr>
          <a:xfrm>
            <a:off x="7950200" y="3860800"/>
            <a:ext cx="36830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5720F9A-9E0A-55D5-CC24-AE1E127318EE}"/>
              </a:ext>
            </a:extLst>
          </p:cNvPr>
          <p:cNvSpPr txBox="1"/>
          <p:nvPr/>
        </p:nvSpPr>
        <p:spPr>
          <a:xfrm>
            <a:off x="8039100" y="3898900"/>
            <a:ext cx="35052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اختيار عرض ومراجعته</a:t>
            </a:r>
            <a:endParaRPr lang="en-US"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28ED808-4273-5C4C-0C93-702943B13A05}"/>
              </a:ext>
            </a:extLst>
          </p:cNvPr>
          <p:cNvSpPr/>
          <p:nvPr/>
        </p:nvSpPr>
        <p:spPr>
          <a:xfrm>
            <a:off x="7950200" y="4425950"/>
            <a:ext cx="36830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C04EB89-331F-AEA3-2A30-0EA778E6A3E2}"/>
              </a:ext>
            </a:extLst>
          </p:cNvPr>
          <p:cNvSpPr txBox="1"/>
          <p:nvPr/>
        </p:nvSpPr>
        <p:spPr>
          <a:xfrm>
            <a:off x="8039100" y="4464050"/>
            <a:ext cx="35052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التأكيد والحفظ ثم العرض</a:t>
            </a:r>
            <a:endParaRPr lang="en-US" b="1">
              <a:solidFill>
                <a:srgbClr val="30263B"/>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CE24DC2E-A514-63DE-DAB7-60850DB2E383}"/>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ED5B64F-583B-E5C5-62C8-7BFB387AAF05}"/>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من يؤديها؟</a:t>
            </a:r>
            <a:endParaRPr lang="en-US" sz="1600" b="1">
              <a:solidFill>
                <a:srgbClr val="FFFFFF"/>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D18D7DF7-9137-C81D-D06D-80AE9E4FC71E}"/>
              </a:ext>
            </a:extLst>
          </p:cNvPr>
          <p:cNvSpPr/>
          <p:nvPr/>
        </p:nvSpPr>
        <p:spPr>
          <a:xfrm>
            <a:off x="4241800" y="2730500"/>
            <a:ext cx="36830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F0F7CB2-5217-4D59-3EE2-5EBB10FD447F}"/>
              </a:ext>
            </a:extLst>
          </p:cNvPr>
          <p:cNvSpPr txBox="1"/>
          <p:nvPr/>
        </p:nvSpPr>
        <p:spPr>
          <a:xfrm>
            <a:off x="4330700" y="2768600"/>
            <a:ext cx="35052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Qwen </a:t>
            </a:r>
            <a:r>
              <a:rPr lang="ar-SA">
                <a:solidFill>
                  <a:srgbClr val="30263B"/>
                </a:solidFill>
                <a:latin typeface="Arial" panose="020B0604020202020204" pitchFamily="34" charset="0"/>
                <a:cs typeface="Arial" panose="020B0604020202020204" pitchFamily="34" charset="0"/>
              </a:rPr>
              <a:t>يقترح؛ المستخدم يجيب</a:t>
            </a:r>
            <a:endParaRPr lang="en-US">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C953B831-3C65-E69B-ED69-0E41C76CCC0F}"/>
              </a:ext>
            </a:extLst>
          </p:cNvPr>
          <p:cNvSpPr/>
          <p:nvPr/>
        </p:nvSpPr>
        <p:spPr>
          <a:xfrm>
            <a:off x="4241800" y="3295650"/>
            <a:ext cx="36830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1B73BF8-B1F6-64D3-A87B-8EC3A30FFB25}"/>
              </a:ext>
            </a:extLst>
          </p:cNvPr>
          <p:cNvSpPr txBox="1"/>
          <p:nvPr/>
        </p:nvSpPr>
        <p:spPr>
          <a:xfrm>
            <a:off x="4330700" y="3333750"/>
            <a:ext cx="35052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Backend </a:t>
            </a:r>
            <a:r>
              <a:rPr lang="ar-SA">
                <a:solidFill>
                  <a:srgbClr val="30263B"/>
                </a:solidFill>
                <a:latin typeface="Arial" panose="020B0604020202020204" pitchFamily="34" charset="0"/>
                <a:cs typeface="Arial" panose="020B0604020202020204" pitchFamily="34" charset="0"/>
              </a:rPr>
              <a:t>ينفذ؛ </a:t>
            </a:r>
            <a:r>
              <a:rPr lang="en-US">
                <a:solidFill>
                  <a:srgbClr val="30263B"/>
                </a:solidFill>
                <a:latin typeface="Arial" panose="020B0604020202020204" pitchFamily="34" charset="0"/>
                <a:cs typeface="Arial" panose="020B0604020202020204" pitchFamily="34" charset="0"/>
              </a:rPr>
              <a:t>AI </a:t>
            </a:r>
            <a:r>
              <a:rPr lang="ar-SA">
                <a:solidFill>
                  <a:srgbClr val="30263B"/>
                </a:solidFill>
                <a:latin typeface="Arial" panose="020B0604020202020204" pitchFamily="34" charset="0"/>
                <a:cs typeface="Arial" panose="020B0604020202020204" pitchFamily="34" charset="0"/>
              </a:rPr>
              <a:t>يساعد في الفهم</a:t>
            </a:r>
            <a:endParaRPr lang="en-US">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1A9E199F-F115-10C3-FDB1-D3931F89DE22}"/>
              </a:ext>
            </a:extLst>
          </p:cNvPr>
          <p:cNvSpPr/>
          <p:nvPr/>
        </p:nvSpPr>
        <p:spPr>
          <a:xfrm>
            <a:off x="4241800" y="3860800"/>
            <a:ext cx="36830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0C6090B-0283-E0ED-CF6B-AA4A50B03CDF}"/>
              </a:ext>
            </a:extLst>
          </p:cNvPr>
          <p:cNvSpPr txBox="1"/>
          <p:nvPr/>
        </p:nvSpPr>
        <p:spPr>
          <a:xfrm>
            <a:off x="4330700" y="3898900"/>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المستخدم يختار ويعتمد صراحة</a:t>
            </a:r>
            <a:endParaRPr lang="en-US">
              <a:solidFill>
                <a:srgbClr val="30263B"/>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976BABFB-403C-D32A-8C4E-A8C09D7C1E09}"/>
              </a:ext>
            </a:extLst>
          </p:cNvPr>
          <p:cNvSpPr/>
          <p:nvPr/>
        </p:nvSpPr>
        <p:spPr>
          <a:xfrm>
            <a:off x="4241800" y="4425950"/>
            <a:ext cx="36830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55CB169-DEEC-4FFF-53EC-EE1D46A42CEC}"/>
              </a:ext>
            </a:extLst>
          </p:cNvPr>
          <p:cNvSpPr txBox="1"/>
          <p:nvPr/>
        </p:nvSpPr>
        <p:spPr>
          <a:xfrm>
            <a:off x="4330700" y="4464050"/>
            <a:ext cx="35052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Backend </a:t>
            </a:r>
            <a:r>
              <a:rPr lang="ar-SA">
                <a:solidFill>
                  <a:srgbClr val="30263B"/>
                </a:solidFill>
                <a:latin typeface="Arial" panose="020B0604020202020204" pitchFamily="34" charset="0"/>
                <a:cs typeface="Arial" panose="020B0604020202020204" pitchFamily="34" charset="0"/>
              </a:rPr>
              <a:t>ينفذ؛ المستخدم يتحقق</a:t>
            </a:r>
            <a:endParaRPr lang="en-US">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BFE3124D-93BC-7416-6C4F-064900B6B2FD}"/>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151BDB3-A030-5EFD-8E6B-04557C1F0662}"/>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ما الذي يُفحص بعدها؟</a:t>
            </a:r>
            <a:endParaRPr lang="en-US" sz="1600" b="1">
              <a:solidFill>
                <a:srgbClr val="FFFFFF"/>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56B0D983-B3BF-E37B-A52E-1D1C6F919B0D}"/>
              </a:ext>
            </a:extLst>
          </p:cNvPr>
          <p:cNvSpPr/>
          <p:nvPr/>
        </p:nvSpPr>
        <p:spPr>
          <a:xfrm>
            <a:off x="533400" y="2730500"/>
            <a:ext cx="36830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3E53562-2C91-9D9F-75DE-D2CDEC0A970E}"/>
              </a:ext>
            </a:extLst>
          </p:cNvPr>
          <p:cNvSpPr txBox="1"/>
          <p:nvPr/>
        </p:nvSpPr>
        <p:spPr>
          <a:xfrm>
            <a:off x="622300" y="2768600"/>
            <a:ext cx="3505200" cy="305212"/>
          </a:xfrm>
          <a:prstGeom prst="rect">
            <a:avLst/>
          </a:prstGeom>
          <a:noFill/>
        </p:spPr>
        <p:txBody>
          <a:bodyPr vert="horz" wrap="square" lIns="38100" tIns="25400" rIns="38100" bIns="25400" rtlCol="0">
            <a:spAutoFit/>
          </a:bodyPr>
          <a:lstStyle/>
          <a:p>
            <a:pPr algn="r" rtl="1">
              <a:spcAft>
                <a:spcPts val="400"/>
              </a:spcAft>
            </a:pPr>
            <a:r>
              <a:rPr lang="en-US" sz="1650">
                <a:solidFill>
                  <a:srgbClr val="30263B"/>
                </a:solidFill>
                <a:latin typeface="Arial" panose="020B0604020202020204" pitchFamily="34" charset="0"/>
                <a:cs typeface="Arial" panose="020B0604020202020204" pitchFamily="34" charset="0"/>
              </a:rPr>
              <a:t>JSON </a:t>
            </a:r>
            <a:r>
              <a:rPr lang="ar-SA" sz="1650">
                <a:solidFill>
                  <a:srgbClr val="30263B"/>
                </a:solidFill>
                <a:latin typeface="Arial" panose="020B0604020202020204" pitchFamily="34" charset="0"/>
                <a:cs typeface="Arial" panose="020B0604020202020204" pitchFamily="34" charset="0"/>
              </a:rPr>
              <a:t>صالح وحقول إلزامية محفوظة في الجلسة</a:t>
            </a:r>
            <a:endParaRPr lang="en-US" sz="1650">
              <a:solidFill>
                <a:srgbClr val="30263B"/>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568485DA-94FC-EB1F-453F-8E91BB4BB121}"/>
              </a:ext>
            </a:extLst>
          </p:cNvPr>
          <p:cNvSpPr/>
          <p:nvPr/>
        </p:nvSpPr>
        <p:spPr>
          <a:xfrm>
            <a:off x="533400" y="3295650"/>
            <a:ext cx="36830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DC6E1E7-8B5D-5AD9-9B1F-E447E21FC64F}"/>
              </a:ext>
            </a:extLst>
          </p:cNvPr>
          <p:cNvSpPr txBox="1"/>
          <p:nvPr/>
        </p:nvSpPr>
        <p:spPr>
          <a:xfrm>
            <a:off x="622300" y="3333750"/>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نوع وسعة وصيانة وتعارض من </a:t>
            </a:r>
            <a:r>
              <a:rPr lang="en-US">
                <a:solidFill>
                  <a:srgbClr val="30263B"/>
                </a:solidFill>
                <a:latin typeface="Arial" panose="020B0604020202020204" pitchFamily="34" charset="0"/>
                <a:cs typeface="Arial" panose="020B0604020202020204" pitchFamily="34" charset="0"/>
              </a:rPr>
              <a:t>Firestore</a:t>
            </a:r>
          </a:p>
        </p:txBody>
      </p:sp>
      <p:sp>
        <p:nvSpPr>
          <p:cNvPr id="33" name="Rectangle 32">
            <a:extLst>
              <a:ext uri="{FF2B5EF4-FFF2-40B4-BE49-F238E27FC236}">
                <a16:creationId xmlns:a16="http://schemas.microsoft.com/office/drawing/2014/main" id="{B227FD70-6D12-AC6D-7055-B81B4E2B7B79}"/>
              </a:ext>
            </a:extLst>
          </p:cNvPr>
          <p:cNvSpPr/>
          <p:nvPr/>
        </p:nvSpPr>
        <p:spPr>
          <a:xfrm>
            <a:off x="533400" y="3860800"/>
            <a:ext cx="36830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C640D7F-BAA8-C764-32FD-618BDCF8AFA6}"/>
              </a:ext>
            </a:extLst>
          </p:cNvPr>
          <p:cNvSpPr txBox="1"/>
          <p:nvPr/>
        </p:nvSpPr>
        <p:spPr>
          <a:xfrm>
            <a:off x="622300" y="3898900"/>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عرض واحد صالح يخص الموظف والجلسة</a:t>
            </a:r>
            <a:endParaRPr lang="en-US">
              <a:solidFill>
                <a:srgbClr val="30263B"/>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E4F3A25B-2AC0-A4A3-8D38-74D445484C2A}"/>
              </a:ext>
            </a:extLst>
          </p:cNvPr>
          <p:cNvSpPr/>
          <p:nvPr/>
        </p:nvSpPr>
        <p:spPr>
          <a:xfrm>
            <a:off x="533400" y="4425950"/>
            <a:ext cx="36830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D0896414-4339-7C1D-EE3F-C42553FA9B4E}"/>
              </a:ext>
            </a:extLst>
          </p:cNvPr>
          <p:cNvSpPr txBox="1"/>
          <p:nvPr/>
        </p:nvSpPr>
        <p:spPr>
          <a:xfrm>
            <a:off x="622300" y="4464050"/>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معاملة ذرية، إيصال نجاح، ظهور في التقويم</a:t>
            </a:r>
            <a:endParaRPr lang="en-US">
              <a:solidFill>
                <a:srgbClr val="30263B"/>
              </a:solidFill>
              <a:latin typeface="Arial" panose="020B0604020202020204" pitchFamily="34" charset="0"/>
              <a:cs typeface="Arial" panose="020B0604020202020204" pitchFamily="34" charset="0"/>
            </a:endParaRPr>
          </a:p>
        </p:txBody>
      </p:sp>
      <p:sp>
        <p:nvSpPr>
          <p:cNvPr id="37" name="Rectangle: Rounded Corners 36">
            <a:extLst>
              <a:ext uri="{FF2B5EF4-FFF2-40B4-BE49-F238E27FC236}">
                <a16:creationId xmlns:a16="http://schemas.microsoft.com/office/drawing/2014/main" id="{BC4CC6BF-6336-501F-45FE-526FE5B51E77}"/>
              </a:ext>
            </a:extLst>
          </p:cNvPr>
          <p:cNvSpPr/>
          <p:nvPr/>
        </p:nvSpPr>
        <p:spPr>
          <a:xfrm>
            <a:off x="533400" y="5130800"/>
            <a:ext cx="111252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ECF24AA3-48CC-8093-B6E4-5F3F7FBC7FD9}"/>
              </a:ext>
            </a:extLst>
          </p:cNvPr>
          <p:cNvSpPr txBox="1"/>
          <p:nvPr/>
        </p:nvSpPr>
        <p:spPr>
          <a:xfrm>
            <a:off x="698500" y="5232400"/>
            <a:ext cx="10795000" cy="574516"/>
          </a:xfrm>
          <a:prstGeom prst="rect">
            <a:avLst/>
          </a:prstGeom>
          <a:noFill/>
        </p:spPr>
        <p:txBody>
          <a:bodyPr vert="horz" wrap="square" lIns="38100" tIns="25400" rIns="38100" bIns="25400" rtlCol="0">
            <a:spAutoFit/>
          </a:bodyPr>
          <a:lstStyle/>
          <a:p>
            <a:pPr algn="r" rtl="1">
              <a:spcAft>
                <a:spcPts val="400"/>
              </a:spcAft>
            </a:pPr>
            <a:r>
              <a:rPr lang="ar-SA" sz="1700">
                <a:solidFill>
                  <a:srgbClr val="30263B"/>
                </a:solidFill>
                <a:latin typeface="Arial" panose="020B0604020202020204" pitchFamily="34" charset="0"/>
                <a:cs typeface="Arial" panose="020B0604020202020204" pitchFamily="34" charset="0"/>
              </a:rPr>
              <a:t>بطاقة التفويض: المُسنَد: الفهم والبحث والتحقق والحفظ بعد التأكيد. يبقى لي: دقة المدخلات، اختيار القاعة، الموافقة ومراجعة النتيجة. معيار القبول: حجز واحد محفوظ، مناسب وغير متعارض؛ لا نجاح قبل الحفظ.</a:t>
            </a:r>
            <a:endParaRPr lang="en-US" sz="1700">
              <a:solidFill>
                <a:srgbClr val="30263B"/>
              </a:solidFill>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5AEC681F-9494-7AEF-4085-DA9D9584198C}"/>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66830B82-648D-8E4D-D147-DFE168ED7D27}"/>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E01: AGENTS.md §§6–7؛ E02: SPEC؛ backend/booking_service.py</a:t>
            </a:r>
          </a:p>
        </p:txBody>
      </p:sp>
    </p:spTree>
    <p:extLst>
      <p:ext uri="{BB962C8B-B14F-4D97-AF65-F5344CB8AC3E}">
        <p14:creationId xmlns:p14="http://schemas.microsoft.com/office/powerpoint/2010/main" val="727814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958E82-022B-DBE7-C26A-6C62B625A5A1}"/>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C13379B-B327-7DBB-5755-2C9782A9BAE6}"/>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8F7FBDC4-C420-BB71-1CAA-96108EBED4A9}"/>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07 / 27</a:t>
            </a:r>
          </a:p>
        </p:txBody>
      </p:sp>
      <p:sp>
        <p:nvSpPr>
          <p:cNvPr id="5" name="TextBox 4">
            <a:extLst>
              <a:ext uri="{FF2B5EF4-FFF2-40B4-BE49-F238E27FC236}">
                <a16:creationId xmlns:a16="http://schemas.microsoft.com/office/drawing/2014/main" id="{FF98020A-24F4-2D33-9741-62174A0AFF5B}"/>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en-US" sz="3000" b="1">
                <a:solidFill>
                  <a:srgbClr val="5B2453"/>
                </a:solidFill>
                <a:latin typeface="Arial" panose="020B0604020202020204" pitchFamily="34" charset="0"/>
                <a:cs typeface="Arial" panose="020B0604020202020204" pitchFamily="34" charset="0"/>
              </a:rPr>
              <a:t>RICE: </a:t>
            </a:r>
            <a:r>
              <a:rPr lang="ar-SA" sz="3000" b="1">
                <a:solidFill>
                  <a:srgbClr val="5B2453"/>
                </a:solidFill>
                <a:latin typeface="Arial" panose="020B0604020202020204" pitchFamily="34" charset="0"/>
                <a:cs typeface="Arial" panose="020B0604020202020204" pitchFamily="34" charset="0"/>
              </a:rPr>
              <a:t>توجيه التطوير بعقد واضح</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1537118-982F-4B44-D65C-26DD410B2B79}"/>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مثال حقيقي مختصر من موجز </a:t>
            </a:r>
            <a:r>
              <a:rPr lang="en-US" sz="1900">
                <a:solidFill>
                  <a:srgbClr val="30263B"/>
                </a:solidFill>
                <a:latin typeface="Arial" panose="020B0604020202020204" pitchFamily="34" charset="0"/>
                <a:cs typeface="Arial" panose="020B0604020202020204" pitchFamily="34" charset="0"/>
              </a:rPr>
              <a:t>RICE </a:t>
            </a:r>
            <a:r>
              <a:rPr lang="ar-SA" sz="1900">
                <a:solidFill>
                  <a:srgbClr val="30263B"/>
                </a:solidFill>
                <a:latin typeface="Arial" panose="020B0604020202020204" pitchFamily="34" charset="0"/>
                <a:cs typeface="Arial" panose="020B0604020202020204" pitchFamily="34" charset="0"/>
              </a:rPr>
              <a:t>في </a:t>
            </a:r>
            <a:r>
              <a:rPr lang="en-US" sz="1900">
                <a:solidFill>
                  <a:srgbClr val="30263B"/>
                </a:solidFill>
                <a:latin typeface="Arial" panose="020B0604020202020204" pitchFamily="34" charset="0"/>
                <a:cs typeface="Arial" panose="020B0604020202020204" pitchFamily="34" charset="0"/>
              </a:rPr>
              <a:t>AGENTS.md، </a:t>
            </a:r>
            <a:r>
              <a:rPr lang="ar-SA" sz="1900">
                <a:solidFill>
                  <a:srgbClr val="30263B"/>
                </a:solidFill>
                <a:latin typeface="Arial" panose="020B0604020202020204" pitchFamily="34" charset="0"/>
                <a:cs typeface="Arial" panose="020B0604020202020204" pitchFamily="34" charset="0"/>
              </a:rPr>
              <a:t>أعيدت صياغته بالعربية دون اختلاق أمر تاريخي جديد.</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3BFE53B6-B090-FE89-6B45-899AC85D517B}"/>
              </a:ext>
            </a:extLst>
          </p:cNvPr>
          <p:cNvSpPr/>
          <p:nvPr/>
        </p:nvSpPr>
        <p:spPr>
          <a:xfrm>
            <a:off x="60960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EACE102-0469-6E58-153A-80245FE1B8DE}"/>
              </a:ext>
            </a:extLst>
          </p:cNvPr>
          <p:cNvSpPr txBox="1"/>
          <p:nvPr/>
        </p:nvSpPr>
        <p:spPr>
          <a:xfrm>
            <a:off x="61722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العنصر</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97758E89-68BE-5586-1113-29C2EE5C3E29}"/>
              </a:ext>
            </a:extLst>
          </p:cNvPr>
          <p:cNvSpPr/>
          <p:nvPr/>
        </p:nvSpPr>
        <p:spPr>
          <a:xfrm>
            <a:off x="6096000" y="27305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3BF38E4-F7E4-1C6B-31F8-8CE73DCCD61D}"/>
              </a:ext>
            </a:extLst>
          </p:cNvPr>
          <p:cNvSpPr txBox="1"/>
          <p:nvPr/>
        </p:nvSpPr>
        <p:spPr>
          <a:xfrm>
            <a:off x="6184900" y="2768600"/>
            <a:ext cx="53594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Role</a:t>
            </a:r>
          </a:p>
        </p:txBody>
      </p:sp>
      <p:sp>
        <p:nvSpPr>
          <p:cNvPr id="11" name="Rectangle 10">
            <a:extLst>
              <a:ext uri="{FF2B5EF4-FFF2-40B4-BE49-F238E27FC236}">
                <a16:creationId xmlns:a16="http://schemas.microsoft.com/office/drawing/2014/main" id="{4ED53919-3035-EE3A-2726-0B1D7B4221F8}"/>
              </a:ext>
            </a:extLst>
          </p:cNvPr>
          <p:cNvSpPr/>
          <p:nvPr/>
        </p:nvSpPr>
        <p:spPr>
          <a:xfrm>
            <a:off x="6096000" y="32956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3307C48-13FA-90C9-6485-5018D3A51A50}"/>
              </a:ext>
            </a:extLst>
          </p:cNvPr>
          <p:cNvSpPr txBox="1"/>
          <p:nvPr/>
        </p:nvSpPr>
        <p:spPr>
          <a:xfrm>
            <a:off x="6184900" y="3333750"/>
            <a:ext cx="53594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Instructions</a:t>
            </a:r>
          </a:p>
        </p:txBody>
      </p:sp>
      <p:sp>
        <p:nvSpPr>
          <p:cNvPr id="13" name="Rectangle 12">
            <a:extLst>
              <a:ext uri="{FF2B5EF4-FFF2-40B4-BE49-F238E27FC236}">
                <a16:creationId xmlns:a16="http://schemas.microsoft.com/office/drawing/2014/main" id="{817BC7F1-7BBE-7237-8B7E-23AE5A254309}"/>
              </a:ext>
            </a:extLst>
          </p:cNvPr>
          <p:cNvSpPr/>
          <p:nvPr/>
        </p:nvSpPr>
        <p:spPr>
          <a:xfrm>
            <a:off x="6096000" y="38608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64A3C13-25D6-021B-15CF-1363FF034914}"/>
              </a:ext>
            </a:extLst>
          </p:cNvPr>
          <p:cNvSpPr txBox="1"/>
          <p:nvPr/>
        </p:nvSpPr>
        <p:spPr>
          <a:xfrm>
            <a:off x="6184900" y="3898900"/>
            <a:ext cx="53594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Context</a:t>
            </a:r>
          </a:p>
        </p:txBody>
      </p:sp>
      <p:sp>
        <p:nvSpPr>
          <p:cNvPr id="15" name="Rectangle 14">
            <a:extLst>
              <a:ext uri="{FF2B5EF4-FFF2-40B4-BE49-F238E27FC236}">
                <a16:creationId xmlns:a16="http://schemas.microsoft.com/office/drawing/2014/main" id="{02B5E09A-C650-E6ED-1D9D-A304FBB42960}"/>
              </a:ext>
            </a:extLst>
          </p:cNvPr>
          <p:cNvSpPr/>
          <p:nvPr/>
        </p:nvSpPr>
        <p:spPr>
          <a:xfrm>
            <a:off x="6096000" y="44259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21ABBA6-0F8F-98F5-5929-D223230ADA07}"/>
              </a:ext>
            </a:extLst>
          </p:cNvPr>
          <p:cNvSpPr txBox="1"/>
          <p:nvPr/>
        </p:nvSpPr>
        <p:spPr>
          <a:xfrm>
            <a:off x="6184900" y="4464050"/>
            <a:ext cx="53594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Expected Result</a:t>
            </a:r>
          </a:p>
        </p:txBody>
      </p:sp>
      <p:sp>
        <p:nvSpPr>
          <p:cNvPr id="17" name="Rectangle 16">
            <a:extLst>
              <a:ext uri="{FF2B5EF4-FFF2-40B4-BE49-F238E27FC236}">
                <a16:creationId xmlns:a16="http://schemas.microsoft.com/office/drawing/2014/main" id="{57408719-16C6-7E5E-491E-2A85F78511DE}"/>
              </a:ext>
            </a:extLst>
          </p:cNvPr>
          <p:cNvSpPr/>
          <p:nvPr/>
        </p:nvSpPr>
        <p:spPr>
          <a:xfrm>
            <a:off x="5334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F17DD4F-732A-ACFA-5EC1-D27E187E6BA9}"/>
              </a:ext>
            </a:extLst>
          </p:cNvPr>
          <p:cNvSpPr txBox="1"/>
          <p:nvPr/>
        </p:nvSpPr>
        <p:spPr>
          <a:xfrm>
            <a:off x="6096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المثال الفعلي في عقد العمل</a:t>
            </a:r>
            <a:endParaRPr lang="en-US" sz="1600" b="1">
              <a:solidFill>
                <a:srgbClr val="FFFFFF"/>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F44D87DA-B749-AB2E-D201-C49F9468DC7D}"/>
              </a:ext>
            </a:extLst>
          </p:cNvPr>
          <p:cNvSpPr/>
          <p:nvPr/>
        </p:nvSpPr>
        <p:spPr>
          <a:xfrm>
            <a:off x="533400" y="27305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B606C62-B429-B99F-E5BB-3B2328842B5D}"/>
              </a:ext>
            </a:extLst>
          </p:cNvPr>
          <p:cNvSpPr txBox="1"/>
          <p:nvPr/>
        </p:nvSpPr>
        <p:spPr>
          <a:xfrm>
            <a:off x="622300" y="2768600"/>
            <a:ext cx="53594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منفذ </a:t>
            </a:r>
            <a:r>
              <a:rPr lang="en-US">
                <a:solidFill>
                  <a:srgbClr val="30263B"/>
                </a:solidFill>
                <a:latin typeface="Arial" panose="020B0604020202020204" pitchFamily="34" charset="0"/>
                <a:cs typeface="Arial" panose="020B0604020202020204" pitchFamily="34" charset="0"/>
              </a:rPr>
              <a:t>Full-stack </a:t>
            </a:r>
            <a:r>
              <a:rPr lang="ar-SA">
                <a:solidFill>
                  <a:srgbClr val="30263B"/>
                </a:solidFill>
                <a:latin typeface="Arial" panose="020B0604020202020204" pitchFamily="34" charset="0"/>
                <a:cs typeface="Arial" panose="020B0604020202020204" pitchFamily="34" charset="0"/>
              </a:rPr>
              <a:t>حذر؛ صاحبة المشروع تتخذ قرارات النطاق والمنتج.</a:t>
            </a:r>
            <a:endParaRPr lang="en-US">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0FAA1BD8-74DD-7A07-477B-3626A71A2CBF}"/>
              </a:ext>
            </a:extLst>
          </p:cNvPr>
          <p:cNvSpPr/>
          <p:nvPr/>
        </p:nvSpPr>
        <p:spPr>
          <a:xfrm>
            <a:off x="533400" y="32956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0C1127A-AB71-9DE2-8D58-6C96866700CF}"/>
              </a:ext>
            </a:extLst>
          </p:cNvPr>
          <p:cNvSpPr txBox="1"/>
          <p:nvPr/>
        </p:nvSpPr>
        <p:spPr>
          <a:xfrm>
            <a:off x="622300" y="3333750"/>
            <a:ext cx="5359400" cy="305212"/>
          </a:xfrm>
          <a:prstGeom prst="rect">
            <a:avLst/>
          </a:prstGeom>
          <a:noFill/>
        </p:spPr>
        <p:txBody>
          <a:bodyPr vert="horz" wrap="square" lIns="38100" tIns="25400" rIns="38100" bIns="25400" rtlCol="0">
            <a:spAutoFit/>
          </a:bodyPr>
          <a:lstStyle/>
          <a:p>
            <a:pPr algn="r" rtl="1">
              <a:spcAft>
                <a:spcPts val="400"/>
              </a:spcAft>
            </a:pPr>
            <a:r>
              <a:rPr lang="ar-SA" sz="1650">
                <a:solidFill>
                  <a:srgbClr val="30263B"/>
                </a:solidFill>
                <a:latin typeface="Arial" panose="020B0604020202020204" pitchFamily="34" charset="0"/>
                <a:cs typeface="Arial" panose="020B0604020202020204" pitchFamily="34" charset="0"/>
              </a:rPr>
              <a:t>نفّذ المتطلبات المعتمدة فقط، اختبر السلوك الفعلي، واعمل مرحلة واحدة كل مرة.</a:t>
            </a:r>
            <a:endParaRPr lang="en-US" sz="1650">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1194F7FD-E72C-F4E3-A8DF-0D49EB321205}"/>
              </a:ext>
            </a:extLst>
          </p:cNvPr>
          <p:cNvSpPr/>
          <p:nvPr/>
        </p:nvSpPr>
        <p:spPr>
          <a:xfrm>
            <a:off x="533400" y="38608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FD55015-22AF-F471-DA43-D6E797F09A08}"/>
              </a:ext>
            </a:extLst>
          </p:cNvPr>
          <p:cNvSpPr txBox="1"/>
          <p:nvPr/>
        </p:nvSpPr>
        <p:spPr>
          <a:xfrm>
            <a:off x="622300" y="3898900"/>
            <a:ext cx="5359400" cy="297517"/>
          </a:xfrm>
          <a:prstGeom prst="rect">
            <a:avLst/>
          </a:prstGeom>
          <a:noFill/>
        </p:spPr>
        <p:txBody>
          <a:bodyPr vert="horz" wrap="square" lIns="38100" tIns="25400" rIns="38100" bIns="25400" rtlCol="0">
            <a:spAutoFit/>
          </a:bodyPr>
          <a:lstStyle/>
          <a:p>
            <a:pPr algn="r" rtl="1">
              <a:spcAft>
                <a:spcPts val="400"/>
              </a:spcAft>
            </a:pPr>
            <a:r>
              <a:rPr lang="en-US" sz="1600">
                <a:solidFill>
                  <a:srgbClr val="30263B"/>
                </a:solidFill>
                <a:latin typeface="Arial" panose="020B0604020202020204" pitchFamily="34" charset="0"/>
                <a:cs typeface="Arial" panose="020B0604020202020204" pitchFamily="34" charset="0"/>
              </a:rPr>
              <a:t>MVP </a:t>
            </a:r>
            <a:r>
              <a:rPr lang="ar-SA" sz="1600">
                <a:solidFill>
                  <a:srgbClr val="30263B"/>
                </a:solidFill>
                <a:latin typeface="Arial" panose="020B0604020202020204" pitchFamily="34" charset="0"/>
                <a:cs typeface="Arial" panose="020B0604020202020204" pitchFamily="34" charset="0"/>
              </a:rPr>
              <a:t>تعليمي محدود الوقت لإظهار هندسة الأوامر والتفويض المسؤول والقياس.</a:t>
            </a:r>
            <a:endParaRPr lang="en-US" sz="1600">
              <a:solidFill>
                <a:srgbClr val="30263B"/>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C8B0E9C6-C64A-606E-D3AC-A81BB4CDAF35}"/>
              </a:ext>
            </a:extLst>
          </p:cNvPr>
          <p:cNvSpPr/>
          <p:nvPr/>
        </p:nvSpPr>
        <p:spPr>
          <a:xfrm>
            <a:off x="533400" y="44259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8B0CE6B-903B-7F3C-A8B1-60FC73AFEB7B}"/>
              </a:ext>
            </a:extLst>
          </p:cNvPr>
          <p:cNvSpPr txBox="1"/>
          <p:nvPr/>
        </p:nvSpPr>
        <p:spPr>
          <a:xfrm>
            <a:off x="622300" y="4464050"/>
            <a:ext cx="5359400" cy="297517"/>
          </a:xfrm>
          <a:prstGeom prst="rect">
            <a:avLst/>
          </a:prstGeom>
          <a:noFill/>
        </p:spPr>
        <p:txBody>
          <a:bodyPr vert="horz" wrap="square" lIns="38100" tIns="25400" rIns="38100" bIns="25400" rtlCol="0">
            <a:spAutoFit/>
          </a:bodyPr>
          <a:lstStyle/>
          <a:p>
            <a:pPr algn="r" rtl="1">
              <a:spcAft>
                <a:spcPts val="400"/>
              </a:spcAft>
            </a:pPr>
            <a:r>
              <a:rPr lang="ar-SA" sz="1600">
                <a:solidFill>
                  <a:srgbClr val="30263B"/>
                </a:solidFill>
                <a:latin typeface="Arial" panose="020B0604020202020204" pitchFamily="34" charset="0"/>
                <a:cs typeface="Arial" panose="020B0604020202020204" pitchFamily="34" charset="0"/>
              </a:rPr>
              <a:t>تطبيق محلي مطابق للوثائق والتصميم، فحوص قابلة للتكرار وسجل تغييرات دقيق.</a:t>
            </a:r>
            <a:endParaRPr lang="en-US" sz="1600">
              <a:solidFill>
                <a:srgbClr val="30263B"/>
              </a:solidFill>
              <a:latin typeface="Arial" panose="020B0604020202020204" pitchFamily="34" charset="0"/>
              <a:cs typeface="Arial" panose="020B0604020202020204" pitchFamily="34" charset="0"/>
            </a:endParaRPr>
          </a:p>
        </p:txBody>
      </p:sp>
      <p:sp>
        <p:nvSpPr>
          <p:cNvPr id="27" name="Rectangle: Rounded Corners 26">
            <a:extLst>
              <a:ext uri="{FF2B5EF4-FFF2-40B4-BE49-F238E27FC236}">
                <a16:creationId xmlns:a16="http://schemas.microsoft.com/office/drawing/2014/main" id="{DC7785DA-5B25-A709-8C06-03B62F37B605}"/>
              </a:ext>
            </a:extLst>
          </p:cNvPr>
          <p:cNvSpPr/>
          <p:nvPr/>
        </p:nvSpPr>
        <p:spPr>
          <a:xfrm>
            <a:off x="533400" y="5130800"/>
            <a:ext cx="111252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6CF286C-51A6-8652-8FB7-132EB296951E}"/>
              </a:ext>
            </a:extLst>
          </p:cNvPr>
          <p:cNvSpPr txBox="1"/>
          <p:nvPr/>
        </p:nvSpPr>
        <p:spPr>
          <a:xfrm>
            <a:off x="698500" y="5232400"/>
            <a:ext cx="10795000" cy="574516"/>
          </a:xfrm>
          <a:prstGeom prst="rect">
            <a:avLst/>
          </a:prstGeom>
          <a:noFill/>
        </p:spPr>
        <p:txBody>
          <a:bodyPr vert="horz" wrap="square" lIns="38100" tIns="25400" rIns="38100" bIns="25400" rtlCol="0">
            <a:spAutoFit/>
          </a:bodyPr>
          <a:lstStyle/>
          <a:p>
            <a:pPr algn="r" rtl="1">
              <a:spcAft>
                <a:spcPts val="400"/>
              </a:spcAft>
            </a:pPr>
            <a:r>
              <a:rPr lang="ar-SA" sz="1700">
                <a:solidFill>
                  <a:srgbClr val="30263B"/>
                </a:solidFill>
                <a:latin typeface="Arial" panose="020B0604020202020204" pitchFamily="34" charset="0"/>
                <a:cs typeface="Arial" panose="020B0604020202020204" pitchFamily="34" charset="0"/>
              </a:rPr>
              <a:t>أين يظهر التحكم؟: تحديد التقنية والنطاق، منع إضافة خصائص دون موافقة، فصل تعليمات الوكيل في ملف، ثم قبول أو رفض التحسين حسب الاختبار. النص الكامل القابل للمراجعة في </a:t>
            </a:r>
            <a:r>
              <a:rPr lang="en-US" sz="1700">
                <a:solidFill>
                  <a:srgbClr val="30263B"/>
                </a:solidFill>
                <a:latin typeface="Arial" panose="020B0604020202020204" pitchFamily="34" charset="0"/>
                <a:cs typeface="Arial" panose="020B0604020202020204" pitchFamily="34" charset="0"/>
              </a:rPr>
              <a:t>AGENTS.md </a:t>
            </a:r>
            <a:r>
              <a:rPr lang="ar-SA" sz="1700">
                <a:solidFill>
                  <a:srgbClr val="30263B"/>
                </a:solidFill>
                <a:latin typeface="Arial" panose="020B0604020202020204" pitchFamily="34" charset="0"/>
                <a:cs typeface="Arial" panose="020B0604020202020204" pitchFamily="34" charset="0"/>
              </a:rPr>
              <a:t>وملحق هذا العرض.</a:t>
            </a:r>
            <a:endParaRPr lang="en-US" sz="1700">
              <a:solidFill>
                <a:srgbClr val="30263B"/>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1F5A5294-6B00-F068-A1A6-7283439660B3}"/>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5339AD2-43FC-4248-529A-401A045252C2}"/>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E01: AGENTS.md §1 </a:t>
            </a:r>
            <a:r>
              <a:rPr lang="ar-SA" sz="1000">
                <a:solidFill>
                  <a:srgbClr val="6C6570"/>
                </a:solidFill>
                <a:latin typeface="Arial" panose="020B0604020202020204" pitchFamily="34" charset="0"/>
                <a:cs typeface="Arial" panose="020B0604020202020204" pitchFamily="34" charset="0"/>
              </a:rPr>
              <a:t>و§§10–12؛ </a:t>
            </a:r>
            <a:r>
              <a:rPr lang="en-US" sz="1000">
                <a:solidFill>
                  <a:srgbClr val="6C6570"/>
                </a:solidFill>
                <a:latin typeface="Arial" panose="020B0604020202020204" pitchFamily="34" charset="0"/>
                <a:cs typeface="Arial" panose="020B0604020202020204" pitchFamily="34" charset="0"/>
              </a:rPr>
              <a:t>E04: Prompt_Engineering_Log.md</a:t>
            </a:r>
          </a:p>
        </p:txBody>
      </p:sp>
    </p:spTree>
    <p:extLst>
      <p:ext uri="{BB962C8B-B14F-4D97-AF65-F5344CB8AC3E}">
        <p14:creationId xmlns:p14="http://schemas.microsoft.com/office/powerpoint/2010/main" val="1566282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AE0F2B-34A5-D720-242C-A6D4C9971E2F}"/>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544388E-745F-0FCC-D352-B677CD326CAE}"/>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256A9C4F-CDBC-FFC2-E2F2-08CB914B10A3}"/>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08 / 27</a:t>
            </a:r>
          </a:p>
        </p:txBody>
      </p:sp>
      <p:sp>
        <p:nvSpPr>
          <p:cNvPr id="5" name="TextBox 4">
            <a:extLst>
              <a:ext uri="{FF2B5EF4-FFF2-40B4-BE49-F238E27FC236}">
                <a16:creationId xmlns:a16="http://schemas.microsoft.com/office/drawing/2014/main" id="{7D4D1799-6ED8-6E32-3568-508584E08335}"/>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تطوير بمساعدة </a:t>
            </a:r>
            <a:r>
              <a:rPr lang="en-US" sz="3000" b="1">
                <a:solidFill>
                  <a:srgbClr val="5B2453"/>
                </a:solidFill>
                <a:latin typeface="Arial" panose="020B0604020202020204" pitchFamily="34" charset="0"/>
                <a:cs typeface="Arial" panose="020B0604020202020204" pitchFamily="34" charset="0"/>
              </a:rPr>
              <a:t>AI </a:t>
            </a:r>
            <a:r>
              <a:rPr lang="ar-SA" sz="3000" b="1">
                <a:solidFill>
                  <a:srgbClr val="5B2453"/>
                </a:solidFill>
                <a:latin typeface="Arial" panose="020B0604020202020204" pitchFamily="34" charset="0"/>
                <a:cs typeface="Arial" panose="020B0604020202020204" pitchFamily="34" charset="0"/>
              </a:rPr>
              <a:t>مع نقاط مراجعة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404CFA5-FC26-2425-E358-F9E9935C93A2}"/>
              </a:ext>
            </a:extLst>
          </p:cNvPr>
          <p:cNvSpPr txBox="1"/>
          <p:nvPr/>
        </p:nvSpPr>
        <p:spPr>
          <a:xfrm>
            <a:off x="533400" y="1320800"/>
            <a:ext cx="1112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المسار الموثق: </a:t>
            </a:r>
            <a:r>
              <a:rPr lang="en-US" sz="1900">
                <a:solidFill>
                  <a:srgbClr val="30263B"/>
                </a:solidFill>
                <a:latin typeface="Arial" panose="020B0604020202020204" pitchFamily="34" charset="0"/>
                <a:cs typeface="Arial" panose="020B0604020202020204" pitchFamily="34" charset="0"/>
              </a:rPr>
              <a:t>Requirements → BRD → SPEC → UI/UX → AGENTS.md → Codex → Testing → Optimization.</a:t>
            </a:r>
          </a:p>
        </p:txBody>
      </p:sp>
      <p:sp>
        <p:nvSpPr>
          <p:cNvPr id="7" name="Rectangle: Rounded Corners 6">
            <a:extLst>
              <a:ext uri="{FF2B5EF4-FFF2-40B4-BE49-F238E27FC236}">
                <a16:creationId xmlns:a16="http://schemas.microsoft.com/office/drawing/2014/main" id="{D8760419-2F02-B27E-9B14-516C9A637B98}"/>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3CF3E9A-7525-3FDE-111B-BDDE522CBC67}"/>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7E4226A-22C8-B0D4-0093-F109F7AE4A8B}"/>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قبل البناء</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8AEE50B-9E33-E088-A341-8A5913F637A0}"/>
              </a:ext>
            </a:extLst>
          </p:cNvPr>
          <p:cNvSpPr txBox="1"/>
          <p:nvPr/>
        </p:nvSpPr>
        <p:spPr>
          <a:xfrm>
            <a:off x="8233833" y="3175000"/>
            <a:ext cx="3259667" cy="1220847"/>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تحديد نطاق </a:t>
            </a:r>
            <a:r>
              <a:rPr lang="en-US" sz="1900">
                <a:solidFill>
                  <a:srgbClr val="30263B"/>
                </a:solidFill>
                <a:latin typeface="Arial" panose="020B0604020202020204" pitchFamily="34" charset="0"/>
                <a:cs typeface="Arial" panose="020B0604020202020204" pitchFamily="34" charset="0"/>
              </a:rPr>
              <a:t>MVP </a:t>
            </a:r>
            <a:r>
              <a:rPr lang="ar-SA" sz="1900">
                <a:solidFill>
                  <a:srgbClr val="30263B"/>
                </a:solidFill>
                <a:latin typeface="Arial" panose="020B0604020202020204" pitchFamily="34" charset="0"/>
                <a:cs typeface="Arial" panose="020B0604020202020204" pitchFamily="34" charset="0"/>
              </a:rPr>
              <a:t>والوثائق المرجعية والتصميم المعاد. </a:t>
            </a:r>
            <a:r>
              <a:rPr lang="en-US" sz="1900">
                <a:solidFill>
                  <a:srgbClr val="30263B"/>
                </a:solidFill>
                <a:latin typeface="Arial" panose="020B0604020202020204" pitchFamily="34" charset="0"/>
                <a:cs typeface="Arial" panose="020B0604020202020204" pitchFamily="34" charset="0"/>
              </a:rPr>
              <a:t>BRD </a:t>
            </a:r>
            <a:r>
              <a:rPr lang="ar-SA" sz="1900">
                <a:solidFill>
                  <a:srgbClr val="30263B"/>
                </a:solidFill>
                <a:latin typeface="Arial" panose="020B0604020202020204" pitchFamily="34" charset="0"/>
                <a:cs typeface="Arial" panose="020B0604020202020204" pitchFamily="34" charset="0"/>
              </a:rPr>
              <a:t>يحكم السلوك؛ </a:t>
            </a:r>
            <a:r>
              <a:rPr lang="en-US" sz="1900">
                <a:solidFill>
                  <a:srgbClr val="30263B"/>
                </a:solidFill>
                <a:latin typeface="Arial" panose="020B0604020202020204" pitchFamily="34" charset="0"/>
                <a:cs typeface="Arial" panose="020B0604020202020204" pitchFamily="34" charset="0"/>
              </a:rPr>
              <a:t>SPEC </a:t>
            </a:r>
            <a:r>
              <a:rPr lang="ar-SA" sz="1900">
                <a:solidFill>
                  <a:srgbClr val="30263B"/>
                </a:solidFill>
                <a:latin typeface="Arial" panose="020B0604020202020204" pitchFamily="34" charset="0"/>
                <a:cs typeface="Arial" panose="020B0604020202020204" pitchFamily="34" charset="0"/>
              </a:rPr>
              <a:t>يحكم العقود والتحقق؛ </a:t>
            </a:r>
            <a:r>
              <a:rPr lang="en-US" sz="1900">
                <a:solidFill>
                  <a:srgbClr val="30263B"/>
                </a:solidFill>
                <a:latin typeface="Arial" panose="020B0604020202020204" pitchFamily="34" charset="0"/>
                <a:cs typeface="Arial" panose="020B0604020202020204" pitchFamily="34" charset="0"/>
              </a:rPr>
              <a:t>Concept A </a:t>
            </a:r>
            <a:r>
              <a:rPr lang="ar-SA" sz="1900">
                <a:solidFill>
                  <a:srgbClr val="30263B"/>
                </a:solidFill>
                <a:latin typeface="Arial" panose="020B0604020202020204" pitchFamily="34" charset="0"/>
                <a:cs typeface="Arial" panose="020B0604020202020204" pitchFamily="34" charset="0"/>
              </a:rPr>
              <a:t>يحكم العرض والتنقل.</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80F384CA-07D1-0DFD-578B-92481C18B726}"/>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009158-702D-C0A8-E77F-35D85AB34042}"/>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DF3F4FE-12B3-8335-2CC1-87EC23E30060}"/>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أثناء البناء</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1E32EEB-584F-CC93-B5F3-33E20F94F35F}"/>
              </a:ext>
            </a:extLst>
          </p:cNvPr>
          <p:cNvSpPr txBox="1"/>
          <p:nvPr/>
        </p:nvSpPr>
        <p:spPr>
          <a:xfrm>
            <a:off x="4466167" y="3175000"/>
            <a:ext cx="3259667" cy="1513235"/>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Foundation </a:t>
            </a:r>
            <a:r>
              <a:rPr lang="ar-SA" sz="1900">
                <a:solidFill>
                  <a:srgbClr val="30263B"/>
                </a:solidFill>
                <a:latin typeface="Arial" panose="020B0604020202020204" pitchFamily="34" charset="0"/>
                <a:cs typeface="Arial" panose="020B0604020202020204" pitchFamily="34" charset="0"/>
              </a:rPr>
              <a:t>ثم </a:t>
            </a:r>
            <a:r>
              <a:rPr lang="en-US" sz="1900">
                <a:solidFill>
                  <a:srgbClr val="30263B"/>
                </a:solidFill>
                <a:latin typeface="Arial" panose="020B0604020202020204" pitchFamily="34" charset="0"/>
                <a:cs typeface="Arial" panose="020B0604020202020204" pitchFamily="34" charset="0"/>
              </a:rPr>
              <a:t>Core Booking </a:t>
            </a:r>
            <a:r>
              <a:rPr lang="ar-SA" sz="1900">
                <a:solidFill>
                  <a:srgbClr val="30263B"/>
                </a:solidFill>
                <a:latin typeface="Arial" panose="020B0604020202020204" pitchFamily="34" charset="0"/>
                <a:cs typeface="Arial" panose="020B0604020202020204" pitchFamily="34" charset="0"/>
              </a:rPr>
              <a:t>ثم </a:t>
            </a:r>
            <a:r>
              <a:rPr lang="en-US" sz="1900">
                <a:solidFill>
                  <a:srgbClr val="30263B"/>
                </a:solidFill>
                <a:latin typeface="Arial" panose="020B0604020202020204" pitchFamily="34" charset="0"/>
                <a:cs typeface="Arial" panose="020B0604020202020204" pitchFamily="34" charset="0"/>
              </a:rPr>
              <a:t>Employee &amp; Manager </a:t>
            </a:r>
            <a:r>
              <a:rPr lang="ar-SA" sz="1900">
                <a:solidFill>
                  <a:srgbClr val="30263B"/>
                </a:solidFill>
                <a:latin typeface="Arial" panose="020B0604020202020204" pitchFamily="34" charset="0"/>
                <a:cs typeface="Arial" panose="020B0604020202020204" pitchFamily="34" charset="0"/>
              </a:rPr>
              <a:t>ثم </a:t>
            </a:r>
            <a:r>
              <a:rPr lang="en-US" sz="1900">
                <a:solidFill>
                  <a:srgbClr val="30263B"/>
                </a:solidFill>
                <a:latin typeface="Arial" panose="020B0604020202020204" pitchFamily="34" charset="0"/>
                <a:cs typeface="Arial" panose="020B0604020202020204" pitchFamily="34" charset="0"/>
              </a:rPr>
              <a:t>Verification. </a:t>
            </a:r>
            <a:r>
              <a:rPr lang="ar-SA" sz="1900">
                <a:solidFill>
                  <a:srgbClr val="30263B"/>
                </a:solidFill>
                <a:latin typeface="Arial" panose="020B0604020202020204" pitchFamily="34" charset="0"/>
                <a:cs typeface="Arial" panose="020B0604020202020204" pitchFamily="34" charset="0"/>
              </a:rPr>
              <a:t>كل تقرير يسجل التغيير والدليل والقيود ونقطة توقف للمراجعة؛ التقارير ليست بديلًا عن موافقة المالكة.</a:t>
            </a:r>
            <a:endParaRPr lang="en-US" sz="1900">
              <a:solidFill>
                <a:srgbClr val="30263B"/>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433CF74E-CA88-4661-9A87-FF927CF76C70}"/>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ACA8B9-DD2C-8A12-9AAE-FDD25EE3B459}"/>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DA6FA2F-8501-BEF7-AA67-5733329EB4B4}"/>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بعد الاختبار</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6A5482F-F614-4A70-7FA6-58E0B51FBE6E}"/>
              </a:ext>
            </a:extLst>
          </p:cNvPr>
          <p:cNvSpPr txBox="1"/>
          <p:nvPr/>
        </p:nvSpPr>
        <p:spPr>
          <a:xfrm>
            <a:off x="698500"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نسخ البرومبت محفوظة، وتجربة </a:t>
            </a:r>
            <a:r>
              <a:rPr lang="en-US" sz="1900">
                <a:solidFill>
                  <a:srgbClr val="30263B"/>
                </a:solidFill>
                <a:latin typeface="Arial" panose="020B0604020202020204" pitchFamily="34" charset="0"/>
                <a:cs typeface="Arial" panose="020B0604020202020204" pitchFamily="34" charset="0"/>
              </a:rPr>
              <a:t>B </a:t>
            </a:r>
            <a:r>
              <a:rPr lang="ar-SA" sz="1900">
                <a:solidFill>
                  <a:srgbClr val="30263B"/>
                </a:solidFill>
                <a:latin typeface="Arial" panose="020B0604020202020204" pitchFamily="34" charset="0"/>
                <a:cs typeface="Arial" panose="020B0604020202020204" pitchFamily="34" charset="0"/>
              </a:rPr>
              <a:t>رُفضت بسبب أخطاء فعلية. تحسينات السرعة اللاحقة كانت بتوجيه المالكة؛ لا تغيير للتقنية أو نشر عام ضمن هذا التسليم.</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29043690-99F2-F6AD-52EC-870DA2BF9E41}"/>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CC6499B-90B1-1C9B-028C-9F214EADDEB7}"/>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E01؛ E02؛ docs/Milestone_1.md </a:t>
            </a:r>
            <a:r>
              <a:rPr lang="ar-SA" sz="1000">
                <a:solidFill>
                  <a:srgbClr val="6C6570"/>
                </a:solidFill>
                <a:latin typeface="Arial" panose="020B0604020202020204" pitchFamily="34" charset="0"/>
                <a:cs typeface="Arial" panose="020B0604020202020204" pitchFamily="34" charset="0"/>
              </a:rPr>
              <a:t>إلى </a:t>
            </a:r>
            <a:r>
              <a:rPr lang="en-US" sz="1000">
                <a:solidFill>
                  <a:srgbClr val="6C6570"/>
                </a:solidFill>
                <a:latin typeface="Arial" panose="020B0604020202020204" pitchFamily="34" charset="0"/>
                <a:cs typeface="Arial" panose="020B0604020202020204" pitchFamily="34" charset="0"/>
              </a:rPr>
              <a:t>Milestone_4.md؛ E04: Prompt_Engineering_Log.md</a:t>
            </a:r>
          </a:p>
        </p:txBody>
      </p:sp>
    </p:spTree>
    <p:extLst>
      <p:ext uri="{BB962C8B-B14F-4D97-AF65-F5344CB8AC3E}">
        <p14:creationId xmlns:p14="http://schemas.microsoft.com/office/powerpoint/2010/main" val="3782607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E5E760-DE9A-8A60-FCAE-53EC65FFA077}"/>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BAD1131-F644-DC9A-4E70-1A3FCA18C88E}"/>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DE2E470E-E6E0-E05E-FEED-F85DD0C59C2A}"/>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09 / 27</a:t>
            </a:r>
          </a:p>
        </p:txBody>
      </p:sp>
      <p:sp>
        <p:nvSpPr>
          <p:cNvPr id="5" name="TextBox 4">
            <a:extLst>
              <a:ext uri="{FF2B5EF4-FFF2-40B4-BE49-F238E27FC236}">
                <a16:creationId xmlns:a16="http://schemas.microsoft.com/office/drawing/2014/main" id="{2568748E-4CCB-A901-473E-D769971FF4A9}"/>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قرارات النطاق والتصميم</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18AF8A-D6BF-08E7-96CE-3BCAC36FB924}"/>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تم تقديم حجز منفرد قابل للتحقق بدل توسيع المنتج إلى منصة جدولة. القرارات التالية موثقة في </a:t>
            </a:r>
            <a:r>
              <a:rPr lang="en-US" sz="1900">
                <a:solidFill>
                  <a:srgbClr val="30263B"/>
                </a:solidFill>
                <a:latin typeface="Arial" panose="020B0604020202020204" pitchFamily="34" charset="0"/>
                <a:cs typeface="Arial" panose="020B0604020202020204" pitchFamily="34" charset="0"/>
              </a:rPr>
              <a:t>BRD </a:t>
            </a:r>
            <a:r>
              <a:rPr lang="ar-SA" sz="1900">
                <a:solidFill>
                  <a:srgbClr val="30263B"/>
                </a:solidFill>
                <a:latin typeface="Arial" panose="020B0604020202020204" pitchFamily="34" charset="0"/>
                <a:cs typeface="Arial" panose="020B0604020202020204" pitchFamily="34" charset="0"/>
              </a:rPr>
              <a:t>وتعليمات المشروع.</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D583CE3B-C5C7-F46C-B3F6-F73106C221AB}"/>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0E36A12-1C46-192B-69CB-922678746DB8}"/>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D207375-2B31-C830-2105-3CE196716172}"/>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تقليل النطاق</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2648F94-52B0-472E-3B38-9E102D96D2A9}"/>
              </a:ext>
            </a:extLst>
          </p:cNvPr>
          <p:cNvSpPr txBox="1"/>
          <p:nvPr/>
        </p:nvSpPr>
        <p:spPr>
          <a:xfrm>
            <a:off x="8233833" y="3175000"/>
            <a:ext cx="3259667" cy="1220847"/>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استبعاد الحجوزات المتكررة والتكامل مع تقاويم خارجية والإشعارات والتحليلات. حجز واحد في يوم الرياض نفسه؛ لا حجز ليلي أو متعدد الأيام.</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5820C63B-1CD6-8405-CFC1-3E4307BBF18D}"/>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B26FE41-C4B8-CB52-F483-955339E2E1C2}"/>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D1B243C-E0BF-9CB7-2B18-E593F166CEB3}"/>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فصل التجربتين</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BA295091-BF61-871B-8D94-3B289142ACB6}"/>
              </a:ext>
            </a:extLst>
          </p:cNvPr>
          <p:cNvSpPr txBox="1"/>
          <p:nvPr/>
        </p:nvSpPr>
        <p:spPr>
          <a:xfrm>
            <a:off x="4466167" y="3175000"/>
            <a:ext cx="3259667" cy="1220847"/>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واجهة الموظف للمحادثة والتقويم الشخصي؛ واجهة المسؤول لتقويم الجميع وحالة القاعات. الفصل البصري لا يمثل مصادقة أو صلاحيات مؤسسية آمنة.</a:t>
            </a:r>
            <a:endParaRPr lang="en-US" sz="1900">
              <a:solidFill>
                <a:srgbClr val="30263B"/>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B8D4E2B8-23B2-0927-DBB6-06352F97BA02}"/>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3361A6F-1AE4-01E6-9DE9-F44F1EDA1FB7}"/>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114F6D6-FB19-6FB5-43E6-4D26DC666C3D}"/>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من «حجوزاتي» إلى تقويم</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317FBCBA-A589-3BB6-3148-F675A243357F}"/>
              </a:ext>
            </a:extLst>
          </p:cNvPr>
          <p:cNvSpPr txBox="1"/>
          <p:nvPr/>
        </p:nvSpPr>
        <p:spPr>
          <a:xfrm>
            <a:off x="698500"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اختيار اليوم يعرض التفاصيل والإلغاء المسموح. النقر على خلية التقويم لا ينشئ حجزًا. الصور التالية من التطبيق الحالي؛ لا توجد مقارنة </a:t>
            </a:r>
            <a:r>
              <a:rPr lang="en-US" sz="1900">
                <a:solidFill>
                  <a:srgbClr val="30263B"/>
                </a:solidFill>
                <a:latin typeface="Arial" panose="020B0604020202020204" pitchFamily="34" charset="0"/>
                <a:cs typeface="Arial" panose="020B0604020202020204" pitchFamily="34" charset="0"/>
              </a:rPr>
              <a:t>Before/After </a:t>
            </a:r>
            <a:r>
              <a:rPr lang="ar-SA" sz="1900">
                <a:solidFill>
                  <a:srgbClr val="30263B"/>
                </a:solidFill>
                <a:latin typeface="Arial" panose="020B0604020202020204" pitchFamily="34" charset="0"/>
                <a:cs typeface="Arial" panose="020B0604020202020204" pitchFamily="34" charset="0"/>
              </a:rPr>
              <a:t>مصورة مثبتة هنا.</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4C42FAE0-B1A2-5B27-13BA-7C12025EAF04}"/>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67C03D4-EFB4-3479-35FB-60BAD3B2A0FC}"/>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E02: MeetSpace_BRD.md؛ E01 §§2،8؛ design/MeetSpace_A_Redesign.html</a:t>
            </a:r>
          </a:p>
        </p:txBody>
      </p:sp>
    </p:spTree>
    <p:extLst>
      <p:ext uri="{BB962C8B-B14F-4D97-AF65-F5344CB8AC3E}">
        <p14:creationId xmlns:p14="http://schemas.microsoft.com/office/powerpoint/2010/main" val="2678568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03D16E-386D-8644-F3EE-9A05E69AEAB6}"/>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622536F-CCEB-A8D2-4B31-FCF1BABD520C}"/>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78AC2C94-8994-B940-4F9E-F13CC5804746}"/>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10 / 27</a:t>
            </a:r>
          </a:p>
        </p:txBody>
      </p:sp>
      <p:sp>
        <p:nvSpPr>
          <p:cNvPr id="5" name="TextBox 4">
            <a:extLst>
              <a:ext uri="{FF2B5EF4-FFF2-40B4-BE49-F238E27FC236}">
                <a16:creationId xmlns:a16="http://schemas.microsoft.com/office/drawing/2014/main" id="{D4C672DE-4943-12DB-5903-B1E21BE36EB4}"/>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واجهة الموظف: محادثة وتقويم فعليان</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D1FE3DA-832C-CC17-0BD4-87430CF2A8B3}"/>
              </a:ext>
            </a:extLst>
          </p:cNvPr>
          <p:cNvSpPr txBox="1"/>
          <p:nvPr/>
        </p:nvSpPr>
        <p:spPr>
          <a:xfrm>
            <a:off x="533400" y="1320800"/>
            <a:ext cx="1112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يسارًا: عرض قاعة بانتظار التأكيد. يمينًا: حجز قائم ظاهر بعد إعادة تحميل الصفحة. اللقطات توثيقية حديثة وليست صور الجولات البشرية المقاسة.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63717E9F-E4C4-6095-F2C2-039E4E7590DD}"/>
              </a:ext>
            </a:extLst>
          </p:cNvPr>
          <p:cNvSpPr/>
          <p:nvPr/>
        </p:nvSpPr>
        <p:spPr>
          <a:xfrm>
            <a:off x="533400" y="2209800"/>
            <a:ext cx="5448300" cy="3848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0B1B056-6AC8-0991-7702-E8258DD1B7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3581" y="2286000"/>
            <a:ext cx="3727938" cy="3365500"/>
          </a:xfrm>
          <a:prstGeom prst="rect">
            <a:avLst/>
          </a:prstGeom>
        </p:spPr>
      </p:pic>
      <p:sp>
        <p:nvSpPr>
          <p:cNvPr id="10" name="TextBox 9">
            <a:extLst>
              <a:ext uri="{FF2B5EF4-FFF2-40B4-BE49-F238E27FC236}">
                <a16:creationId xmlns:a16="http://schemas.microsoft.com/office/drawing/2014/main" id="{7F0DAA2F-2ACE-6D9A-9D9F-2555A07F4453}"/>
              </a:ext>
            </a:extLst>
          </p:cNvPr>
          <p:cNvSpPr txBox="1"/>
          <p:nvPr/>
        </p:nvSpPr>
        <p:spPr>
          <a:xfrm>
            <a:off x="609600" y="5689600"/>
            <a:ext cx="5295900" cy="266740"/>
          </a:xfrm>
          <a:prstGeom prst="rect">
            <a:avLst/>
          </a:prstGeom>
          <a:noFill/>
        </p:spPr>
        <p:txBody>
          <a:bodyPr vert="horz" wrap="square" lIns="38100" tIns="25400" rIns="38100" bIns="25400" rtlCol="0">
            <a:spAutoFit/>
          </a:bodyPr>
          <a:lstStyle/>
          <a:p>
            <a:pPr algn="r" rtl="1">
              <a:spcAft>
                <a:spcPts val="400"/>
              </a:spcAft>
            </a:pPr>
            <a:r>
              <a:rPr lang="en-US" sz="1400" b="1">
                <a:solidFill>
                  <a:srgbClr val="5B2453"/>
                </a:solidFill>
                <a:latin typeface="Arial" panose="020B0604020202020204" pitchFamily="34" charset="0"/>
                <a:cs typeface="Arial" panose="020B0604020202020204" pitchFamily="34" charset="0"/>
              </a:rPr>
              <a:t>AI Booking Chat — </a:t>
            </a:r>
            <a:r>
              <a:rPr lang="ar-SA" sz="1400" b="1">
                <a:solidFill>
                  <a:srgbClr val="5B2453"/>
                </a:solidFill>
                <a:latin typeface="Arial" panose="020B0604020202020204" pitchFamily="34" charset="0"/>
                <a:cs typeface="Arial" panose="020B0604020202020204" pitchFamily="34" charset="0"/>
              </a:rPr>
              <a:t>اختيار القاعة لا يحفظ الحجز</a:t>
            </a:r>
            <a:endParaRPr lang="en-US" sz="1400" b="1">
              <a:solidFill>
                <a:srgbClr val="5B2453"/>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DF7E4B55-5DD7-A5F7-E99B-46217D441012}"/>
              </a:ext>
            </a:extLst>
          </p:cNvPr>
          <p:cNvSpPr/>
          <p:nvPr/>
        </p:nvSpPr>
        <p:spPr>
          <a:xfrm>
            <a:off x="6210300" y="2209800"/>
            <a:ext cx="5448300" cy="3848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5244B364-2CF5-D0DA-D772-F668B2173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9200" y="2478456"/>
            <a:ext cx="5270500" cy="2980587"/>
          </a:xfrm>
          <a:prstGeom prst="rect">
            <a:avLst/>
          </a:prstGeom>
        </p:spPr>
      </p:pic>
      <p:sp>
        <p:nvSpPr>
          <p:cNvPr id="14" name="TextBox 13">
            <a:extLst>
              <a:ext uri="{FF2B5EF4-FFF2-40B4-BE49-F238E27FC236}">
                <a16:creationId xmlns:a16="http://schemas.microsoft.com/office/drawing/2014/main" id="{AF97AA2E-8608-99F2-EE97-78DC2BE3E49C}"/>
              </a:ext>
            </a:extLst>
          </p:cNvPr>
          <p:cNvSpPr txBox="1"/>
          <p:nvPr/>
        </p:nvSpPr>
        <p:spPr>
          <a:xfrm>
            <a:off x="6286500" y="5689600"/>
            <a:ext cx="5295900" cy="266740"/>
          </a:xfrm>
          <a:prstGeom prst="rect">
            <a:avLst/>
          </a:prstGeom>
          <a:noFill/>
        </p:spPr>
        <p:txBody>
          <a:bodyPr vert="horz" wrap="square" lIns="38100" tIns="25400" rIns="38100" bIns="25400" rtlCol="0">
            <a:spAutoFit/>
          </a:bodyPr>
          <a:lstStyle/>
          <a:p>
            <a:pPr algn="r" rtl="1">
              <a:spcAft>
                <a:spcPts val="400"/>
              </a:spcAft>
            </a:pPr>
            <a:r>
              <a:rPr lang="en-US" sz="1400" b="1">
                <a:solidFill>
                  <a:srgbClr val="5B2453"/>
                </a:solidFill>
                <a:latin typeface="Arial" panose="020B0604020202020204" pitchFamily="34" charset="0"/>
                <a:cs typeface="Arial" panose="020B0604020202020204" pitchFamily="34" charset="0"/>
              </a:rPr>
              <a:t>Employee Calendar — </a:t>
            </a:r>
            <a:r>
              <a:rPr lang="ar-SA" sz="1400" b="1">
                <a:solidFill>
                  <a:srgbClr val="5B2453"/>
                </a:solidFill>
                <a:latin typeface="Arial" panose="020B0604020202020204" pitchFamily="34" charset="0"/>
                <a:cs typeface="Arial" panose="020B0604020202020204" pitchFamily="34" charset="0"/>
              </a:rPr>
              <a:t>تفاصيل سجل </a:t>
            </a:r>
            <a:r>
              <a:rPr lang="en-US" sz="1400" b="1">
                <a:solidFill>
                  <a:srgbClr val="5B2453"/>
                </a:solidFill>
                <a:latin typeface="Arial" panose="020B0604020202020204" pitchFamily="34" charset="0"/>
                <a:cs typeface="Arial" panose="020B0604020202020204" pitchFamily="34" charset="0"/>
              </a:rPr>
              <a:t>Firestore </a:t>
            </a:r>
            <a:r>
              <a:rPr lang="ar-SA" sz="1400" b="1">
                <a:solidFill>
                  <a:srgbClr val="5B2453"/>
                </a:solidFill>
                <a:latin typeface="Arial" panose="020B0604020202020204" pitchFamily="34" charset="0"/>
                <a:cs typeface="Arial" panose="020B0604020202020204" pitchFamily="34" charset="0"/>
              </a:rPr>
              <a:t>موجود</a:t>
            </a:r>
            <a:endParaRPr lang="en-US" sz="1400" b="1">
              <a:solidFill>
                <a:srgbClr val="5B2453"/>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6039B745-F5A5-2310-6964-79DD498DD4A3}"/>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3FD4519-F605-ABC0-3EFA-1E002B89537B}"/>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E06: screenshot_manifest.json؛ </a:t>
            </a:r>
            <a:r>
              <a:rPr lang="ar-SA" sz="1000">
                <a:solidFill>
                  <a:srgbClr val="6C6570"/>
                </a:solidFill>
                <a:latin typeface="Arial" panose="020B0604020202020204" pitchFamily="34" charset="0"/>
                <a:cs typeface="Arial" panose="020B0604020202020204" pitchFamily="34" charset="0"/>
              </a:rPr>
              <a:t>صور أصلية 22 أكتوبر 2026</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285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EF16C8-E7DC-5BA0-1C4B-A2A9B197E726}"/>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CC571C3-F7D2-53FF-4A81-4000D201654B}"/>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7ABF6DC8-2DB6-0522-1A96-AC8FEEE42A0C}"/>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11 / 27</a:t>
            </a:r>
          </a:p>
        </p:txBody>
      </p:sp>
      <p:sp>
        <p:nvSpPr>
          <p:cNvPr id="5" name="TextBox 4">
            <a:extLst>
              <a:ext uri="{FF2B5EF4-FFF2-40B4-BE49-F238E27FC236}">
                <a16:creationId xmlns:a16="http://schemas.microsoft.com/office/drawing/2014/main" id="{16F7C22B-B69D-5608-9097-EBDBA019F120}"/>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الوضع الداكن وواجهة المسؤول</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C9F4620-8930-E347-452E-A891DFE621E0}"/>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واجهة المسؤول تقرأ الحجوزات وتعرض القاعات وحالة الصيانة. تبديل النمط يحافظ على معلومات الصفحة؛ اختيار الدور تجريبي.</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6CC8050F-7145-DA17-20D1-076FAA869B56}"/>
              </a:ext>
            </a:extLst>
          </p:cNvPr>
          <p:cNvSpPr/>
          <p:nvPr/>
        </p:nvSpPr>
        <p:spPr>
          <a:xfrm>
            <a:off x="533400" y="2209800"/>
            <a:ext cx="5448300" cy="3848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44DE662-63AB-A578-238C-8C4FC5A10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282" y="2286000"/>
            <a:ext cx="4008536" cy="3365500"/>
          </a:xfrm>
          <a:prstGeom prst="rect">
            <a:avLst/>
          </a:prstGeom>
        </p:spPr>
      </p:pic>
      <p:sp>
        <p:nvSpPr>
          <p:cNvPr id="10" name="TextBox 9">
            <a:extLst>
              <a:ext uri="{FF2B5EF4-FFF2-40B4-BE49-F238E27FC236}">
                <a16:creationId xmlns:a16="http://schemas.microsoft.com/office/drawing/2014/main" id="{B906235F-6925-8055-E75E-FDC8BEF335E1}"/>
              </a:ext>
            </a:extLst>
          </p:cNvPr>
          <p:cNvSpPr txBox="1"/>
          <p:nvPr/>
        </p:nvSpPr>
        <p:spPr>
          <a:xfrm>
            <a:off x="609600" y="5689600"/>
            <a:ext cx="5295900" cy="266740"/>
          </a:xfrm>
          <a:prstGeom prst="rect">
            <a:avLst/>
          </a:prstGeom>
          <a:noFill/>
        </p:spPr>
        <p:txBody>
          <a:bodyPr vert="horz" wrap="square" lIns="38100" tIns="25400" rIns="38100" bIns="25400" rtlCol="0">
            <a:spAutoFit/>
          </a:bodyPr>
          <a:lstStyle/>
          <a:p>
            <a:pPr algn="r" rtl="1">
              <a:spcAft>
                <a:spcPts val="400"/>
              </a:spcAft>
            </a:pPr>
            <a:r>
              <a:rPr lang="ar-SA" sz="1400" b="1">
                <a:solidFill>
                  <a:srgbClr val="5B2453"/>
                </a:solidFill>
                <a:latin typeface="Arial" panose="020B0604020202020204" pitchFamily="34" charset="0"/>
                <a:cs typeface="Arial" panose="020B0604020202020204" pitchFamily="34" charset="0"/>
              </a:rPr>
              <a:t>تقويم الموظف — </a:t>
            </a:r>
            <a:r>
              <a:rPr lang="en-US" sz="1400" b="1">
                <a:solidFill>
                  <a:srgbClr val="5B2453"/>
                </a:solidFill>
                <a:latin typeface="Arial" panose="020B0604020202020204" pitchFamily="34" charset="0"/>
                <a:cs typeface="Arial" panose="020B0604020202020204" pitchFamily="34" charset="0"/>
              </a:rPr>
              <a:t>Dark Mode</a:t>
            </a:r>
          </a:p>
        </p:txBody>
      </p:sp>
      <p:sp>
        <p:nvSpPr>
          <p:cNvPr id="11" name="Rectangle: Rounded Corners 10">
            <a:extLst>
              <a:ext uri="{FF2B5EF4-FFF2-40B4-BE49-F238E27FC236}">
                <a16:creationId xmlns:a16="http://schemas.microsoft.com/office/drawing/2014/main" id="{3DC7AAC3-C17B-DECF-6104-A2AC1BE06AED}"/>
              </a:ext>
            </a:extLst>
          </p:cNvPr>
          <p:cNvSpPr/>
          <p:nvPr/>
        </p:nvSpPr>
        <p:spPr>
          <a:xfrm>
            <a:off x="6210300" y="2209800"/>
            <a:ext cx="5448300" cy="3848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8588ADD-6B86-C639-266B-61B80CB90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8825" y="2286000"/>
            <a:ext cx="3651250" cy="3365500"/>
          </a:xfrm>
          <a:prstGeom prst="rect">
            <a:avLst/>
          </a:prstGeom>
        </p:spPr>
      </p:pic>
      <p:sp>
        <p:nvSpPr>
          <p:cNvPr id="14" name="TextBox 13">
            <a:extLst>
              <a:ext uri="{FF2B5EF4-FFF2-40B4-BE49-F238E27FC236}">
                <a16:creationId xmlns:a16="http://schemas.microsoft.com/office/drawing/2014/main" id="{6D27DF4D-1F26-4B2D-EFFA-47C3BC00C65F}"/>
              </a:ext>
            </a:extLst>
          </p:cNvPr>
          <p:cNvSpPr txBox="1"/>
          <p:nvPr/>
        </p:nvSpPr>
        <p:spPr>
          <a:xfrm>
            <a:off x="6286500" y="5689600"/>
            <a:ext cx="5295900" cy="266740"/>
          </a:xfrm>
          <a:prstGeom prst="rect">
            <a:avLst/>
          </a:prstGeom>
          <a:noFill/>
        </p:spPr>
        <p:txBody>
          <a:bodyPr vert="horz" wrap="square" lIns="38100" tIns="25400" rIns="38100" bIns="25400" rtlCol="0">
            <a:spAutoFit/>
          </a:bodyPr>
          <a:lstStyle/>
          <a:p>
            <a:pPr algn="r" rtl="1">
              <a:spcAft>
                <a:spcPts val="400"/>
              </a:spcAft>
            </a:pPr>
            <a:r>
              <a:rPr lang="ar-SA" sz="1400" b="1">
                <a:solidFill>
                  <a:srgbClr val="5B2453"/>
                </a:solidFill>
                <a:latin typeface="Arial" panose="020B0604020202020204" pitchFamily="34" charset="0"/>
                <a:cs typeface="Arial" panose="020B0604020202020204" pitchFamily="34" charset="0"/>
              </a:rPr>
              <a:t>تقويم المسؤول — حجوزات جميع الموظفين</a:t>
            </a:r>
            <a:endParaRPr lang="en-US" sz="1400" b="1">
              <a:solidFill>
                <a:srgbClr val="5B2453"/>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096372BC-0A9C-BE5E-E5FD-F4C6544FD0C9}"/>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23DB8DF-79CB-0E52-132E-10D7D11F7FAF}"/>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E06: </a:t>
            </a:r>
            <a:r>
              <a:rPr lang="ar-SA" sz="1000">
                <a:solidFill>
                  <a:srgbClr val="6C6570"/>
                </a:solidFill>
                <a:latin typeface="Arial" panose="020B0604020202020204" pitchFamily="34" charset="0"/>
                <a:cs typeface="Arial" panose="020B0604020202020204" pitchFamily="34" charset="0"/>
              </a:rPr>
              <a:t>لقطات أصلية؛ </a:t>
            </a:r>
            <a:r>
              <a:rPr lang="en-US" sz="1000">
                <a:solidFill>
                  <a:srgbClr val="6C6570"/>
                </a:solidFill>
                <a:latin typeface="Arial" panose="020B0604020202020204" pitchFamily="34" charset="0"/>
                <a:cs typeface="Arial" panose="020B0604020202020204" pitchFamily="34" charset="0"/>
              </a:rPr>
              <a:t>E05: </a:t>
            </a:r>
            <a:r>
              <a:rPr lang="ar-SA" sz="1000">
                <a:solidFill>
                  <a:srgbClr val="6C6570"/>
                </a:solidFill>
                <a:latin typeface="Arial" panose="020B0604020202020204" pitchFamily="34" charset="0"/>
                <a:cs typeface="Arial" panose="020B0604020202020204" pitchFamily="34" charset="0"/>
              </a:rPr>
              <a:t>سجلات المتصفح للغة/الثيم/التنقل</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8354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A553BE-FEDD-40DE-8C22-5CF272383C60}"/>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3F4FF2-69D2-11B7-65BC-3B9DC8AFFB33}"/>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238EECE8-8B04-E15D-D5E1-0284FE180872}"/>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12 / 27</a:t>
            </a:r>
          </a:p>
        </p:txBody>
      </p:sp>
      <p:sp>
        <p:nvSpPr>
          <p:cNvPr id="5" name="TextBox 4">
            <a:extLst>
              <a:ext uri="{FF2B5EF4-FFF2-40B4-BE49-F238E27FC236}">
                <a16:creationId xmlns:a16="http://schemas.microsoft.com/office/drawing/2014/main" id="{E1898CF9-14C9-3A18-9C12-B00D97699CDA}"/>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كيف يعمل </a:t>
            </a:r>
            <a:r>
              <a:rPr lang="en-US" sz="3000" b="1">
                <a:solidFill>
                  <a:srgbClr val="5B2453"/>
                </a:solidFill>
                <a:latin typeface="Arial" panose="020B0604020202020204" pitchFamily="34" charset="0"/>
                <a:cs typeface="Arial" panose="020B0604020202020204" pitchFamily="34" charset="0"/>
              </a:rPr>
              <a:t>AI Agent </a:t>
            </a:r>
            <a:r>
              <a:rPr lang="ar-SA" sz="3000" b="1">
                <a:solidFill>
                  <a:srgbClr val="5B2453"/>
                </a:solidFill>
                <a:latin typeface="Arial" panose="020B0604020202020204" pitchFamily="34" charset="0"/>
                <a:cs typeface="Arial" panose="020B0604020202020204" pitchFamily="34" charset="0"/>
              </a:rPr>
              <a:t>وما دور </a:t>
            </a:r>
            <a:r>
              <a:rPr lang="en-US" sz="3000" b="1">
                <a:solidFill>
                  <a:srgbClr val="5B2453"/>
                </a:solidFill>
                <a:latin typeface="Arial" panose="020B0604020202020204" pitchFamily="34" charset="0"/>
                <a:cs typeface="Arial" panose="020B0604020202020204" pitchFamily="34" charset="0"/>
              </a:rPr>
              <a:t>Firestore؟</a:t>
            </a:r>
          </a:p>
        </p:txBody>
      </p:sp>
      <p:sp>
        <p:nvSpPr>
          <p:cNvPr id="6" name="TextBox 5">
            <a:extLst>
              <a:ext uri="{FF2B5EF4-FFF2-40B4-BE49-F238E27FC236}">
                <a16:creationId xmlns:a16="http://schemas.microsoft.com/office/drawing/2014/main" id="{090A8934-79BE-7538-EF7E-B2F3712906D3}"/>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النموذج يستخرج النية والحقول؛ </a:t>
            </a:r>
            <a:r>
              <a:rPr lang="en-US" sz="1900">
                <a:solidFill>
                  <a:srgbClr val="30263B"/>
                </a:solidFill>
                <a:latin typeface="Arial" panose="020B0604020202020204" pitchFamily="34" charset="0"/>
                <a:cs typeface="Arial" panose="020B0604020202020204" pitchFamily="34" charset="0"/>
              </a:rPr>
              <a:t>Python </a:t>
            </a:r>
            <a:r>
              <a:rPr lang="ar-SA" sz="1900">
                <a:solidFill>
                  <a:srgbClr val="30263B"/>
                </a:solidFill>
                <a:latin typeface="Arial" panose="020B0604020202020204" pitchFamily="34" charset="0"/>
                <a:cs typeface="Arial" panose="020B0604020202020204" pitchFamily="34" charset="0"/>
              </a:rPr>
              <a:t>يتحقق وينفذ؛ </a:t>
            </a:r>
            <a:r>
              <a:rPr lang="en-US" sz="1900">
                <a:solidFill>
                  <a:srgbClr val="30263B"/>
                </a:solidFill>
                <a:latin typeface="Arial" panose="020B0604020202020204" pitchFamily="34" charset="0"/>
                <a:cs typeface="Arial" panose="020B0604020202020204" pitchFamily="34" charset="0"/>
              </a:rPr>
              <a:t>Firestore </a:t>
            </a:r>
            <a:r>
              <a:rPr lang="ar-SA" sz="1900">
                <a:solidFill>
                  <a:srgbClr val="30263B"/>
                </a:solidFill>
                <a:latin typeface="Arial" panose="020B0604020202020204" pitchFamily="34" charset="0"/>
                <a:cs typeface="Arial" panose="020B0604020202020204" pitchFamily="34" charset="0"/>
              </a:rPr>
              <a:t>هو مصدر الحقيقة الدائم للحجوزات وحالة القاعات.</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47EDE4D6-46C0-77F7-861C-627F12F6DE3F}"/>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E790712-D9FB-18E6-008E-97225AB979D4}"/>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1F98451-8DEE-AED3-50BF-A7DC629B1874}"/>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1 | تفسير محدود</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DD47CB6-8853-DF5A-5B8F-286F5FE44553}"/>
              </a:ext>
            </a:extLst>
          </p:cNvPr>
          <p:cNvSpPr txBox="1"/>
          <p:nvPr/>
        </p:nvSpPr>
        <p:spPr>
          <a:xfrm>
            <a:off x="8233833" y="3175000"/>
            <a:ext cx="3259667" cy="1513235"/>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Ollama Chat API </a:t>
            </a:r>
            <a:r>
              <a:rPr lang="ar-SA" sz="1900">
                <a:solidFill>
                  <a:srgbClr val="30263B"/>
                </a:solidFill>
                <a:latin typeface="Arial" panose="020B0604020202020204" pitchFamily="34" charset="0"/>
                <a:cs typeface="Arial" panose="020B0604020202020204" pitchFamily="34" charset="0"/>
              </a:rPr>
              <a:t>مع </a:t>
            </a:r>
            <a:r>
              <a:rPr lang="en-US" sz="1900">
                <a:solidFill>
                  <a:srgbClr val="30263B"/>
                </a:solidFill>
                <a:latin typeface="Arial" panose="020B0604020202020204" pitchFamily="34" charset="0"/>
                <a:cs typeface="Arial" panose="020B0604020202020204" pitchFamily="34" charset="0"/>
              </a:rPr>
              <a:t>JSON </a:t>
            </a:r>
            <a:r>
              <a:rPr lang="ar-SA" sz="1900">
                <a:solidFill>
                  <a:srgbClr val="30263B"/>
                </a:solidFill>
                <a:latin typeface="Arial" panose="020B0604020202020204" pitchFamily="34" charset="0"/>
                <a:cs typeface="Arial" panose="020B0604020202020204" pitchFamily="34" charset="0"/>
              </a:rPr>
              <a:t>منظم من </a:t>
            </a:r>
            <a:r>
              <a:rPr lang="en-US" sz="1900">
                <a:solidFill>
                  <a:srgbClr val="30263B"/>
                </a:solidFill>
                <a:latin typeface="Arial" panose="020B0604020202020204" pitchFamily="34" charset="0"/>
                <a:cs typeface="Arial" panose="020B0604020202020204" pitchFamily="34" charset="0"/>
              </a:rPr>
              <a:t>Qwen2 7B. Python </a:t>
            </a:r>
            <a:r>
              <a:rPr lang="ar-SA" sz="1900">
                <a:solidFill>
                  <a:srgbClr val="30263B"/>
                </a:solidFill>
                <a:latin typeface="Arial" panose="020B0604020202020204" pitchFamily="34" charset="0"/>
                <a:cs typeface="Arial" panose="020B0604020202020204" pitchFamily="34" charset="0"/>
              </a:rPr>
              <a:t>يرفض الغموض والقيم غير الصالحة. الحالة المؤقتة والحقول والعرض المعلق مرتبطة بالموظف والجلسة.</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913B80EA-26D0-B578-918C-2BE4750A7B9A}"/>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477222-6BD5-4742-82EA-D57D06F74F41}"/>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809DAFD-91D2-46B2-6523-FE3F20F22C31}"/>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2 | تحقق وحفظ ذري</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D91D498-367A-2407-37FD-AE10B0ECE4D4}"/>
              </a:ext>
            </a:extLst>
          </p:cNvPr>
          <p:cNvSpPr txBox="1"/>
          <p:nvPr/>
        </p:nvSpPr>
        <p:spPr>
          <a:xfrm>
            <a:off x="4466167"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فحص المستقبل ويوم الرياض والسعة والصيانة والتعارض. عند التأكيد تُعاد القراءة داخل معاملة </a:t>
            </a:r>
            <a:r>
              <a:rPr lang="en-US" sz="1900">
                <a:solidFill>
                  <a:srgbClr val="30263B"/>
                </a:solidFill>
                <a:latin typeface="Arial" panose="020B0604020202020204" pitchFamily="34" charset="0"/>
                <a:cs typeface="Arial" panose="020B0604020202020204" pitchFamily="34" charset="0"/>
              </a:rPr>
              <a:t>room_days؛ </a:t>
            </a:r>
            <a:r>
              <a:rPr lang="ar-SA" sz="1900">
                <a:solidFill>
                  <a:srgbClr val="30263B"/>
                </a:solidFill>
                <a:latin typeface="Arial" panose="020B0604020202020204" pitchFamily="34" charset="0"/>
                <a:cs typeface="Arial" panose="020B0604020202020204" pitchFamily="34" charset="0"/>
              </a:rPr>
              <a:t>مفتاح العرض يمنع تكرار الحجز عند إعادة الإرسال.</a:t>
            </a:r>
            <a:endParaRPr lang="en-US" sz="1900">
              <a:solidFill>
                <a:srgbClr val="30263B"/>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B0775C6D-7FF8-9C7B-0D9F-C6A59838B340}"/>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5073989-B275-C4C2-C09C-03EBC1861FAE}"/>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1E81B77-8D6D-7340-BE94-99B557290C30}"/>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3 | تسريع يحافظ على الضوابط</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03B3ACF-9B7C-C474-40DB-419AA2A30D6E}"/>
              </a:ext>
            </a:extLst>
          </p:cNvPr>
          <p:cNvSpPr txBox="1"/>
          <p:nvPr/>
        </p:nvSpPr>
        <p:spPr>
          <a:xfrm>
            <a:off x="698500" y="3175000"/>
            <a:ext cx="3259667" cy="1805623"/>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النص العادي يستدعي النموذج للفهم؛ اختيار بطاقة القاعة والتأكيد بالأزرار ينفذان مسارًا منظمًا بلا </a:t>
            </a:r>
            <a:r>
              <a:rPr lang="en-US" sz="1900">
                <a:solidFill>
                  <a:srgbClr val="30263B"/>
                </a:solidFill>
                <a:latin typeface="Arial" panose="020B0604020202020204" pitchFamily="34" charset="0"/>
                <a:cs typeface="Arial" panose="020B0604020202020204" pitchFamily="34" charset="0"/>
              </a:rPr>
              <a:t>Qwen </a:t>
            </a:r>
            <a:r>
              <a:rPr lang="ar-SA" sz="1900">
                <a:solidFill>
                  <a:srgbClr val="30263B"/>
                </a:solidFill>
                <a:latin typeface="Arial" panose="020B0604020202020204" pitchFamily="34" charset="0"/>
                <a:cs typeface="Arial" panose="020B0604020202020204" pitchFamily="34" charset="0"/>
              </a:rPr>
              <a:t>مع الضوابط نفسها. النجاح من الخادم بعد الحفظ؛ الردود المؤكدة لا تختلقها صياغة النموذج.</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0F92B24-D97F-E643-5F5C-71760C0D1440}"/>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1B10F4D-5478-7C92-1BAB-EBBAF0602BA0}"/>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backend/agent.py؛ booking_service.py؛ firestore_store.py؛ E04؛ E07</a:t>
            </a:r>
          </a:p>
        </p:txBody>
      </p:sp>
    </p:spTree>
    <p:extLst>
      <p:ext uri="{BB962C8B-B14F-4D97-AF65-F5344CB8AC3E}">
        <p14:creationId xmlns:p14="http://schemas.microsoft.com/office/powerpoint/2010/main" val="3635346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CBD685-47F9-1777-4510-91B3CA50EEAD}"/>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9942341-1CAE-CC3F-6E36-C92A031A7325}"/>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7E6B5914-490D-9737-131F-087718E68E49}"/>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13 / 27</a:t>
            </a:r>
          </a:p>
        </p:txBody>
      </p:sp>
      <p:sp>
        <p:nvSpPr>
          <p:cNvPr id="5" name="TextBox 4">
            <a:extLst>
              <a:ext uri="{FF2B5EF4-FFF2-40B4-BE49-F238E27FC236}">
                <a16:creationId xmlns:a16="http://schemas.microsoft.com/office/drawing/2014/main" id="{1577CEEC-8ADB-6C47-01A1-589FBEB4B3D5}"/>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مسؤولية البيانات وحدود الأمان</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F3ABF85-855F-62B5-B9C7-59137AC18B3B}"/>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عشر قاعات وثلاث هويات تجريبية. البيانات وهمية؛ </a:t>
            </a:r>
            <a:r>
              <a:rPr lang="en-US" sz="1900">
                <a:solidFill>
                  <a:srgbClr val="30263B"/>
                </a:solidFill>
                <a:latin typeface="Arial" panose="020B0604020202020204" pitchFamily="34" charset="0"/>
                <a:cs typeface="Arial" panose="020B0604020202020204" pitchFamily="34" charset="0"/>
              </a:rPr>
              <a:t>Firestore </a:t>
            </a:r>
            <a:r>
              <a:rPr lang="ar-SA" sz="1900">
                <a:solidFill>
                  <a:srgbClr val="30263B"/>
                </a:solidFill>
                <a:latin typeface="Arial" panose="020B0604020202020204" pitchFamily="34" charset="0"/>
                <a:cs typeface="Arial" panose="020B0604020202020204" pitchFamily="34" charset="0"/>
              </a:rPr>
              <a:t>خدمة سحابية تتطلب الإنترنت، و</a:t>
            </a:r>
            <a:r>
              <a:rPr lang="en-US" sz="1900">
                <a:solidFill>
                  <a:srgbClr val="30263B"/>
                </a:solidFill>
                <a:latin typeface="Arial" panose="020B0604020202020204" pitchFamily="34" charset="0"/>
                <a:cs typeface="Arial" panose="020B0604020202020204" pitchFamily="34" charset="0"/>
              </a:rPr>
              <a:t>Ollama </a:t>
            </a:r>
            <a:r>
              <a:rPr lang="ar-SA" sz="1900">
                <a:solidFill>
                  <a:srgbClr val="30263B"/>
                </a:solidFill>
                <a:latin typeface="Arial" panose="020B0604020202020204" pitchFamily="34" charset="0"/>
                <a:cs typeface="Arial" panose="020B0604020202020204" pitchFamily="34" charset="0"/>
              </a:rPr>
              <a:t>يستقبل استدلال النموذج محليًا.</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E99E4E0B-3442-3BCB-FD20-994D863C723B}"/>
              </a:ext>
            </a:extLst>
          </p:cNvPr>
          <p:cNvSpPr/>
          <p:nvPr/>
        </p:nvSpPr>
        <p:spPr>
          <a:xfrm>
            <a:off x="60960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A92BF52-99F2-883F-A477-91EDB70A2BB5}"/>
              </a:ext>
            </a:extLst>
          </p:cNvPr>
          <p:cNvSpPr txBox="1"/>
          <p:nvPr/>
        </p:nvSpPr>
        <p:spPr>
          <a:xfrm>
            <a:off x="61722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الخطر / الحد</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13208EB0-89A0-9FC1-01BB-9E2776555611}"/>
              </a:ext>
            </a:extLst>
          </p:cNvPr>
          <p:cNvSpPr/>
          <p:nvPr/>
        </p:nvSpPr>
        <p:spPr>
          <a:xfrm>
            <a:off x="6096000" y="2730500"/>
            <a:ext cx="55372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749C5BD-CC7B-568F-155F-C3ACD2A7515D}"/>
              </a:ext>
            </a:extLst>
          </p:cNvPr>
          <p:cNvSpPr txBox="1"/>
          <p:nvPr/>
        </p:nvSpPr>
        <p:spPr>
          <a:xfrm>
            <a:off x="6184900" y="27686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المفاتيح والبيانات الشخصية</a:t>
            </a:r>
            <a:endParaRPr lang="en-US" sz="1900"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36F829D0-1249-4DC0-D6E5-CA317FFC719A}"/>
              </a:ext>
            </a:extLst>
          </p:cNvPr>
          <p:cNvSpPr/>
          <p:nvPr/>
        </p:nvSpPr>
        <p:spPr>
          <a:xfrm>
            <a:off x="6096000" y="3581400"/>
            <a:ext cx="55372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0D441D0-7B0C-6048-A624-4B1CA5C49C10}"/>
              </a:ext>
            </a:extLst>
          </p:cNvPr>
          <p:cNvSpPr txBox="1"/>
          <p:nvPr/>
        </p:nvSpPr>
        <p:spPr>
          <a:xfrm>
            <a:off x="6184900" y="36195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الدخول التجريبي</a:t>
            </a:r>
            <a:endParaRPr lang="en-US" sz="1900"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6C45A03-6989-9F5D-109E-8C36834D9CD8}"/>
              </a:ext>
            </a:extLst>
          </p:cNvPr>
          <p:cNvSpPr/>
          <p:nvPr/>
        </p:nvSpPr>
        <p:spPr>
          <a:xfrm>
            <a:off x="6096000" y="4432300"/>
            <a:ext cx="55372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A6EE2B0-264D-3575-391D-93F89B5F954C}"/>
              </a:ext>
            </a:extLst>
          </p:cNvPr>
          <p:cNvSpPr txBox="1"/>
          <p:nvPr/>
        </p:nvSpPr>
        <p:spPr>
          <a:xfrm>
            <a:off x="6184900" y="44704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سياسة الجهة</a:t>
            </a:r>
            <a:endParaRPr lang="en-US" sz="1900"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77214A9A-7171-3884-6CFF-438194BDCDBC}"/>
              </a:ext>
            </a:extLst>
          </p:cNvPr>
          <p:cNvSpPr/>
          <p:nvPr/>
        </p:nvSpPr>
        <p:spPr>
          <a:xfrm>
            <a:off x="6096000" y="5283200"/>
            <a:ext cx="55372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65BAF5A-196E-A963-734A-9907127F7E44}"/>
              </a:ext>
            </a:extLst>
          </p:cNvPr>
          <p:cNvSpPr txBox="1"/>
          <p:nvPr/>
        </p:nvSpPr>
        <p:spPr>
          <a:xfrm>
            <a:off x="6184900" y="53213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الحد الأدنى من المادة</a:t>
            </a:r>
            <a:endParaRPr lang="en-US" sz="1900" b="1">
              <a:solidFill>
                <a:srgbClr val="30263B"/>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28E0F58-88CC-06FF-BD76-8AE6B58586BB}"/>
              </a:ext>
            </a:extLst>
          </p:cNvPr>
          <p:cNvSpPr/>
          <p:nvPr/>
        </p:nvSpPr>
        <p:spPr>
          <a:xfrm>
            <a:off x="5334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9917E3E-2CA0-61ED-D64E-E82825F7DE5B}"/>
              </a:ext>
            </a:extLst>
          </p:cNvPr>
          <p:cNvSpPr txBox="1"/>
          <p:nvPr/>
        </p:nvSpPr>
        <p:spPr>
          <a:xfrm>
            <a:off x="6096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الضابط المثبت أو المطلوب</a:t>
            </a:r>
            <a:endParaRPr lang="en-US" sz="1600" b="1">
              <a:solidFill>
                <a:srgbClr val="FFFFFF"/>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9284CBF4-3F25-C873-15D7-D4460B3F98E7}"/>
              </a:ext>
            </a:extLst>
          </p:cNvPr>
          <p:cNvSpPr/>
          <p:nvPr/>
        </p:nvSpPr>
        <p:spPr>
          <a:xfrm>
            <a:off x="533400" y="2730500"/>
            <a:ext cx="55372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965BF19-A7AE-5C5F-2A6F-597A81404FF8}"/>
              </a:ext>
            </a:extLst>
          </p:cNvPr>
          <p:cNvSpPr txBox="1"/>
          <p:nvPr/>
        </p:nvSpPr>
        <p:spPr>
          <a:xfrm>
            <a:off x="622300" y="2768600"/>
            <a:ext cx="5359400" cy="636072"/>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JSON </a:t>
            </a:r>
            <a:r>
              <a:rPr lang="ar-SA" sz="1900">
                <a:solidFill>
                  <a:srgbClr val="30263B"/>
                </a:solidFill>
                <a:latin typeface="Arial" panose="020B0604020202020204" pitchFamily="34" charset="0"/>
                <a:cs typeface="Arial" panose="020B0604020202020204" pitchFamily="34" charset="0"/>
              </a:rPr>
              <a:t>و.</a:t>
            </a:r>
            <a:r>
              <a:rPr lang="en-US" sz="1900">
                <a:solidFill>
                  <a:srgbClr val="30263B"/>
                </a:solidFill>
                <a:latin typeface="Arial" panose="020B0604020202020204" pitchFamily="34" charset="0"/>
                <a:cs typeface="Arial" panose="020B0604020202020204" pitchFamily="34" charset="0"/>
              </a:rPr>
              <a:t>env </a:t>
            </a:r>
            <a:r>
              <a:rPr lang="ar-SA" sz="1900">
                <a:solidFill>
                  <a:srgbClr val="30263B"/>
                </a:solidFill>
                <a:latin typeface="Arial" panose="020B0604020202020204" pitchFamily="34" charset="0"/>
                <a:cs typeface="Arial" panose="020B0604020202020204" pitchFamily="34" charset="0"/>
              </a:rPr>
              <a:t>خارج </a:t>
            </a:r>
            <a:r>
              <a:rPr lang="en-US" sz="1900">
                <a:solidFill>
                  <a:srgbClr val="30263B"/>
                </a:solidFill>
                <a:latin typeface="Arial" panose="020B0604020202020204" pitchFamily="34" charset="0"/>
                <a:cs typeface="Arial" panose="020B0604020202020204" pitchFamily="34" charset="0"/>
              </a:rPr>
              <a:t>Git؛ </a:t>
            </a:r>
            <a:r>
              <a:rPr lang="ar-SA" sz="1900">
                <a:solidFill>
                  <a:srgbClr val="30263B"/>
                </a:solidFill>
                <a:latin typeface="Arial" panose="020B0604020202020204" pitchFamily="34" charset="0"/>
                <a:cs typeface="Arial" panose="020B0604020202020204" pitchFamily="34" charset="0"/>
              </a:rPr>
              <a:t>اعتماد الخادم فقط. لا تُرفع أسرار أو أسماء موظفين حقيقيين أو تفاصيل اجتماعات حساسة.</a:t>
            </a:r>
            <a:endParaRPr lang="en-US" sz="1900">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0A741D6F-2BBA-670D-A851-98AACDC952F8}"/>
              </a:ext>
            </a:extLst>
          </p:cNvPr>
          <p:cNvSpPr/>
          <p:nvPr/>
        </p:nvSpPr>
        <p:spPr>
          <a:xfrm>
            <a:off x="533400" y="3581400"/>
            <a:ext cx="55372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9CD7B62-7162-48D3-8FDC-165CE3523BB3}"/>
              </a:ext>
            </a:extLst>
          </p:cNvPr>
          <p:cNvSpPr txBox="1"/>
          <p:nvPr/>
        </p:nvSpPr>
        <p:spPr>
          <a:xfrm>
            <a:off x="622300" y="3619500"/>
            <a:ext cx="53594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تقويم الموظف يرشح سجلاته والإلغاء يفحص الملكية، لكن </a:t>
            </a:r>
            <a:r>
              <a:rPr lang="en-US">
                <a:solidFill>
                  <a:srgbClr val="30263B"/>
                </a:solidFill>
                <a:latin typeface="Arial" panose="020B0604020202020204" pitchFamily="34" charset="0"/>
                <a:cs typeface="Arial" panose="020B0604020202020204" pitchFamily="34" charset="0"/>
              </a:rPr>
              <a:t>API </a:t>
            </a:r>
            <a:r>
              <a:rPr lang="ar-SA">
                <a:solidFill>
                  <a:srgbClr val="30263B"/>
                </a:solidFill>
                <a:latin typeface="Arial" panose="020B0604020202020204" pitchFamily="34" charset="0"/>
                <a:cs typeface="Arial" panose="020B0604020202020204" pitchFamily="34" charset="0"/>
              </a:rPr>
              <a:t>المسؤول استجاب 200 بلا مصادقة في الفحص الحالي. ليس آمنًا للنشر.</a:t>
            </a:r>
            <a:endParaRPr lang="en-US">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BA34B930-A0DD-426C-4114-1D32EE3E4FF7}"/>
              </a:ext>
            </a:extLst>
          </p:cNvPr>
          <p:cNvSpPr/>
          <p:nvPr/>
        </p:nvSpPr>
        <p:spPr>
          <a:xfrm>
            <a:off x="533400" y="4432300"/>
            <a:ext cx="5537200" cy="825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C0A9269-E1D4-C1F5-65DD-DBAFD1E93B6F}"/>
              </a:ext>
            </a:extLst>
          </p:cNvPr>
          <p:cNvSpPr txBox="1"/>
          <p:nvPr/>
        </p:nvSpPr>
        <p:spPr>
          <a:xfrm>
            <a:off x="622300" y="4470400"/>
            <a:ext cx="53594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موافقة المالكة على التقنية لا تثبت تصريح جهة لرفع بياناتها. موافقة وتصنيف مؤسسيان غير متاحين؛ الاستخدام التعليمي ببيانات وهمية فقط.</a:t>
            </a:r>
            <a:endParaRPr lang="en-US">
              <a:solidFill>
                <a:srgbClr val="30263B"/>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7D2996F6-B251-C722-121C-13865AC746B2}"/>
              </a:ext>
            </a:extLst>
          </p:cNvPr>
          <p:cNvSpPr/>
          <p:nvPr/>
        </p:nvSpPr>
        <p:spPr>
          <a:xfrm>
            <a:off x="533400" y="5283200"/>
            <a:ext cx="5537200" cy="82550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78B9330-9CDF-C014-4599-6CA7531F90BB}"/>
              </a:ext>
            </a:extLst>
          </p:cNvPr>
          <p:cNvSpPr txBox="1"/>
          <p:nvPr/>
        </p:nvSpPr>
        <p:spPr>
          <a:xfrm>
            <a:off x="622300" y="5321300"/>
            <a:ext cx="53594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هوية تجريبية ونوع القاعة والتاريخ والموعد والحضور؛ لا حاجة لمحتوى الاجتماع. لا ادعاء موافقة مؤسسية على المنصة.</a:t>
            </a:r>
            <a:endParaRPr lang="en-US" sz="1900">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96139EE3-3422-D1EC-41B3-5F0583DF73CA}"/>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F029DB2-294E-AD8E-D2F5-66ED0D594A93}"/>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E01 §9؛ E07: admin_without_auth_http_status=200؛ .gitignore (</a:t>
            </a:r>
            <a:r>
              <a:rPr lang="ar-SA" sz="1000">
                <a:solidFill>
                  <a:srgbClr val="6C6570"/>
                </a:solidFill>
                <a:latin typeface="Arial" panose="020B0604020202020204" pitchFamily="34" charset="0"/>
                <a:cs typeface="Arial" panose="020B0604020202020204" pitchFamily="34" charset="0"/>
              </a:rPr>
              <a:t>دون عرض أسرار)</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7674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D8475-13D9-A486-F5DC-C021FE516CD4}"/>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ED4EF3-88E2-EC52-31BD-20656C591D6C}"/>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8856D2E8-D3F1-4130-1C4D-FB066D874FE1}"/>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14 / 27</a:t>
            </a:r>
          </a:p>
        </p:txBody>
      </p:sp>
      <p:sp>
        <p:nvSpPr>
          <p:cNvPr id="5" name="TextBox 4">
            <a:extLst>
              <a:ext uri="{FF2B5EF4-FFF2-40B4-BE49-F238E27FC236}">
                <a16:creationId xmlns:a16="http://schemas.microsoft.com/office/drawing/2014/main" id="{6C94F537-1E7B-EB56-34E3-CC8AE7B70A07}"/>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اختبارات القبول: ثلاث حالات بأدلة منفصلة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AD49B87-63D3-287B-2A09-816845E49B40}"/>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الجدول يصف التحقق الوظيفي التاريخي؛ قياسات الإنتاجية البشرية مجموعة مستقلة. نجاح الاختبار لا يثبت عدّ الأخطاء البشرية.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1E99C32C-F1A6-9BB9-0E55-601C28CAA7A5}"/>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0C7E58E-72E2-8750-0E8F-FA0E4C42106F}"/>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الحالة / المدخل</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1892CCED-DDA4-F713-0E05-DCCCC0A99699}"/>
              </a:ext>
            </a:extLst>
          </p:cNvPr>
          <p:cNvSpPr/>
          <p:nvPr/>
        </p:nvSpPr>
        <p:spPr>
          <a:xfrm>
            <a:off x="79502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F200AF3-4C28-A421-70CF-7D4D49A6375F}"/>
              </a:ext>
            </a:extLst>
          </p:cNvPr>
          <p:cNvSpPr txBox="1"/>
          <p:nvPr/>
        </p:nvSpPr>
        <p:spPr>
          <a:xfrm>
            <a:off x="8039100" y="2768600"/>
            <a:ext cx="3505200" cy="605294"/>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Typical: </a:t>
            </a:r>
            <a:r>
              <a:rPr lang="ar-SA" b="1">
                <a:solidFill>
                  <a:srgbClr val="30263B"/>
                </a:solidFill>
                <a:latin typeface="Arial" panose="020B0604020202020204" pitchFamily="34" charset="0"/>
                <a:cs typeface="Arial" panose="020B0604020202020204" pitchFamily="34" charset="0"/>
              </a:rPr>
              <a:t>نوع وتاريخ وموعد وحضور مكتملة</a:t>
            </a:r>
            <a:endParaRPr lang="en-US"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B71F2F93-8BDD-B36D-C282-40152188B59B}"/>
              </a:ext>
            </a:extLst>
          </p:cNvPr>
          <p:cNvSpPr/>
          <p:nvPr/>
        </p:nvSpPr>
        <p:spPr>
          <a:xfrm>
            <a:off x="79502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C6CA8C1-3E83-826B-12E1-5D8CB3759302}"/>
              </a:ext>
            </a:extLst>
          </p:cNvPr>
          <p:cNvSpPr txBox="1"/>
          <p:nvPr/>
        </p:nvSpPr>
        <p:spPr>
          <a:xfrm>
            <a:off x="8039100" y="3522133"/>
            <a:ext cx="3505200" cy="605294"/>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Messy: </a:t>
            </a:r>
            <a:r>
              <a:rPr lang="ar-SA" b="1">
                <a:solidFill>
                  <a:srgbClr val="30263B"/>
                </a:solidFill>
                <a:latin typeface="Arial" panose="020B0604020202020204" pitchFamily="34" charset="0"/>
                <a:cs typeface="Arial" panose="020B0604020202020204" pitchFamily="34" charset="0"/>
              </a:rPr>
              <a:t>نقص الحضور و/أو النهاية في فحص الوكيل</a:t>
            </a:r>
            <a:endParaRPr lang="en-US"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AA21E24A-0AB3-E7A4-0CA1-0429A4C0D227}"/>
              </a:ext>
            </a:extLst>
          </p:cNvPr>
          <p:cNvSpPr/>
          <p:nvPr/>
        </p:nvSpPr>
        <p:spPr>
          <a:xfrm>
            <a:off x="79502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147322F-5E39-BF0E-967B-1DE330DB14E5}"/>
              </a:ext>
            </a:extLst>
          </p:cNvPr>
          <p:cNvSpPr txBox="1"/>
          <p:nvPr/>
        </p:nvSpPr>
        <p:spPr>
          <a:xfrm>
            <a:off x="8039100" y="4275667"/>
            <a:ext cx="35052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Edge: </a:t>
            </a:r>
            <a:r>
              <a:rPr lang="ar-SA" b="1">
                <a:solidFill>
                  <a:srgbClr val="30263B"/>
                </a:solidFill>
                <a:latin typeface="Arial" panose="020B0604020202020204" pitchFamily="34" charset="0"/>
                <a:cs typeface="Arial" panose="020B0604020202020204" pitchFamily="34" charset="0"/>
              </a:rPr>
              <a:t>تداخل مع حجز موجود في القاعة</a:t>
            </a:r>
            <a:endParaRPr lang="en-US"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E5C8FC1C-481F-27F4-A768-2155E171A0B4}"/>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8DC3146-F07F-6574-147A-C861E3582715}"/>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النتيجة المطلوبة</a:t>
            </a:r>
            <a:endParaRPr lang="en-US" sz="1600" b="1">
              <a:solidFill>
                <a:srgbClr val="FFFFFF"/>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BBF53B30-84DA-0B64-C208-BE53F3916D27}"/>
              </a:ext>
            </a:extLst>
          </p:cNvPr>
          <p:cNvSpPr/>
          <p:nvPr/>
        </p:nvSpPr>
        <p:spPr>
          <a:xfrm>
            <a:off x="42418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E6DD1D0-535F-FF35-E1DE-0EE0DC8C68B9}"/>
              </a:ext>
            </a:extLst>
          </p:cNvPr>
          <p:cNvSpPr txBox="1"/>
          <p:nvPr/>
        </p:nvSpPr>
        <p:spPr>
          <a:xfrm>
            <a:off x="4330700" y="2768600"/>
            <a:ext cx="3505200" cy="328295"/>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خيارات مناسبة ثم تأكيد واحد وحفظ وتقويم</a:t>
            </a:r>
            <a:endParaRPr lang="en-US">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94CFC7BA-21D4-C311-C69D-CAC7F97A1F80}"/>
              </a:ext>
            </a:extLst>
          </p:cNvPr>
          <p:cNvSpPr/>
          <p:nvPr/>
        </p:nvSpPr>
        <p:spPr>
          <a:xfrm>
            <a:off x="42418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034E865-DB76-62D7-A701-7DEB8732711D}"/>
              </a:ext>
            </a:extLst>
          </p:cNvPr>
          <p:cNvSpPr txBox="1"/>
          <p:nvPr/>
        </p:nvSpPr>
        <p:spPr>
          <a:xfrm>
            <a:off x="4330700" y="3522133"/>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سؤال عن النقص فقط، الاحتفاظ بالمعروف؛ لا حفظ مبكر</a:t>
            </a:r>
            <a:endParaRPr lang="en-US">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076D1E58-FA4A-53DA-9C60-E1F824A24971}"/>
              </a:ext>
            </a:extLst>
          </p:cNvPr>
          <p:cNvSpPr/>
          <p:nvPr/>
        </p:nvSpPr>
        <p:spPr>
          <a:xfrm>
            <a:off x="42418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62108EA-91BA-30CC-107B-4801143C22E8}"/>
              </a:ext>
            </a:extLst>
          </p:cNvPr>
          <p:cNvSpPr txBox="1"/>
          <p:nvPr/>
        </p:nvSpPr>
        <p:spPr>
          <a:xfrm>
            <a:off x="4330700" y="4275667"/>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استبعاد المتعارض؛ بديل صالح أو لا توفر؛ لا كتابة متعارضة</a:t>
            </a:r>
            <a:endParaRPr lang="en-US">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0CB607CA-EA24-2D59-A2C0-029508AE8937}"/>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70C22FC-00EE-1ABF-E2A5-275328310241}"/>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النتيجة الفعلية والدليل</a:t>
            </a:r>
            <a:endParaRPr lang="en-US" sz="1600" b="1">
              <a:solidFill>
                <a:srgbClr val="FFFFFF"/>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509D31A0-459C-2AA9-BFBE-9F23A40C2342}"/>
              </a:ext>
            </a:extLst>
          </p:cNvPr>
          <p:cNvSpPr/>
          <p:nvPr/>
        </p:nvSpPr>
        <p:spPr>
          <a:xfrm>
            <a:off x="5334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ECF6AD5-BFD6-AA07-6136-C1474BC0E066}"/>
              </a:ext>
            </a:extLst>
          </p:cNvPr>
          <p:cNvSpPr txBox="1"/>
          <p:nvPr/>
        </p:nvSpPr>
        <p:spPr>
          <a:xfrm>
            <a:off x="622300" y="2768600"/>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مسار فعلي في </a:t>
            </a:r>
            <a:r>
              <a:rPr lang="en-US">
                <a:solidFill>
                  <a:srgbClr val="30263B"/>
                </a:solidFill>
                <a:latin typeface="Arial" panose="020B0604020202020204" pitchFamily="34" charset="0"/>
                <a:cs typeface="Arial" panose="020B0604020202020204" pitchFamily="34" charset="0"/>
              </a:rPr>
              <a:t>M2/M4؛ </a:t>
            </a:r>
            <a:r>
              <a:rPr lang="ar-SA">
                <a:solidFill>
                  <a:srgbClr val="30263B"/>
                </a:solidFill>
                <a:latin typeface="Arial" panose="020B0604020202020204" pitchFamily="34" charset="0"/>
                <a:cs typeface="Arial" panose="020B0604020202020204" pitchFamily="34" charset="0"/>
              </a:rPr>
              <a:t>سجل محفوظ ومعرّف، وفحص استمرار مستقل. </a:t>
            </a:r>
            <a:r>
              <a:rPr lang="en-US">
                <a:solidFill>
                  <a:srgbClr val="30263B"/>
                </a:solidFill>
                <a:latin typeface="Arial" panose="020B0604020202020204" pitchFamily="34" charset="0"/>
                <a:cs typeface="Arial" panose="020B0604020202020204" pitchFamily="34" charset="0"/>
              </a:rPr>
              <a:t>E05.</a:t>
            </a:r>
          </a:p>
        </p:txBody>
      </p:sp>
      <p:sp>
        <p:nvSpPr>
          <p:cNvPr id="27" name="Rectangle 26">
            <a:extLst>
              <a:ext uri="{FF2B5EF4-FFF2-40B4-BE49-F238E27FC236}">
                <a16:creationId xmlns:a16="http://schemas.microsoft.com/office/drawing/2014/main" id="{31B844F2-47E6-41F2-ECE8-FBF41AE9DA19}"/>
              </a:ext>
            </a:extLst>
          </p:cNvPr>
          <p:cNvSpPr/>
          <p:nvPr/>
        </p:nvSpPr>
        <p:spPr>
          <a:xfrm>
            <a:off x="5334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4621381-17FD-C068-1CA7-E1A096D4844F}"/>
              </a:ext>
            </a:extLst>
          </p:cNvPr>
          <p:cNvSpPr txBox="1"/>
          <p:nvPr/>
        </p:nvSpPr>
        <p:spPr>
          <a:xfrm>
            <a:off x="622300" y="3522133"/>
            <a:ext cx="3505200" cy="497572"/>
          </a:xfrm>
          <a:prstGeom prst="rect">
            <a:avLst/>
          </a:prstGeom>
          <a:noFill/>
        </p:spPr>
        <p:txBody>
          <a:bodyPr vert="horz" wrap="square" lIns="38100" tIns="25400" rIns="38100" bIns="25400" rtlCol="0">
            <a:spAutoFit/>
          </a:bodyPr>
          <a:lstStyle/>
          <a:p>
            <a:pPr algn="r" rtl="1">
              <a:spcAft>
                <a:spcPts val="400"/>
              </a:spcAft>
            </a:pPr>
            <a:r>
              <a:rPr lang="ar-SA" sz="1450">
                <a:solidFill>
                  <a:srgbClr val="30263B"/>
                </a:solidFill>
                <a:latin typeface="Arial" panose="020B0604020202020204" pitchFamily="34" charset="0"/>
                <a:cs typeface="Arial" panose="020B0604020202020204" pitchFamily="34" charset="0"/>
              </a:rPr>
              <a:t>تجارب </a:t>
            </a:r>
            <a:r>
              <a:rPr lang="en-US" sz="1450">
                <a:solidFill>
                  <a:srgbClr val="30263B"/>
                </a:solidFill>
                <a:latin typeface="Arial" panose="020B0604020202020204" pitchFamily="34" charset="0"/>
                <a:cs typeface="Arial" panose="020B0604020202020204" pitchFamily="34" charset="0"/>
              </a:rPr>
              <a:t>Qwen </a:t>
            </a:r>
            <a:r>
              <a:rPr lang="ar-SA" sz="1450">
                <a:solidFill>
                  <a:srgbClr val="30263B"/>
                </a:solidFill>
                <a:latin typeface="Arial" panose="020B0604020202020204" pitchFamily="34" charset="0"/>
                <a:cs typeface="Arial" panose="020B0604020202020204" pitchFamily="34" charset="0"/>
              </a:rPr>
              <a:t>وفحوص الجلسة نجحت في </a:t>
            </a:r>
            <a:r>
              <a:rPr lang="en-US" sz="1450">
                <a:solidFill>
                  <a:srgbClr val="30263B"/>
                </a:solidFill>
                <a:latin typeface="Arial" panose="020B0604020202020204" pitchFamily="34" charset="0"/>
                <a:cs typeface="Arial" panose="020B0604020202020204" pitchFamily="34" charset="0"/>
              </a:rPr>
              <a:t>B2. </a:t>
            </a:r>
            <a:r>
              <a:rPr lang="ar-SA" sz="1450">
                <a:solidFill>
                  <a:srgbClr val="30263B"/>
                </a:solidFill>
                <a:latin typeface="Arial" panose="020B0604020202020204" pitchFamily="34" charset="0"/>
                <a:cs typeface="Arial" panose="020B0604020202020204" pitchFamily="34" charset="0"/>
              </a:rPr>
              <a:t>اللقطة الحالية تستكمل الموعد قبل عرض القاعات. </a:t>
            </a:r>
            <a:r>
              <a:rPr lang="en-US" sz="1450">
                <a:solidFill>
                  <a:srgbClr val="30263B"/>
                </a:solidFill>
                <a:latin typeface="Arial" panose="020B0604020202020204" pitchFamily="34" charset="0"/>
                <a:cs typeface="Arial" panose="020B0604020202020204" pitchFamily="34" charset="0"/>
              </a:rPr>
              <a:t>E04–E06.</a:t>
            </a:r>
          </a:p>
        </p:txBody>
      </p:sp>
      <p:sp>
        <p:nvSpPr>
          <p:cNvPr id="29" name="Rectangle 28">
            <a:extLst>
              <a:ext uri="{FF2B5EF4-FFF2-40B4-BE49-F238E27FC236}">
                <a16:creationId xmlns:a16="http://schemas.microsoft.com/office/drawing/2014/main" id="{6489DA5F-D40C-EA11-081B-4B0FC0DF3F79}"/>
              </a:ext>
            </a:extLst>
          </p:cNvPr>
          <p:cNvSpPr/>
          <p:nvPr/>
        </p:nvSpPr>
        <p:spPr>
          <a:xfrm>
            <a:off x="5334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A7749AF-48FB-9701-6809-3B6D91C74801}"/>
              </a:ext>
            </a:extLst>
          </p:cNvPr>
          <p:cNvSpPr txBox="1"/>
          <p:nvPr/>
        </p:nvSpPr>
        <p:spPr>
          <a:xfrm>
            <a:off x="622300" y="4275667"/>
            <a:ext cx="3505200" cy="512961"/>
          </a:xfrm>
          <a:prstGeom prst="rect">
            <a:avLst/>
          </a:prstGeom>
          <a:noFill/>
        </p:spPr>
        <p:txBody>
          <a:bodyPr vert="horz" wrap="square" lIns="38100" tIns="25400" rIns="38100" bIns="25400" rtlCol="0">
            <a:spAutoFit/>
          </a:bodyPr>
          <a:lstStyle/>
          <a:p>
            <a:pPr algn="r" rtl="1">
              <a:spcAft>
                <a:spcPts val="400"/>
              </a:spcAft>
            </a:pPr>
            <a:r>
              <a:rPr lang="ar-SA" sz="1500">
                <a:solidFill>
                  <a:srgbClr val="30263B"/>
                </a:solidFill>
                <a:latin typeface="Arial" panose="020B0604020202020204" pitchFamily="34" charset="0"/>
                <a:cs typeface="Arial" panose="020B0604020202020204" pitchFamily="34" charset="0"/>
              </a:rPr>
              <a:t>معاملة فعلية وسباق تأكيد في </a:t>
            </a:r>
            <a:r>
              <a:rPr lang="en-US" sz="1500">
                <a:solidFill>
                  <a:srgbClr val="30263B"/>
                </a:solidFill>
                <a:latin typeface="Arial" panose="020B0604020202020204" pitchFamily="34" charset="0"/>
                <a:cs typeface="Arial" panose="020B0604020202020204" pitchFamily="34" charset="0"/>
              </a:rPr>
              <a:t>M4. </a:t>
            </a:r>
            <a:r>
              <a:rPr lang="ar-SA" sz="1500">
                <a:solidFill>
                  <a:srgbClr val="30263B"/>
                </a:solidFill>
                <a:latin typeface="Arial" panose="020B0604020202020204" pitchFamily="34" charset="0"/>
                <a:cs typeface="Arial" panose="020B0604020202020204" pitchFamily="34" charset="0"/>
              </a:rPr>
              <a:t>فحص حالي 11–13 مقابل 10–12 استبعد </a:t>
            </a:r>
            <a:r>
              <a:rPr lang="en-US" sz="1500">
                <a:solidFill>
                  <a:srgbClr val="30263B"/>
                </a:solidFill>
                <a:latin typeface="Arial" panose="020B0604020202020204" pitchFamily="34" charset="0"/>
                <a:cs typeface="Arial" panose="020B0604020202020204" pitchFamily="34" charset="0"/>
              </a:rPr>
              <a:t>T02 </a:t>
            </a:r>
            <a:r>
              <a:rPr lang="ar-SA" sz="1500">
                <a:solidFill>
                  <a:srgbClr val="30263B"/>
                </a:solidFill>
                <a:latin typeface="Arial" panose="020B0604020202020204" pitchFamily="34" charset="0"/>
                <a:cs typeface="Arial" panose="020B0604020202020204" pitchFamily="34" charset="0"/>
              </a:rPr>
              <a:t>دون كتابة. </a:t>
            </a:r>
            <a:r>
              <a:rPr lang="en-US" sz="1500">
                <a:solidFill>
                  <a:srgbClr val="30263B"/>
                </a:solidFill>
                <a:latin typeface="Arial" panose="020B0604020202020204" pitchFamily="34" charset="0"/>
                <a:cs typeface="Arial" panose="020B0604020202020204" pitchFamily="34" charset="0"/>
              </a:rPr>
              <a:t>E05/E07.</a:t>
            </a:r>
          </a:p>
        </p:txBody>
      </p:sp>
      <p:sp>
        <p:nvSpPr>
          <p:cNvPr id="31" name="Rectangle: Rounded Corners 30">
            <a:extLst>
              <a:ext uri="{FF2B5EF4-FFF2-40B4-BE49-F238E27FC236}">
                <a16:creationId xmlns:a16="http://schemas.microsoft.com/office/drawing/2014/main" id="{D661458A-DEEF-FDAC-DC3C-4878E4FE6010}"/>
              </a:ext>
            </a:extLst>
          </p:cNvPr>
          <p:cNvSpPr/>
          <p:nvPr/>
        </p:nvSpPr>
        <p:spPr>
          <a:xfrm>
            <a:off x="533400" y="5130800"/>
            <a:ext cx="111252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6013AA3-99CF-B6CF-5E72-FC9F371A30CE}"/>
              </a:ext>
            </a:extLst>
          </p:cNvPr>
          <p:cNvSpPr txBox="1"/>
          <p:nvPr/>
        </p:nvSpPr>
        <p:spPr>
          <a:xfrm>
            <a:off x="698500" y="5232400"/>
            <a:ext cx="10795000" cy="312906"/>
          </a:xfrm>
          <a:prstGeom prst="rect">
            <a:avLst/>
          </a:prstGeom>
          <a:noFill/>
        </p:spPr>
        <p:txBody>
          <a:bodyPr vert="horz" wrap="square" lIns="38100" tIns="25400" rIns="38100" bIns="25400" rtlCol="0">
            <a:spAutoFit/>
          </a:bodyPr>
          <a:lstStyle/>
          <a:p>
            <a:pPr algn="r" rtl="1">
              <a:spcAft>
                <a:spcPts val="400"/>
              </a:spcAft>
            </a:pPr>
            <a:r>
              <a:rPr lang="ar-SA" sz="1700">
                <a:solidFill>
                  <a:srgbClr val="30263B"/>
                </a:solidFill>
                <a:latin typeface="Arial" panose="020B0604020202020204" pitchFamily="34" charset="0"/>
                <a:cs typeface="Arial" panose="020B0604020202020204" pitchFamily="34" charset="0"/>
              </a:rPr>
              <a:t>تمييز مهم: </a:t>
            </a:r>
            <a:r>
              <a:rPr lang="en-US" sz="1700">
                <a:solidFill>
                  <a:srgbClr val="30263B"/>
                </a:solidFill>
                <a:latin typeface="Arial" panose="020B0604020202020204" pitchFamily="34" charset="0"/>
                <a:cs typeface="Arial" panose="020B0604020202020204" pitchFamily="34" charset="0"/>
              </a:rPr>
              <a:t>Messy </a:t>
            </a:r>
            <a:r>
              <a:rPr lang="ar-SA" sz="1700">
                <a:solidFill>
                  <a:srgbClr val="30263B"/>
                </a:solidFill>
                <a:latin typeface="Arial" panose="020B0604020202020204" pitchFamily="34" charset="0"/>
                <a:cs typeface="Arial" panose="020B0604020202020204" pitchFamily="34" charset="0"/>
              </a:rPr>
              <a:t>البشري الموقّت افتقد وقت الاجتماع وفق الإفادة؛ لم يُذكر افتقاد الحضور معه، ولا يُعامل كتكرار مطابق لاختبار الوكيل الآلي.</a:t>
            </a:r>
            <a:endParaRPr lang="en-US" sz="1700">
              <a:solidFill>
                <a:srgbClr val="30263B"/>
              </a:solidFill>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017528C8-D651-E761-85FF-8A458EAA2250}"/>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EC82696-72CC-88D7-C061-594630F0B692}"/>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E03: Productivity_Results.md؛ E05: m4_booking_regression.json؛ E07: readiness_probe.json</a:t>
            </a:r>
          </a:p>
        </p:txBody>
      </p:sp>
    </p:spTree>
    <p:extLst>
      <p:ext uri="{BB962C8B-B14F-4D97-AF65-F5344CB8AC3E}">
        <p14:creationId xmlns:p14="http://schemas.microsoft.com/office/powerpoint/2010/main" val="866394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54CF09-E88A-DC43-AF80-1AD5E14E15E8}"/>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7280D36-C3FB-7299-6447-8D412872FE75}"/>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6B4CA619-377F-F765-9627-71A528218498}"/>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15 / 27</a:t>
            </a:r>
          </a:p>
        </p:txBody>
      </p:sp>
      <p:sp>
        <p:nvSpPr>
          <p:cNvPr id="5" name="TextBox 4">
            <a:extLst>
              <a:ext uri="{FF2B5EF4-FFF2-40B4-BE49-F238E27FC236}">
                <a16:creationId xmlns:a16="http://schemas.microsoft.com/office/drawing/2014/main" id="{8214BD1F-4ED3-8E1E-932B-42DF0AB7B80D}"/>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الفحوص الرسمية 1–3: مطابقة للأدلة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010C11D-0610-40A7-46B6-5CE64DC4FC4F}"/>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المعيار من تمرين </a:t>
            </a:r>
            <a:r>
              <a:rPr lang="en-US" sz="1900">
                <a:solidFill>
                  <a:srgbClr val="30263B"/>
                </a:solidFill>
                <a:latin typeface="Arial" panose="020B0604020202020204" pitchFamily="34" charset="0"/>
                <a:cs typeface="Arial" panose="020B0604020202020204" pitchFamily="34" charset="0"/>
              </a:rPr>
              <a:t>D4_3. </a:t>
            </a:r>
            <a:r>
              <a:rPr lang="ar-SA" sz="1900">
                <a:solidFill>
                  <a:srgbClr val="30263B"/>
                </a:solidFill>
                <a:latin typeface="Arial" panose="020B0604020202020204" pitchFamily="34" charset="0"/>
                <a:cs typeface="Arial" panose="020B0604020202020204" pitchFamily="34" charset="0"/>
              </a:rPr>
              <a:t>لا تُستخدم عبارة «37 اختبارًا ناجحًا» بديلًا عن هذه المطابقة.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3A7DC2E8-5FDF-D964-DE38-D0375930775D}"/>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14732DE-931C-71D4-3619-7446BF7E3970}"/>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الفحص الرسمي</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E2D922F6-DF4E-3A27-4A80-75918FC8657C}"/>
              </a:ext>
            </a:extLst>
          </p:cNvPr>
          <p:cNvSpPr/>
          <p:nvPr/>
        </p:nvSpPr>
        <p:spPr>
          <a:xfrm>
            <a:off x="79502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A43AC54-EC70-A237-8586-B65A01782455}"/>
              </a:ext>
            </a:extLst>
          </p:cNvPr>
          <p:cNvSpPr txBox="1"/>
          <p:nvPr/>
        </p:nvSpPr>
        <p:spPr>
          <a:xfrm>
            <a:off x="8039100" y="2768600"/>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1 · منع التعارض</a:t>
            </a:r>
            <a:endParaRPr lang="en-US" sz="1900"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236B4BED-B00F-2415-E3A9-617CBE215668}"/>
              </a:ext>
            </a:extLst>
          </p:cNvPr>
          <p:cNvSpPr/>
          <p:nvPr/>
        </p:nvSpPr>
        <p:spPr>
          <a:xfrm>
            <a:off x="79502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5ED627D-ACCA-0A62-5285-908FF8788941}"/>
              </a:ext>
            </a:extLst>
          </p:cNvPr>
          <p:cNvSpPr txBox="1"/>
          <p:nvPr/>
        </p:nvSpPr>
        <p:spPr>
          <a:xfrm>
            <a:off x="8039100" y="3903133"/>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2 · المدخلات الخاطئة</a:t>
            </a:r>
            <a:endParaRPr lang="en-US" sz="1900"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A4221255-B883-1D4B-EAE2-73DD7F1DD6D0}"/>
              </a:ext>
            </a:extLst>
          </p:cNvPr>
          <p:cNvSpPr/>
          <p:nvPr/>
        </p:nvSpPr>
        <p:spPr>
          <a:xfrm>
            <a:off x="79502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4827EEC-BBC3-44FD-218D-84289EF4E479}"/>
              </a:ext>
            </a:extLst>
          </p:cNvPr>
          <p:cNvSpPr txBox="1"/>
          <p:nvPr/>
        </p:nvSpPr>
        <p:spPr>
          <a:xfrm>
            <a:off x="8039100" y="5037667"/>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3 · الحفظ والإلغاء</a:t>
            </a:r>
            <a:endParaRPr lang="en-US" sz="1900"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14FB101C-09F7-7A3D-9553-8701609D91DA}"/>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066E90F-D61F-6F5D-D482-66F399FC0404}"/>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كيف اختُبر والنتيجة المثبتة</a:t>
            </a:r>
            <a:endParaRPr lang="en-US" sz="1600" b="1">
              <a:solidFill>
                <a:srgbClr val="FFFFFF"/>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C50F696-FAC3-3222-38B7-0CEED0439841}"/>
              </a:ext>
            </a:extLst>
          </p:cNvPr>
          <p:cNvSpPr/>
          <p:nvPr/>
        </p:nvSpPr>
        <p:spPr>
          <a:xfrm>
            <a:off x="42418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C086CE6-388A-E2BC-2922-38D2E5981861}"/>
              </a:ext>
            </a:extLst>
          </p:cNvPr>
          <p:cNvSpPr txBox="1"/>
          <p:nvPr/>
        </p:nvSpPr>
        <p:spPr>
          <a:xfrm>
            <a:off x="4330700" y="2768600"/>
            <a:ext cx="35052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معاملة وسباق فعليان في </a:t>
            </a:r>
            <a:r>
              <a:rPr lang="en-US" sz="1900">
                <a:solidFill>
                  <a:srgbClr val="30263B"/>
                </a:solidFill>
                <a:latin typeface="Arial" panose="020B0604020202020204" pitchFamily="34" charset="0"/>
                <a:cs typeface="Arial" panose="020B0604020202020204" pitchFamily="34" charset="0"/>
              </a:rPr>
              <a:t>M4؛ </a:t>
            </a:r>
            <a:r>
              <a:rPr lang="ar-SA" sz="1900">
                <a:solidFill>
                  <a:srgbClr val="30263B"/>
                </a:solidFill>
                <a:latin typeface="Arial" panose="020B0604020202020204" pitchFamily="34" charset="0"/>
                <a:cs typeface="Arial" panose="020B0604020202020204" pitchFamily="34" charset="0"/>
              </a:rPr>
              <a:t>فحص حالي يستبعد </a:t>
            </a:r>
            <a:r>
              <a:rPr lang="en-US" sz="1900">
                <a:solidFill>
                  <a:srgbClr val="30263B"/>
                </a:solidFill>
                <a:latin typeface="Arial" panose="020B0604020202020204" pitchFamily="34" charset="0"/>
                <a:cs typeface="Arial" panose="020B0604020202020204" pitchFamily="34" charset="0"/>
              </a:rPr>
              <a:t>T02 </a:t>
            </a:r>
            <a:r>
              <a:rPr lang="ar-SA" sz="1900">
                <a:solidFill>
                  <a:srgbClr val="30263B"/>
                </a:solidFill>
                <a:latin typeface="Arial" panose="020B0604020202020204" pitchFamily="34" charset="0"/>
                <a:cs typeface="Arial" panose="020B0604020202020204" pitchFamily="34" charset="0"/>
              </a:rPr>
              <a:t>عند تداخل جزئي. </a:t>
            </a:r>
            <a:r>
              <a:rPr lang="en-US" sz="1900">
                <a:solidFill>
                  <a:srgbClr val="30263B"/>
                </a:solidFill>
                <a:latin typeface="Arial" panose="020B0604020202020204" pitchFamily="34" charset="0"/>
                <a:cs typeface="Arial" panose="020B0604020202020204" pitchFamily="34" charset="0"/>
              </a:rPr>
              <a:t>E05/E07.</a:t>
            </a:r>
          </a:p>
        </p:txBody>
      </p:sp>
      <p:sp>
        <p:nvSpPr>
          <p:cNvPr id="19" name="Rectangle 18">
            <a:extLst>
              <a:ext uri="{FF2B5EF4-FFF2-40B4-BE49-F238E27FC236}">
                <a16:creationId xmlns:a16="http://schemas.microsoft.com/office/drawing/2014/main" id="{3E3C4C36-01BC-67F4-C2B0-0C9A5C438529}"/>
              </a:ext>
            </a:extLst>
          </p:cNvPr>
          <p:cNvSpPr/>
          <p:nvPr/>
        </p:nvSpPr>
        <p:spPr>
          <a:xfrm>
            <a:off x="42418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B444619-5871-1078-DBE4-6D5450E779EF}"/>
              </a:ext>
            </a:extLst>
          </p:cNvPr>
          <p:cNvSpPr txBox="1"/>
          <p:nvPr/>
        </p:nvSpPr>
        <p:spPr>
          <a:xfrm>
            <a:off x="4330700" y="3903133"/>
            <a:ext cx="35052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ماضٍ ونهاية معكوسة وسعة زائدة أعادت رفضًا حاليًا؛ نقص الحقول موثق فعليًا ووحدويًا. </a:t>
            </a:r>
            <a:r>
              <a:rPr lang="en-US" sz="1900">
                <a:solidFill>
                  <a:srgbClr val="30263B"/>
                </a:solidFill>
                <a:latin typeface="Arial" panose="020B0604020202020204" pitchFamily="34" charset="0"/>
                <a:cs typeface="Arial" panose="020B0604020202020204" pitchFamily="34" charset="0"/>
              </a:rPr>
              <a:t>E05–E07.</a:t>
            </a:r>
          </a:p>
        </p:txBody>
      </p:sp>
      <p:sp>
        <p:nvSpPr>
          <p:cNvPr id="21" name="Rectangle 20">
            <a:extLst>
              <a:ext uri="{FF2B5EF4-FFF2-40B4-BE49-F238E27FC236}">
                <a16:creationId xmlns:a16="http://schemas.microsoft.com/office/drawing/2014/main" id="{2256696B-7023-05A8-8598-D114C68D5782}"/>
              </a:ext>
            </a:extLst>
          </p:cNvPr>
          <p:cNvSpPr/>
          <p:nvPr/>
        </p:nvSpPr>
        <p:spPr>
          <a:xfrm>
            <a:off x="42418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52B90C1-CD0A-7F09-C3E0-3AF82D556BC3}"/>
              </a:ext>
            </a:extLst>
          </p:cNvPr>
          <p:cNvSpPr txBox="1"/>
          <p:nvPr/>
        </p:nvSpPr>
        <p:spPr>
          <a:xfrm>
            <a:off x="4330700" y="5037667"/>
            <a:ext cx="35052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حفظ فعلي ثم تدقيق عملية جديدة؛ إلغاء حقيقي متكرر يحرر الفترة؛ لقطة حالية بعد </a:t>
            </a:r>
            <a:r>
              <a:rPr lang="en-US" sz="1900">
                <a:solidFill>
                  <a:srgbClr val="30263B"/>
                </a:solidFill>
                <a:latin typeface="Arial" panose="020B0604020202020204" pitchFamily="34" charset="0"/>
                <a:cs typeface="Arial" panose="020B0604020202020204" pitchFamily="34" charset="0"/>
              </a:rPr>
              <a:t>reload. E05/E06.</a:t>
            </a:r>
          </a:p>
        </p:txBody>
      </p:sp>
      <p:sp>
        <p:nvSpPr>
          <p:cNvPr id="23" name="Rectangle 22">
            <a:extLst>
              <a:ext uri="{FF2B5EF4-FFF2-40B4-BE49-F238E27FC236}">
                <a16:creationId xmlns:a16="http://schemas.microsoft.com/office/drawing/2014/main" id="{FE8C8B29-812C-6147-2EEB-46C9DB66B5D8}"/>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4E9175F-BD2C-2D1E-81D3-A7AA027925AC}"/>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الحد / ما لم يُتحقق منه</a:t>
            </a:r>
            <a:endParaRPr lang="en-US" sz="1600" b="1">
              <a:solidFill>
                <a:srgbClr val="FFFFFF"/>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C05EB70B-5D9D-2CED-8FD8-10EC59434B23}"/>
              </a:ext>
            </a:extLst>
          </p:cNvPr>
          <p:cNvSpPr/>
          <p:nvPr/>
        </p:nvSpPr>
        <p:spPr>
          <a:xfrm>
            <a:off x="5334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9DC5610-5625-44DD-66B5-84AEA6CB367C}"/>
              </a:ext>
            </a:extLst>
          </p:cNvPr>
          <p:cNvSpPr txBox="1"/>
          <p:nvPr/>
        </p:nvSpPr>
        <p:spPr>
          <a:xfrm>
            <a:off x="622300" y="2768600"/>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متوافق وظيفيًا؛ مثال الأحد 9–11/10–12 الحرفي لم يُعَد. الفحص الحالي بحث فقط.</a:t>
            </a:r>
            <a:endParaRPr lang="en-US" sz="1900">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0766CB79-57A1-228C-E67F-60C46BA458A7}"/>
              </a:ext>
            </a:extLst>
          </p:cNvPr>
          <p:cNvSpPr/>
          <p:nvPr/>
        </p:nvSpPr>
        <p:spPr>
          <a:xfrm>
            <a:off x="5334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2DC755C-9902-848A-8393-66C10BF920F1}"/>
              </a:ext>
            </a:extLst>
          </p:cNvPr>
          <p:cNvSpPr txBox="1"/>
          <p:nvPr/>
        </p:nvSpPr>
        <p:spPr>
          <a:xfrm>
            <a:off x="622300" y="3903133"/>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فحوص موزعة بين طبقات؛ لا ادعاء أن كل حالة اختُبرت حاليًا عبر نموذج واجهة واحد.</a:t>
            </a:r>
            <a:endParaRPr lang="en-US" sz="1900">
              <a:solidFill>
                <a:srgbClr val="30263B"/>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1FBBD5F7-0FC0-3B4D-C18B-5D0DCAAEF52B}"/>
              </a:ext>
            </a:extLst>
          </p:cNvPr>
          <p:cNvSpPr/>
          <p:nvPr/>
        </p:nvSpPr>
        <p:spPr>
          <a:xfrm>
            <a:off x="5334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A991119-EB79-50BF-E2F9-B022F9068762}"/>
              </a:ext>
            </a:extLst>
          </p:cNvPr>
          <p:cNvSpPr txBox="1"/>
          <p:nvPr/>
        </p:nvSpPr>
        <p:spPr>
          <a:xfrm>
            <a:off x="622300" y="5037667"/>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أدلة عبر تشغيلات موثقة؛ لا دورة حجز/تحديث/إلغاء جديدة في تجهيز العرض.</a:t>
            </a:r>
            <a:endParaRPr lang="en-US" sz="1900">
              <a:solidFill>
                <a:srgbClr val="30263B"/>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6619D2D6-5338-611B-451F-D3F4CFF50334}"/>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A390769-0F2B-509F-E146-8D6A39CFEE15}"/>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O2: D4_3_build_it.html؛ </a:t>
            </a:r>
            <a:r>
              <a:rPr lang="ar-SA" sz="1000">
                <a:solidFill>
                  <a:srgbClr val="6C6570"/>
                </a:solidFill>
                <a:latin typeface="Arial" panose="020B0604020202020204" pitchFamily="34" charset="0"/>
                <a:cs typeface="Arial" panose="020B0604020202020204" pitchFamily="34" charset="0"/>
              </a:rPr>
              <a:t>التفصيل والمعرّفات في </a:t>
            </a:r>
            <a:r>
              <a:rPr lang="en-US" sz="1000">
                <a:solidFill>
                  <a:srgbClr val="6C6570"/>
                </a:solidFill>
                <a:latin typeface="Arial" panose="020B0604020202020204" pitchFamily="34" charset="0"/>
                <a:cs typeface="Arial" panose="020B0604020202020204" pitchFamily="34" charset="0"/>
              </a:rPr>
              <a:t>MeetSpace_Evidence_Checklist.md</a:t>
            </a:r>
          </a:p>
        </p:txBody>
      </p:sp>
    </p:spTree>
    <p:extLst>
      <p:ext uri="{BB962C8B-B14F-4D97-AF65-F5344CB8AC3E}">
        <p14:creationId xmlns:p14="http://schemas.microsoft.com/office/powerpoint/2010/main" val="1801537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66A3B3-F150-7708-EC32-21432A14583B}"/>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ACBEF3-12B8-4A55-F416-563733EBD6E1}"/>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8E0A01BF-734E-FCE1-E992-77F3CFA5CC21}"/>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16 / 27</a:t>
            </a:r>
          </a:p>
        </p:txBody>
      </p:sp>
      <p:sp>
        <p:nvSpPr>
          <p:cNvPr id="5" name="TextBox 4">
            <a:extLst>
              <a:ext uri="{FF2B5EF4-FFF2-40B4-BE49-F238E27FC236}">
                <a16:creationId xmlns:a16="http://schemas.microsoft.com/office/drawing/2014/main" id="{DD4A7161-FDB1-7F88-6563-4BB424740CFE}"/>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الفحوص الرسمية 4–6: فجوات معلنة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FFE2142-907E-92C3-45C3-7471864F8EF6}"/>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المطابقة الصارمة تكشف حدود </a:t>
            </a:r>
            <a:r>
              <a:rPr lang="en-US" sz="1900">
                <a:solidFill>
                  <a:srgbClr val="30263B"/>
                </a:solidFill>
                <a:latin typeface="Arial" panose="020B0604020202020204" pitchFamily="34" charset="0"/>
                <a:cs typeface="Arial" panose="020B0604020202020204" pitchFamily="34" charset="0"/>
              </a:rPr>
              <a:t>MVP؛ </a:t>
            </a:r>
            <a:r>
              <a:rPr lang="ar-SA" sz="1900">
                <a:solidFill>
                  <a:srgbClr val="30263B"/>
                </a:solidFill>
                <a:latin typeface="Arial" panose="020B0604020202020204" pitchFamily="34" charset="0"/>
                <a:cs typeface="Arial" panose="020B0604020202020204" pitchFamily="34" charset="0"/>
              </a:rPr>
              <a:t>لا تُستكمل الخصائص أو الأدلة الناقصة بالافتراض.</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869ACD9C-ADB1-5F0E-4BE6-7033F65A9246}"/>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D5C9901-9D4E-922A-DA24-6FD915062125}"/>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الفحص الرسمي</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21A431B1-28DC-FA8D-EFDA-6F0028B2E9A8}"/>
              </a:ext>
            </a:extLst>
          </p:cNvPr>
          <p:cNvSpPr/>
          <p:nvPr/>
        </p:nvSpPr>
        <p:spPr>
          <a:xfrm>
            <a:off x="79502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9AC7D61-B5EC-7E38-2D77-869E6DB242FD}"/>
              </a:ext>
            </a:extLst>
          </p:cNvPr>
          <p:cNvSpPr txBox="1"/>
          <p:nvPr/>
        </p:nvSpPr>
        <p:spPr>
          <a:xfrm>
            <a:off x="8039100" y="2768600"/>
            <a:ext cx="35052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4 · الصلاحيات</a:t>
            </a:r>
            <a:endParaRPr lang="en-US"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6A9F161D-5E79-DEEB-B5EB-D65C43124B82}"/>
              </a:ext>
            </a:extLst>
          </p:cNvPr>
          <p:cNvSpPr/>
          <p:nvPr/>
        </p:nvSpPr>
        <p:spPr>
          <a:xfrm>
            <a:off x="79502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64D6E41-E536-ABFA-B033-B5FBC85935ED}"/>
              </a:ext>
            </a:extLst>
          </p:cNvPr>
          <p:cNvSpPr txBox="1"/>
          <p:nvPr/>
        </p:nvSpPr>
        <p:spPr>
          <a:xfrm>
            <a:off x="8039100" y="3522133"/>
            <a:ext cx="35052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5 · الجوال</a:t>
            </a:r>
            <a:endParaRPr lang="en-US"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A1FB0A44-3BA7-DE73-FA6D-E2973E7F21F2}"/>
              </a:ext>
            </a:extLst>
          </p:cNvPr>
          <p:cNvSpPr/>
          <p:nvPr/>
        </p:nvSpPr>
        <p:spPr>
          <a:xfrm>
            <a:off x="79502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1AFAA33-2E22-15E9-11A4-9F3CF5F5F595}"/>
              </a:ext>
            </a:extLst>
          </p:cNvPr>
          <p:cNvSpPr txBox="1"/>
          <p:nvPr/>
        </p:nvSpPr>
        <p:spPr>
          <a:xfrm>
            <a:off x="8039100" y="4275667"/>
            <a:ext cx="35052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6 · غير المتاح</a:t>
            </a:r>
            <a:endParaRPr lang="en-US"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CBD8748F-7422-03EB-1791-5330BA366537}"/>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04DB687-2FF2-3DA9-D61D-99AC7C48C1C6}"/>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الدليل الفعلي</a:t>
            </a:r>
            <a:endParaRPr lang="en-US" sz="1600" b="1">
              <a:solidFill>
                <a:srgbClr val="FFFFFF"/>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95383445-B4C4-0148-5D36-976DBC754F98}"/>
              </a:ext>
            </a:extLst>
          </p:cNvPr>
          <p:cNvSpPr/>
          <p:nvPr/>
        </p:nvSpPr>
        <p:spPr>
          <a:xfrm>
            <a:off x="42418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7A21BC3-6C4C-8E69-473C-772A5ED27E86}"/>
              </a:ext>
            </a:extLst>
          </p:cNvPr>
          <p:cNvSpPr txBox="1"/>
          <p:nvPr/>
        </p:nvSpPr>
        <p:spPr>
          <a:xfrm>
            <a:off x="4330700" y="2768600"/>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عزل تقويم وإلغاء أجنبي 403؛ </a:t>
            </a:r>
            <a:r>
              <a:rPr lang="en-US">
                <a:solidFill>
                  <a:srgbClr val="30263B"/>
                </a:solidFill>
                <a:latin typeface="Arial" panose="020B0604020202020204" pitchFamily="34" charset="0"/>
                <a:cs typeface="Arial" panose="020B0604020202020204" pitchFamily="34" charset="0"/>
              </a:rPr>
              <a:t>API </a:t>
            </a:r>
            <a:r>
              <a:rPr lang="ar-SA">
                <a:solidFill>
                  <a:srgbClr val="30263B"/>
                </a:solidFill>
                <a:latin typeface="Arial" panose="020B0604020202020204" pitchFamily="34" charset="0"/>
                <a:cs typeface="Arial" panose="020B0604020202020204" pitchFamily="34" charset="0"/>
              </a:rPr>
              <a:t>مسؤول بلا مصادقة 200. </a:t>
            </a:r>
            <a:r>
              <a:rPr lang="en-US">
                <a:solidFill>
                  <a:srgbClr val="30263B"/>
                </a:solidFill>
                <a:latin typeface="Arial" panose="020B0604020202020204" pitchFamily="34" charset="0"/>
                <a:cs typeface="Arial" panose="020B0604020202020204" pitchFamily="34" charset="0"/>
              </a:rPr>
              <a:t>E05/E07.</a:t>
            </a:r>
          </a:p>
        </p:txBody>
      </p:sp>
      <p:sp>
        <p:nvSpPr>
          <p:cNvPr id="19" name="Rectangle 18">
            <a:extLst>
              <a:ext uri="{FF2B5EF4-FFF2-40B4-BE49-F238E27FC236}">
                <a16:creationId xmlns:a16="http://schemas.microsoft.com/office/drawing/2014/main" id="{6ADAD4D1-32DD-0E7D-65A9-AEF073914C13}"/>
              </a:ext>
            </a:extLst>
          </p:cNvPr>
          <p:cNvSpPr/>
          <p:nvPr/>
        </p:nvSpPr>
        <p:spPr>
          <a:xfrm>
            <a:off x="42418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D7CBA80-0CF3-5B53-C630-60FFE3146518}"/>
              </a:ext>
            </a:extLst>
          </p:cNvPr>
          <p:cNvSpPr txBox="1"/>
          <p:nvPr/>
        </p:nvSpPr>
        <p:spPr>
          <a:xfrm>
            <a:off x="4330700" y="3522133"/>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متصفح بمحاكاة 390/768/1440 دون تجاوز أفقي؛ لقطة 390 حديثة. </a:t>
            </a:r>
            <a:r>
              <a:rPr lang="en-US">
                <a:solidFill>
                  <a:srgbClr val="30263B"/>
                </a:solidFill>
                <a:latin typeface="Arial" panose="020B0604020202020204" pitchFamily="34" charset="0"/>
                <a:cs typeface="Arial" panose="020B0604020202020204" pitchFamily="34" charset="0"/>
              </a:rPr>
              <a:t>E05/E06.</a:t>
            </a:r>
          </a:p>
        </p:txBody>
      </p:sp>
      <p:sp>
        <p:nvSpPr>
          <p:cNvPr id="21" name="Rectangle 20">
            <a:extLst>
              <a:ext uri="{FF2B5EF4-FFF2-40B4-BE49-F238E27FC236}">
                <a16:creationId xmlns:a16="http://schemas.microsoft.com/office/drawing/2014/main" id="{9DEC40D5-98C1-6C44-03B3-656715CD3EC9}"/>
              </a:ext>
            </a:extLst>
          </p:cNvPr>
          <p:cNvSpPr/>
          <p:nvPr/>
        </p:nvSpPr>
        <p:spPr>
          <a:xfrm>
            <a:off x="42418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197B76A-2C92-ACE5-97DC-616A70AD2F2C}"/>
              </a:ext>
            </a:extLst>
          </p:cNvPr>
          <p:cNvSpPr txBox="1"/>
          <p:nvPr/>
        </p:nvSpPr>
        <p:spPr>
          <a:xfrm>
            <a:off x="4330700" y="4275667"/>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صيانة فعلية وحظر تأكيد عرض سابق موثقان. </a:t>
            </a:r>
            <a:r>
              <a:rPr lang="en-US">
                <a:solidFill>
                  <a:srgbClr val="30263B"/>
                </a:solidFill>
                <a:latin typeface="Arial" panose="020B0604020202020204" pitchFamily="34" charset="0"/>
                <a:cs typeface="Arial" panose="020B0604020202020204" pitchFamily="34" charset="0"/>
              </a:rPr>
              <a:t>E05.</a:t>
            </a:r>
          </a:p>
        </p:txBody>
      </p:sp>
      <p:sp>
        <p:nvSpPr>
          <p:cNvPr id="23" name="Rectangle 22">
            <a:extLst>
              <a:ext uri="{FF2B5EF4-FFF2-40B4-BE49-F238E27FC236}">
                <a16:creationId xmlns:a16="http://schemas.microsoft.com/office/drawing/2014/main" id="{4DEB0902-CB78-578B-2C73-3AE41B9F13EF}"/>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32F8208-05B5-88DF-1D5D-9712FDEC787F}"/>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التصنيف وحدوده</a:t>
            </a:r>
            <a:endParaRPr lang="en-US" sz="1600" b="1">
              <a:solidFill>
                <a:srgbClr val="FFFFFF"/>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A1A4399A-19A3-9942-3A4D-7E38D39F1745}"/>
              </a:ext>
            </a:extLst>
          </p:cNvPr>
          <p:cNvSpPr/>
          <p:nvPr/>
        </p:nvSpPr>
        <p:spPr>
          <a:xfrm>
            <a:off x="533400" y="2730500"/>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AFEEAC6-2102-8F6B-68D6-4EFC332FEEA4}"/>
              </a:ext>
            </a:extLst>
          </p:cNvPr>
          <p:cNvSpPr txBox="1"/>
          <p:nvPr/>
        </p:nvSpPr>
        <p:spPr>
          <a:xfrm>
            <a:off x="622300" y="2768600"/>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متحقق جزئيًا: فصل وملكية، دون حماية دخول حقيقية.</a:t>
            </a:r>
            <a:endParaRPr lang="en-US">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6B1B7DC9-31DA-76F1-6740-97E697F7D494}"/>
              </a:ext>
            </a:extLst>
          </p:cNvPr>
          <p:cNvSpPr/>
          <p:nvPr/>
        </p:nvSpPr>
        <p:spPr>
          <a:xfrm>
            <a:off x="533400" y="3484033"/>
            <a:ext cx="36830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92316BC-B062-AB83-D6B0-A0FE1FDFCD82}"/>
              </a:ext>
            </a:extLst>
          </p:cNvPr>
          <p:cNvSpPr txBox="1"/>
          <p:nvPr/>
        </p:nvSpPr>
        <p:spPr>
          <a:xfrm>
            <a:off x="622300" y="3522133"/>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متحقق جزئيًا: لم تُجرّب وصلة الأداة على هاتف فعلي.</a:t>
            </a:r>
            <a:endParaRPr lang="en-US">
              <a:solidFill>
                <a:srgbClr val="30263B"/>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858CAF72-CA7D-F28C-32CB-B841F34C89DF}"/>
              </a:ext>
            </a:extLst>
          </p:cNvPr>
          <p:cNvSpPr/>
          <p:nvPr/>
        </p:nvSpPr>
        <p:spPr>
          <a:xfrm>
            <a:off x="533400" y="4237567"/>
            <a:ext cx="36830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F67907B-6D6A-F3EC-72DE-001DD67A4211}"/>
              </a:ext>
            </a:extLst>
          </p:cNvPr>
          <p:cNvSpPr txBox="1"/>
          <p:nvPr/>
        </p:nvSpPr>
        <p:spPr>
          <a:xfrm>
            <a:off x="622300" y="4275667"/>
            <a:ext cx="3505200" cy="605294"/>
          </a:xfrm>
          <a:prstGeom prst="rect">
            <a:avLst/>
          </a:prstGeom>
          <a:noFill/>
        </p:spPr>
        <p:txBody>
          <a:bodyPr vert="horz" wrap="square" lIns="38100" tIns="25400" rIns="38100" bIns="25400" rtlCol="0">
            <a:spAutoFit/>
          </a:bodyPr>
          <a:lstStyle/>
          <a:p>
            <a:pPr algn="r" rtl="1">
              <a:spcAft>
                <a:spcPts val="400"/>
              </a:spcAft>
            </a:pPr>
            <a:r>
              <a:rPr lang="ar-SA">
                <a:solidFill>
                  <a:srgbClr val="30263B"/>
                </a:solidFill>
                <a:latin typeface="Arial" panose="020B0604020202020204" pitchFamily="34" charset="0"/>
                <a:cs typeface="Arial" panose="020B0604020202020204" pitchFamily="34" charset="0"/>
              </a:rPr>
              <a:t>متحقق جزئيًا: صيانة عامة مثبتة؛ إغلاق 27–29 أكتوبر واسم القاعة الرسمي غير مختبرين.</a:t>
            </a:r>
            <a:endParaRPr lang="en-US">
              <a:solidFill>
                <a:srgbClr val="30263B"/>
              </a:solidFill>
              <a:latin typeface="Arial" panose="020B0604020202020204" pitchFamily="34" charset="0"/>
              <a:cs typeface="Arial" panose="020B0604020202020204" pitchFamily="34" charset="0"/>
            </a:endParaRPr>
          </a:p>
        </p:txBody>
      </p:sp>
      <p:sp>
        <p:nvSpPr>
          <p:cNvPr id="31" name="Rectangle: Rounded Corners 30">
            <a:extLst>
              <a:ext uri="{FF2B5EF4-FFF2-40B4-BE49-F238E27FC236}">
                <a16:creationId xmlns:a16="http://schemas.microsoft.com/office/drawing/2014/main" id="{7DD7E984-6EE9-E384-0EB0-F832ACA14608}"/>
              </a:ext>
            </a:extLst>
          </p:cNvPr>
          <p:cNvSpPr/>
          <p:nvPr/>
        </p:nvSpPr>
        <p:spPr>
          <a:xfrm>
            <a:off x="533400" y="5130800"/>
            <a:ext cx="111252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70F9302-40AA-FF09-9686-3281586EEBB9}"/>
              </a:ext>
            </a:extLst>
          </p:cNvPr>
          <p:cNvSpPr txBox="1"/>
          <p:nvPr/>
        </p:nvSpPr>
        <p:spPr>
          <a:xfrm>
            <a:off x="698500" y="5232400"/>
            <a:ext cx="10795000" cy="574516"/>
          </a:xfrm>
          <a:prstGeom prst="rect">
            <a:avLst/>
          </a:prstGeom>
          <a:noFill/>
        </p:spPr>
        <p:txBody>
          <a:bodyPr vert="horz" wrap="square" lIns="38100" tIns="25400" rIns="38100" bIns="25400" rtlCol="0">
            <a:spAutoFit/>
          </a:bodyPr>
          <a:lstStyle/>
          <a:p>
            <a:pPr algn="r" rtl="1">
              <a:spcAft>
                <a:spcPts val="400"/>
              </a:spcAft>
            </a:pPr>
            <a:r>
              <a:rPr lang="ar-SA" sz="1700">
                <a:solidFill>
                  <a:srgbClr val="30263B"/>
                </a:solidFill>
                <a:latin typeface="Arial" panose="020B0604020202020204" pitchFamily="34" charset="0"/>
                <a:cs typeface="Arial" panose="020B0604020202020204" pitchFamily="34" charset="0"/>
              </a:rPr>
              <a:t>ثم زميل ورابط وصول: غير متحقق: تجربة زميل مستقلة وملاحظاتها، وطريقة وصول مناسبة للمقيّم. لا توجد شهادة مستخدم أو وصلة نشر عامة؛ المحلي ليس رابط مشاركة للفريق.</a:t>
            </a:r>
            <a:endParaRPr lang="en-US" sz="1700">
              <a:solidFill>
                <a:srgbClr val="30263B"/>
              </a:solidFill>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D5CC9824-C714-73FB-E7AB-ABACA84FD62F}"/>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E24DAB1-5891-BF21-6ACF-E9EBBFA3F840}"/>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O2: </a:t>
            </a:r>
            <a:r>
              <a:rPr lang="ar-SA" sz="1000">
                <a:solidFill>
                  <a:srgbClr val="6C6570"/>
                </a:solidFill>
                <a:latin typeface="Arial" panose="020B0604020202020204" pitchFamily="34" charset="0"/>
                <a:cs typeface="Arial" panose="020B0604020202020204" pitchFamily="34" charset="0"/>
              </a:rPr>
              <a:t>الفحوص الستة ثم زميل؛ </a:t>
            </a:r>
            <a:r>
              <a:rPr lang="en-US" sz="1000">
                <a:solidFill>
                  <a:srgbClr val="6C6570"/>
                </a:solidFill>
                <a:latin typeface="Arial" panose="020B0604020202020204" pitchFamily="34" charset="0"/>
                <a:cs typeface="Arial" panose="020B0604020202020204" pitchFamily="34" charset="0"/>
              </a:rPr>
              <a:t>E05/E06/E07؛ Checklist</a:t>
            </a:r>
          </a:p>
        </p:txBody>
      </p:sp>
    </p:spTree>
    <p:extLst>
      <p:ext uri="{BB962C8B-B14F-4D97-AF65-F5344CB8AC3E}">
        <p14:creationId xmlns:p14="http://schemas.microsoft.com/office/powerpoint/2010/main" val="2527542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37B3F7-530F-9D1F-4D8B-1CE6FBE1BFD7}"/>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4A2D66-5CE4-790F-DF78-06B5F57178FF}"/>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27F2F494-EA12-407F-1164-042301F396DA}"/>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17 / 27</a:t>
            </a:r>
          </a:p>
        </p:txBody>
      </p:sp>
      <p:sp>
        <p:nvSpPr>
          <p:cNvPr id="5" name="TextBox 4">
            <a:extLst>
              <a:ext uri="{FF2B5EF4-FFF2-40B4-BE49-F238E27FC236}">
                <a16:creationId xmlns:a16="http://schemas.microsoft.com/office/drawing/2014/main" id="{C2DC7A71-8E3C-0AF8-6679-717B4E23BAF3}"/>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تحسين البرومبت: </a:t>
            </a:r>
            <a:r>
              <a:rPr lang="en-US" sz="3000" b="1">
                <a:solidFill>
                  <a:srgbClr val="5B2453"/>
                </a:solidFill>
                <a:latin typeface="Arial" panose="020B0604020202020204" pitchFamily="34" charset="0"/>
                <a:cs typeface="Arial" panose="020B0604020202020204" pitchFamily="34" charset="0"/>
              </a:rPr>
              <a:t>A </a:t>
            </a:r>
            <a:r>
              <a:rPr lang="ar-SA" sz="3000" b="1">
                <a:solidFill>
                  <a:srgbClr val="5B2453"/>
                </a:solidFill>
                <a:latin typeface="Arial" panose="020B0604020202020204" pitchFamily="34" charset="0"/>
                <a:cs typeface="Arial" panose="020B0604020202020204" pitchFamily="34" charset="0"/>
              </a:rPr>
              <a:t>ثم </a:t>
            </a:r>
            <a:r>
              <a:rPr lang="en-US" sz="3000" b="1">
                <a:solidFill>
                  <a:srgbClr val="5B2453"/>
                </a:solidFill>
                <a:latin typeface="Arial" panose="020B0604020202020204" pitchFamily="34" charset="0"/>
                <a:cs typeface="Arial" panose="020B0604020202020204" pitchFamily="34" charset="0"/>
              </a:rPr>
              <a:t>B </a:t>
            </a:r>
            <a:r>
              <a:rPr lang="ar-SA" sz="3000" b="1">
                <a:solidFill>
                  <a:srgbClr val="5B2453"/>
                </a:solidFill>
                <a:latin typeface="Arial" panose="020B0604020202020204" pitchFamily="34" charset="0"/>
                <a:cs typeface="Arial" panose="020B0604020202020204" pitchFamily="34" charset="0"/>
              </a:rPr>
              <a:t>المرفوض ثم </a:t>
            </a:r>
            <a:r>
              <a:rPr lang="en-US" sz="3000" b="1">
                <a:solidFill>
                  <a:srgbClr val="5B2453"/>
                </a:solidFill>
                <a:latin typeface="Arial" panose="020B0604020202020204" pitchFamily="34" charset="0"/>
                <a:cs typeface="Arial" panose="020B0604020202020204" pitchFamily="34" charset="0"/>
              </a:rPr>
              <a:t>B2</a:t>
            </a:r>
          </a:p>
        </p:txBody>
      </p:sp>
      <p:sp>
        <p:nvSpPr>
          <p:cNvPr id="6" name="TextBox 5">
            <a:extLst>
              <a:ext uri="{FF2B5EF4-FFF2-40B4-BE49-F238E27FC236}">
                <a16:creationId xmlns:a16="http://schemas.microsoft.com/office/drawing/2014/main" id="{4FBAD64C-D369-C3BF-2862-7D9527A53918}"/>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أول تعديل لم يُعتمد لأن جودة الاستخراج واللغة تراجعت. الأوامر والنتائج الأصلية محفوظة للمراجعة.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C43F5C2A-16FB-BAD4-6B9B-3449C73FB094}"/>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433D8CE-5E5E-853B-5DC1-F181DA0AE613}"/>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الإصدار</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2F7314FD-3A96-7A52-DD0C-3CD744C9474D}"/>
              </a:ext>
            </a:extLst>
          </p:cNvPr>
          <p:cNvSpPr/>
          <p:nvPr/>
        </p:nvSpPr>
        <p:spPr>
          <a:xfrm>
            <a:off x="79502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C404367-76EA-F13B-2B5C-B1308C303AF8}"/>
              </a:ext>
            </a:extLst>
          </p:cNvPr>
          <p:cNvSpPr txBox="1"/>
          <p:nvPr/>
        </p:nvSpPr>
        <p:spPr>
          <a:xfrm>
            <a:off x="8039100" y="2768600"/>
            <a:ext cx="3505200" cy="343684"/>
          </a:xfrm>
          <a:prstGeom prst="rect">
            <a:avLst/>
          </a:prstGeom>
          <a:noFill/>
        </p:spPr>
        <p:txBody>
          <a:bodyPr vert="horz" wrap="square" lIns="38100" tIns="25400" rIns="38100" bIns="25400" rtlCol="0">
            <a:spAutoFit/>
          </a:bodyPr>
          <a:lstStyle/>
          <a:p>
            <a:pPr algn="r" rtl="1">
              <a:spcAft>
                <a:spcPts val="400"/>
              </a:spcAft>
            </a:pPr>
            <a:r>
              <a:rPr lang="en-US" sz="1900" b="1">
                <a:solidFill>
                  <a:srgbClr val="30263B"/>
                </a:solidFill>
                <a:latin typeface="Arial" panose="020B0604020202020204" pitchFamily="34" charset="0"/>
                <a:cs typeface="Arial" panose="020B0604020202020204" pitchFamily="34" charset="0"/>
              </a:rPr>
              <a:t>A — </a:t>
            </a:r>
            <a:r>
              <a:rPr lang="ar-SA" sz="1900" b="1">
                <a:solidFill>
                  <a:srgbClr val="30263B"/>
                </a:solidFill>
                <a:latin typeface="Arial" panose="020B0604020202020204" pitchFamily="34" charset="0"/>
                <a:cs typeface="Arial" panose="020B0604020202020204" pitchFamily="34" charset="0"/>
              </a:rPr>
              <a:t>الأصل</a:t>
            </a:r>
            <a:endParaRPr lang="en-US" sz="1900"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38B6DAA3-30DB-AF05-DE54-1DFAE750F22A}"/>
              </a:ext>
            </a:extLst>
          </p:cNvPr>
          <p:cNvSpPr/>
          <p:nvPr/>
        </p:nvSpPr>
        <p:spPr>
          <a:xfrm>
            <a:off x="79502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D33D5DA-ECCC-2EB4-CE9B-D4A98097BBE4}"/>
              </a:ext>
            </a:extLst>
          </p:cNvPr>
          <p:cNvSpPr txBox="1"/>
          <p:nvPr/>
        </p:nvSpPr>
        <p:spPr>
          <a:xfrm>
            <a:off x="8039100" y="3903133"/>
            <a:ext cx="3505200" cy="343684"/>
          </a:xfrm>
          <a:prstGeom prst="rect">
            <a:avLst/>
          </a:prstGeom>
          <a:noFill/>
        </p:spPr>
        <p:txBody>
          <a:bodyPr vert="horz" wrap="square" lIns="38100" tIns="25400" rIns="38100" bIns="25400" rtlCol="0">
            <a:spAutoFit/>
          </a:bodyPr>
          <a:lstStyle/>
          <a:p>
            <a:pPr algn="r" rtl="1">
              <a:spcAft>
                <a:spcPts val="400"/>
              </a:spcAft>
            </a:pPr>
            <a:r>
              <a:rPr lang="en-US" sz="1900" b="1">
                <a:solidFill>
                  <a:srgbClr val="30263B"/>
                </a:solidFill>
                <a:latin typeface="Arial" panose="020B0604020202020204" pitchFamily="34" charset="0"/>
                <a:cs typeface="Arial" panose="020B0604020202020204" pitchFamily="34" charset="0"/>
              </a:rPr>
              <a:t>B — </a:t>
            </a:r>
            <a:r>
              <a:rPr lang="ar-SA" sz="1900" b="1">
                <a:solidFill>
                  <a:srgbClr val="30263B"/>
                </a:solidFill>
                <a:latin typeface="Arial" panose="020B0604020202020204" pitchFamily="34" charset="0"/>
                <a:cs typeface="Arial" panose="020B0604020202020204" pitchFamily="34" charset="0"/>
              </a:rPr>
              <a:t>محاولة التحسين</a:t>
            </a:r>
            <a:endParaRPr lang="en-US" sz="1900"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F1AB1EC-310D-1771-384F-0EC126848F97}"/>
              </a:ext>
            </a:extLst>
          </p:cNvPr>
          <p:cNvSpPr/>
          <p:nvPr/>
        </p:nvSpPr>
        <p:spPr>
          <a:xfrm>
            <a:off x="79502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6B676E7-C395-5F35-940D-AC538B259A90}"/>
              </a:ext>
            </a:extLst>
          </p:cNvPr>
          <p:cNvSpPr txBox="1"/>
          <p:nvPr/>
        </p:nvSpPr>
        <p:spPr>
          <a:xfrm>
            <a:off x="8039100" y="5037667"/>
            <a:ext cx="3505200" cy="343684"/>
          </a:xfrm>
          <a:prstGeom prst="rect">
            <a:avLst/>
          </a:prstGeom>
          <a:noFill/>
        </p:spPr>
        <p:txBody>
          <a:bodyPr vert="horz" wrap="square" lIns="38100" tIns="25400" rIns="38100" bIns="25400" rtlCol="0">
            <a:spAutoFit/>
          </a:bodyPr>
          <a:lstStyle/>
          <a:p>
            <a:pPr algn="r" rtl="1">
              <a:spcAft>
                <a:spcPts val="400"/>
              </a:spcAft>
            </a:pPr>
            <a:r>
              <a:rPr lang="en-US" sz="1900" b="1">
                <a:solidFill>
                  <a:srgbClr val="30263B"/>
                </a:solidFill>
                <a:latin typeface="Arial" panose="020B0604020202020204" pitchFamily="34" charset="0"/>
                <a:cs typeface="Arial" panose="020B0604020202020204" pitchFamily="34" charset="0"/>
              </a:rPr>
              <a:t>B2 — </a:t>
            </a:r>
            <a:r>
              <a:rPr lang="ar-SA" sz="1900" b="1">
                <a:solidFill>
                  <a:srgbClr val="30263B"/>
                </a:solidFill>
                <a:latin typeface="Arial" panose="020B0604020202020204" pitchFamily="34" charset="0"/>
                <a:cs typeface="Arial" panose="020B0604020202020204" pitchFamily="34" charset="0"/>
              </a:rPr>
              <a:t>الإصلاح</a:t>
            </a:r>
            <a:endParaRPr lang="en-US" sz="1900"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B8FEDED0-C77D-A0F1-7F66-54B39006C28E}"/>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F30BA32-AB98-5B9A-5E4A-C24D396AED54}"/>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التغيير / الملاحظة</a:t>
            </a:r>
            <a:endParaRPr lang="en-US" sz="1600" b="1">
              <a:solidFill>
                <a:srgbClr val="FFFFFF"/>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8FE06F6F-8542-1F13-25AA-3C09AED74712}"/>
              </a:ext>
            </a:extLst>
          </p:cNvPr>
          <p:cNvSpPr/>
          <p:nvPr/>
        </p:nvSpPr>
        <p:spPr>
          <a:xfrm>
            <a:off x="42418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122367F-ECAB-9991-3267-378BDF2DEE9F}"/>
              </a:ext>
            </a:extLst>
          </p:cNvPr>
          <p:cNvSpPr txBox="1"/>
          <p:nvPr/>
        </p:nvSpPr>
        <p:spPr>
          <a:xfrm>
            <a:off x="4330700" y="2768600"/>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3848 حرفًا؛ خط أساس للمقارنة مع تعليمات وأمثلة ثنائية اللغة.</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F4E8ED20-2122-CCBD-D1C9-92BBF5CF86E1}"/>
              </a:ext>
            </a:extLst>
          </p:cNvPr>
          <p:cNvSpPr/>
          <p:nvPr/>
        </p:nvSpPr>
        <p:spPr>
          <a:xfrm>
            <a:off x="42418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E3CE409-C363-45D0-15C1-0188C5DCA779}"/>
              </a:ext>
            </a:extLst>
          </p:cNvPr>
          <p:cNvSpPr txBox="1"/>
          <p:nvPr/>
        </p:nvSpPr>
        <p:spPr>
          <a:xfrm>
            <a:off x="4330700" y="3903133"/>
            <a:ext cx="3505200" cy="836126"/>
          </a:xfrm>
          <a:prstGeom prst="rect">
            <a:avLst/>
          </a:prstGeom>
          <a:noFill/>
        </p:spPr>
        <p:txBody>
          <a:bodyPr vert="horz" wrap="square" lIns="38100" tIns="25400" rIns="38100" bIns="25400" rtlCol="0">
            <a:spAutoFit/>
          </a:bodyPr>
          <a:lstStyle/>
          <a:p>
            <a:pPr algn="r" rtl="1">
              <a:spcAft>
                <a:spcPts val="400"/>
              </a:spcAft>
            </a:pPr>
            <a:r>
              <a:rPr lang="ar-SA" sz="1700">
                <a:solidFill>
                  <a:srgbClr val="30263B"/>
                </a:solidFill>
                <a:latin typeface="Arial" panose="020B0604020202020204" pitchFamily="34" charset="0"/>
                <a:cs typeface="Arial" panose="020B0604020202020204" pitchFamily="34" charset="0"/>
              </a:rPr>
              <a:t>ظهرت خسارة وقت النهاية في 3 أدوار ولغة خاطئة في 4 أدوار إنجليزية. </a:t>
            </a:r>
            <a:r>
              <a:rPr lang="en-US" sz="1700">
                <a:solidFill>
                  <a:srgbClr val="30263B"/>
                </a:solidFill>
                <a:latin typeface="Arial" panose="020B0604020202020204" pitchFamily="34" charset="0"/>
                <a:cs typeface="Arial" panose="020B0604020202020204" pitchFamily="34" charset="0"/>
              </a:rPr>
              <a:t>Typical/Edge: </a:t>
            </a:r>
            <a:r>
              <a:rPr lang="ar-SA" sz="1700">
                <a:solidFill>
                  <a:srgbClr val="30263B"/>
                </a:solidFill>
                <a:latin typeface="Arial" panose="020B0604020202020204" pitchFamily="34" charset="0"/>
                <a:cs typeface="Arial" panose="020B0604020202020204" pitchFamily="34" charset="0"/>
              </a:rPr>
              <a:t>صفر من جولتين كاملتي الصحة مع اللغة.</a:t>
            </a:r>
            <a:endParaRPr lang="en-US" sz="1700">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C2B958CF-5FB5-E162-E093-B56F80E2294C}"/>
              </a:ext>
            </a:extLst>
          </p:cNvPr>
          <p:cNvSpPr/>
          <p:nvPr/>
        </p:nvSpPr>
        <p:spPr>
          <a:xfrm>
            <a:off x="42418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7DC90B3-63EA-BF46-D2A9-36D7121AA627}"/>
              </a:ext>
            </a:extLst>
          </p:cNvPr>
          <p:cNvSpPr txBox="1"/>
          <p:nvPr/>
        </p:nvSpPr>
        <p:spPr>
          <a:xfrm>
            <a:off x="4330700" y="5037667"/>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3039 حرفًا؛ إعادة أمثلة </a:t>
            </a:r>
            <a:r>
              <a:rPr lang="en-US" sz="1900">
                <a:solidFill>
                  <a:srgbClr val="30263B"/>
                </a:solidFill>
                <a:latin typeface="Arial" panose="020B0604020202020204" pitchFamily="34" charset="0"/>
                <a:cs typeface="Arial" panose="020B0604020202020204" pitchFamily="34" charset="0"/>
              </a:rPr>
              <a:t>JSON </a:t>
            </a:r>
            <a:r>
              <a:rPr lang="ar-SA" sz="1900">
                <a:solidFill>
                  <a:srgbClr val="30263B"/>
                </a:solidFill>
                <a:latin typeface="Arial" panose="020B0604020202020204" pitchFamily="34" charset="0"/>
                <a:cs typeface="Arial" panose="020B0604020202020204" pitchFamily="34" charset="0"/>
              </a:rPr>
              <a:t>الثنائية الثلاثة وقواعد الاكتمال واللغة.</a:t>
            </a:r>
            <a:endParaRPr lang="en-US" sz="1900">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D6A3878C-487F-F39C-3FA9-80131E0E09B5}"/>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A09B63C-D628-D4F0-8263-EF12FE0FB231}"/>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القرار بناءً على الدليل</a:t>
            </a:r>
            <a:endParaRPr lang="en-US" sz="1600" b="1">
              <a:solidFill>
                <a:srgbClr val="FFFFFF"/>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02AEDA3F-7EE4-80B2-53CA-6E70220D3E84}"/>
              </a:ext>
            </a:extLst>
          </p:cNvPr>
          <p:cNvSpPr/>
          <p:nvPr/>
        </p:nvSpPr>
        <p:spPr>
          <a:xfrm>
            <a:off x="5334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5B411A-5742-CBBB-7BBA-F3BBA7C6F51E}"/>
              </a:ext>
            </a:extLst>
          </p:cNvPr>
          <p:cNvSpPr txBox="1"/>
          <p:nvPr/>
        </p:nvSpPr>
        <p:spPr>
          <a:xfrm>
            <a:off x="622300" y="2768600"/>
            <a:ext cx="350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حُفظ دون استبدال في الأرشيف.</a:t>
            </a:r>
            <a:endParaRPr lang="en-US" sz="1900">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8DF94668-7A97-9ABA-2B0A-78DC4F3E7223}"/>
              </a:ext>
            </a:extLst>
          </p:cNvPr>
          <p:cNvSpPr/>
          <p:nvPr/>
        </p:nvSpPr>
        <p:spPr>
          <a:xfrm>
            <a:off x="5334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1176273-166F-B70F-C11F-BD54E21F05CD}"/>
              </a:ext>
            </a:extLst>
          </p:cNvPr>
          <p:cNvSpPr txBox="1"/>
          <p:nvPr/>
        </p:nvSpPr>
        <p:spPr>
          <a:xfrm>
            <a:off x="622300" y="3903133"/>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رُفض رغم تحسن زمني طفيف؛ السرعة وحدها لا تكفي.</a:t>
            </a:r>
            <a:endParaRPr lang="en-US" sz="1900">
              <a:solidFill>
                <a:srgbClr val="30263B"/>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5E2ED665-2336-CB97-79FB-BAA1D0300EC5}"/>
              </a:ext>
            </a:extLst>
          </p:cNvPr>
          <p:cNvSpPr/>
          <p:nvPr/>
        </p:nvSpPr>
        <p:spPr>
          <a:xfrm>
            <a:off x="5334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E976640-1B04-9AC0-99B3-0F47F775001C}"/>
              </a:ext>
            </a:extLst>
          </p:cNvPr>
          <p:cNvSpPr txBox="1"/>
          <p:nvPr/>
        </p:nvSpPr>
        <p:spPr>
          <a:xfrm>
            <a:off x="622300" y="5037667"/>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نجحت الجولات الست عبر الحالات الثلاث ضمن 8 أدوار؛ اعتماد ضمن هذه العينة فقط.</a:t>
            </a:r>
            <a:endParaRPr lang="en-US" sz="1900">
              <a:solidFill>
                <a:srgbClr val="30263B"/>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61305B83-0F2F-8A3E-9476-022491A71BBE}"/>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38C8722-E36F-D593-36C2-DC540795E127}"/>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E04: Prompt_Engineering_Log.md؛ docs/archive/prompt_versions/؛ E05: comparison.json</a:t>
            </a:r>
          </a:p>
        </p:txBody>
      </p:sp>
    </p:spTree>
    <p:extLst>
      <p:ext uri="{BB962C8B-B14F-4D97-AF65-F5344CB8AC3E}">
        <p14:creationId xmlns:p14="http://schemas.microsoft.com/office/powerpoint/2010/main" val="3172691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74713C-73A6-AF87-8C63-48B780AB3C3C}"/>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4E21E55-EDA9-0309-1340-C1E87DA902C8}"/>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A0E3FE8B-D24E-7998-0BA7-B2E01C5D0385}"/>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18 / 27</a:t>
            </a:r>
          </a:p>
        </p:txBody>
      </p:sp>
      <p:sp>
        <p:nvSpPr>
          <p:cNvPr id="5" name="TextBox 4">
            <a:extLst>
              <a:ext uri="{FF2B5EF4-FFF2-40B4-BE49-F238E27FC236}">
                <a16:creationId xmlns:a16="http://schemas.microsoft.com/office/drawing/2014/main" id="{25A36439-7F26-BF0A-8C78-FC05F8D13A31}"/>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أداء </a:t>
            </a:r>
            <a:r>
              <a:rPr lang="en-US" sz="3000" b="1">
                <a:solidFill>
                  <a:srgbClr val="5B2453"/>
                </a:solidFill>
                <a:latin typeface="Arial" panose="020B0604020202020204" pitchFamily="34" charset="0"/>
                <a:cs typeface="Arial" panose="020B0604020202020204" pitchFamily="34" charset="0"/>
              </a:rPr>
              <a:t>AI: </a:t>
            </a:r>
            <a:r>
              <a:rPr lang="ar-SA" sz="3000" b="1">
                <a:solidFill>
                  <a:srgbClr val="5B2453"/>
                </a:solidFill>
                <a:latin typeface="Arial" panose="020B0604020202020204" pitchFamily="34" charset="0"/>
                <a:cs typeface="Arial" panose="020B0604020202020204" pitchFamily="34" charset="0"/>
              </a:rPr>
              <a:t>أثر البرومبت منفصل عن أثر التقنية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2781578-DCB0-F093-46F1-F2D780C4FB6C}"/>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متوسط جولتين لكل حالة، بالثواني لكل سيناريو </a:t>
            </a:r>
            <a:r>
              <a:rPr lang="en-US" sz="1900">
                <a:solidFill>
                  <a:srgbClr val="30263B"/>
                </a:solidFill>
                <a:latin typeface="Arial" panose="020B0604020202020204" pitchFamily="34" charset="0"/>
                <a:cs typeface="Arial" panose="020B0604020202020204" pitchFamily="34" charset="0"/>
              </a:rPr>
              <a:t>API. Messy </a:t>
            </a:r>
            <a:r>
              <a:rPr lang="ar-SA" sz="1900">
                <a:solidFill>
                  <a:srgbClr val="30263B"/>
                </a:solidFill>
                <a:latin typeface="Arial" panose="020B0604020202020204" pitchFamily="34" charset="0"/>
                <a:cs typeface="Arial" panose="020B0604020202020204" pitchFamily="34" charset="0"/>
              </a:rPr>
              <a:t>يتضمن دورين؛ </a:t>
            </a:r>
            <a:r>
              <a:rPr lang="en-US" sz="1900">
                <a:solidFill>
                  <a:srgbClr val="30263B"/>
                </a:solidFill>
                <a:latin typeface="Arial" panose="020B0604020202020204" pitchFamily="34" charset="0"/>
                <a:cs typeface="Arial" panose="020B0604020202020204" pitchFamily="34" charset="0"/>
              </a:rPr>
              <a:t>Typical </a:t>
            </a:r>
            <a:r>
              <a:rPr lang="ar-SA" sz="1900">
                <a:solidFill>
                  <a:srgbClr val="30263B"/>
                </a:solidFill>
                <a:latin typeface="Arial" panose="020B0604020202020204" pitchFamily="34" charset="0"/>
                <a:cs typeface="Arial" panose="020B0604020202020204" pitchFamily="34" charset="0"/>
              </a:rPr>
              <a:t>و</a:t>
            </a:r>
            <a:r>
              <a:rPr lang="en-US" sz="1900">
                <a:solidFill>
                  <a:srgbClr val="30263B"/>
                </a:solidFill>
                <a:latin typeface="Arial" panose="020B0604020202020204" pitchFamily="34" charset="0"/>
                <a:cs typeface="Arial" panose="020B0604020202020204" pitchFamily="34" charset="0"/>
              </a:rPr>
              <a:t>Edge </a:t>
            </a:r>
            <a:r>
              <a:rPr lang="ar-SA" sz="1900">
                <a:solidFill>
                  <a:srgbClr val="30263B"/>
                </a:solidFill>
                <a:latin typeface="Arial" panose="020B0604020202020204" pitchFamily="34" charset="0"/>
                <a:cs typeface="Arial" panose="020B0604020202020204" pitchFamily="34" charset="0"/>
              </a:rPr>
              <a:t>دورًا واحدًا.</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9A05A0CF-641F-54D9-78B7-B16AB4729CD9}"/>
              </a:ext>
            </a:extLst>
          </p:cNvPr>
          <p:cNvSpPr/>
          <p:nvPr/>
        </p:nvSpPr>
        <p:spPr>
          <a:xfrm>
            <a:off x="8877300" y="2260600"/>
            <a:ext cx="27559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335001D-A546-C317-35B5-5FC3886AA5DA}"/>
              </a:ext>
            </a:extLst>
          </p:cNvPr>
          <p:cNvSpPr txBox="1"/>
          <p:nvPr/>
        </p:nvSpPr>
        <p:spPr>
          <a:xfrm>
            <a:off x="8953500" y="2311400"/>
            <a:ext cx="26035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الحالة</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40B09B82-54BE-44D3-8AAE-6049EA0AD0C8}"/>
              </a:ext>
            </a:extLst>
          </p:cNvPr>
          <p:cNvSpPr/>
          <p:nvPr/>
        </p:nvSpPr>
        <p:spPr>
          <a:xfrm>
            <a:off x="8877300" y="2730500"/>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D8642C3-0CF4-95B5-A47D-CEA49B8EE73E}"/>
              </a:ext>
            </a:extLst>
          </p:cNvPr>
          <p:cNvSpPr txBox="1"/>
          <p:nvPr/>
        </p:nvSpPr>
        <p:spPr>
          <a:xfrm>
            <a:off x="8966200" y="2768600"/>
            <a:ext cx="25781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Typical</a:t>
            </a:r>
          </a:p>
        </p:txBody>
      </p:sp>
      <p:sp>
        <p:nvSpPr>
          <p:cNvPr id="11" name="Rectangle 10">
            <a:extLst>
              <a:ext uri="{FF2B5EF4-FFF2-40B4-BE49-F238E27FC236}">
                <a16:creationId xmlns:a16="http://schemas.microsoft.com/office/drawing/2014/main" id="{00FDB9FB-FB1B-093F-2D54-935DC834292F}"/>
              </a:ext>
            </a:extLst>
          </p:cNvPr>
          <p:cNvSpPr/>
          <p:nvPr/>
        </p:nvSpPr>
        <p:spPr>
          <a:xfrm>
            <a:off x="8877300" y="3484033"/>
            <a:ext cx="27559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0B3DCB7-30A5-08DA-1E47-75DEC52C7B69}"/>
              </a:ext>
            </a:extLst>
          </p:cNvPr>
          <p:cNvSpPr txBox="1"/>
          <p:nvPr/>
        </p:nvSpPr>
        <p:spPr>
          <a:xfrm>
            <a:off x="8966200" y="3522133"/>
            <a:ext cx="25781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Messy</a:t>
            </a:r>
          </a:p>
        </p:txBody>
      </p:sp>
      <p:sp>
        <p:nvSpPr>
          <p:cNvPr id="13" name="Rectangle 12">
            <a:extLst>
              <a:ext uri="{FF2B5EF4-FFF2-40B4-BE49-F238E27FC236}">
                <a16:creationId xmlns:a16="http://schemas.microsoft.com/office/drawing/2014/main" id="{68C73D81-9C38-FB0B-8940-536F914C132A}"/>
              </a:ext>
            </a:extLst>
          </p:cNvPr>
          <p:cNvSpPr/>
          <p:nvPr/>
        </p:nvSpPr>
        <p:spPr>
          <a:xfrm>
            <a:off x="8877300" y="4237567"/>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AB4D317-B136-E1AE-92A0-52E8BC7783CE}"/>
              </a:ext>
            </a:extLst>
          </p:cNvPr>
          <p:cNvSpPr txBox="1"/>
          <p:nvPr/>
        </p:nvSpPr>
        <p:spPr>
          <a:xfrm>
            <a:off x="8966200" y="4275667"/>
            <a:ext cx="2578100"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Edge</a:t>
            </a:r>
          </a:p>
        </p:txBody>
      </p:sp>
      <p:sp>
        <p:nvSpPr>
          <p:cNvPr id="15" name="Rectangle 14">
            <a:extLst>
              <a:ext uri="{FF2B5EF4-FFF2-40B4-BE49-F238E27FC236}">
                <a16:creationId xmlns:a16="http://schemas.microsoft.com/office/drawing/2014/main" id="{06174142-7AA1-3E5D-FFC3-EEFCFC2D3398}"/>
              </a:ext>
            </a:extLst>
          </p:cNvPr>
          <p:cNvSpPr/>
          <p:nvPr/>
        </p:nvSpPr>
        <p:spPr>
          <a:xfrm>
            <a:off x="6096000" y="2260600"/>
            <a:ext cx="27559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9F3851D-C3C5-D1D7-1126-39D4FE167A8F}"/>
              </a:ext>
            </a:extLst>
          </p:cNvPr>
          <p:cNvSpPr txBox="1"/>
          <p:nvPr/>
        </p:nvSpPr>
        <p:spPr>
          <a:xfrm>
            <a:off x="6172200" y="2311400"/>
            <a:ext cx="2603500" cy="297517"/>
          </a:xfrm>
          <a:prstGeom prst="rect">
            <a:avLst/>
          </a:prstGeom>
          <a:noFill/>
        </p:spPr>
        <p:txBody>
          <a:bodyPr vert="horz" wrap="square" lIns="38100" tIns="25400" rIns="38100" bIns="25400" rtlCol="0">
            <a:spAutoFit/>
          </a:bodyPr>
          <a:lstStyle/>
          <a:p>
            <a:pPr algn="r" rtl="1">
              <a:spcAft>
                <a:spcPts val="400"/>
              </a:spcAft>
            </a:pPr>
            <a:r>
              <a:rPr lang="en-US" sz="1600" b="1">
                <a:solidFill>
                  <a:srgbClr val="FFFFFF"/>
                </a:solidFill>
                <a:latin typeface="Arial" panose="020B0604020202020204" pitchFamily="34" charset="0"/>
                <a:cs typeface="Arial" panose="020B0604020202020204" pitchFamily="34" charset="0"/>
              </a:rPr>
              <a:t>Original A</a:t>
            </a:r>
          </a:p>
        </p:txBody>
      </p:sp>
      <p:sp>
        <p:nvSpPr>
          <p:cNvPr id="17" name="Rectangle 16">
            <a:extLst>
              <a:ext uri="{FF2B5EF4-FFF2-40B4-BE49-F238E27FC236}">
                <a16:creationId xmlns:a16="http://schemas.microsoft.com/office/drawing/2014/main" id="{DF7E13BE-3501-5B9D-B5F8-A8F703DC72A8}"/>
              </a:ext>
            </a:extLst>
          </p:cNvPr>
          <p:cNvSpPr/>
          <p:nvPr/>
        </p:nvSpPr>
        <p:spPr>
          <a:xfrm>
            <a:off x="6096000" y="2730500"/>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5DEEAC3-8873-6B58-1B91-C534F3835B73}"/>
              </a:ext>
            </a:extLst>
          </p:cNvPr>
          <p:cNvSpPr txBox="1"/>
          <p:nvPr/>
        </p:nvSpPr>
        <p:spPr>
          <a:xfrm>
            <a:off x="6184900" y="2768600"/>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31.24</a:t>
            </a:r>
          </a:p>
        </p:txBody>
      </p:sp>
      <p:sp>
        <p:nvSpPr>
          <p:cNvPr id="19" name="Rectangle 18">
            <a:extLst>
              <a:ext uri="{FF2B5EF4-FFF2-40B4-BE49-F238E27FC236}">
                <a16:creationId xmlns:a16="http://schemas.microsoft.com/office/drawing/2014/main" id="{1CF58D6A-70EA-70F7-684E-EC00F7042DD7}"/>
              </a:ext>
            </a:extLst>
          </p:cNvPr>
          <p:cNvSpPr/>
          <p:nvPr/>
        </p:nvSpPr>
        <p:spPr>
          <a:xfrm>
            <a:off x="6096000" y="3484033"/>
            <a:ext cx="27559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2F78316-0B60-B8E9-B183-6FA5F63CC417}"/>
              </a:ext>
            </a:extLst>
          </p:cNvPr>
          <p:cNvSpPr txBox="1"/>
          <p:nvPr/>
        </p:nvSpPr>
        <p:spPr>
          <a:xfrm>
            <a:off x="6184900" y="3522133"/>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41.61</a:t>
            </a:r>
          </a:p>
        </p:txBody>
      </p:sp>
      <p:sp>
        <p:nvSpPr>
          <p:cNvPr id="21" name="Rectangle 20">
            <a:extLst>
              <a:ext uri="{FF2B5EF4-FFF2-40B4-BE49-F238E27FC236}">
                <a16:creationId xmlns:a16="http://schemas.microsoft.com/office/drawing/2014/main" id="{DF0C5F54-9E97-DEE5-DBDE-B9FBE54D2A5E}"/>
              </a:ext>
            </a:extLst>
          </p:cNvPr>
          <p:cNvSpPr/>
          <p:nvPr/>
        </p:nvSpPr>
        <p:spPr>
          <a:xfrm>
            <a:off x="6096000" y="4237567"/>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3213D16-73E4-A7E4-87F2-36BE05D12923}"/>
              </a:ext>
            </a:extLst>
          </p:cNvPr>
          <p:cNvSpPr txBox="1"/>
          <p:nvPr/>
        </p:nvSpPr>
        <p:spPr>
          <a:xfrm>
            <a:off x="6184900" y="4275667"/>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21.85</a:t>
            </a:r>
          </a:p>
        </p:txBody>
      </p:sp>
      <p:sp>
        <p:nvSpPr>
          <p:cNvPr id="23" name="Rectangle 22">
            <a:extLst>
              <a:ext uri="{FF2B5EF4-FFF2-40B4-BE49-F238E27FC236}">
                <a16:creationId xmlns:a16="http://schemas.microsoft.com/office/drawing/2014/main" id="{57B3655D-A32D-C266-61F8-277F381D7115}"/>
              </a:ext>
            </a:extLst>
          </p:cNvPr>
          <p:cNvSpPr/>
          <p:nvPr/>
        </p:nvSpPr>
        <p:spPr>
          <a:xfrm>
            <a:off x="3314700" y="2260600"/>
            <a:ext cx="27559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830C62E-AA94-F848-31A2-E7B972B374E2}"/>
              </a:ext>
            </a:extLst>
          </p:cNvPr>
          <p:cNvSpPr txBox="1"/>
          <p:nvPr/>
        </p:nvSpPr>
        <p:spPr>
          <a:xfrm>
            <a:off x="3390900" y="2311400"/>
            <a:ext cx="2603500" cy="297517"/>
          </a:xfrm>
          <a:prstGeom prst="rect">
            <a:avLst/>
          </a:prstGeom>
          <a:noFill/>
        </p:spPr>
        <p:txBody>
          <a:bodyPr vert="horz" wrap="square" lIns="38100" tIns="25400" rIns="38100" bIns="25400" rtlCol="0">
            <a:spAutoFit/>
          </a:bodyPr>
          <a:lstStyle/>
          <a:p>
            <a:pPr algn="r" rtl="1">
              <a:spcAft>
                <a:spcPts val="400"/>
              </a:spcAft>
            </a:pPr>
            <a:r>
              <a:rPr lang="en-US" sz="1600" b="1">
                <a:solidFill>
                  <a:srgbClr val="FFFFFF"/>
                </a:solidFill>
                <a:latin typeface="Arial" panose="020B0604020202020204" pitchFamily="34" charset="0"/>
                <a:cs typeface="Arial" panose="020B0604020202020204" pitchFamily="34" charset="0"/>
              </a:rPr>
              <a:t>Prompt B2</a:t>
            </a:r>
          </a:p>
        </p:txBody>
      </p:sp>
      <p:sp>
        <p:nvSpPr>
          <p:cNvPr id="25" name="Rectangle 24">
            <a:extLst>
              <a:ext uri="{FF2B5EF4-FFF2-40B4-BE49-F238E27FC236}">
                <a16:creationId xmlns:a16="http://schemas.microsoft.com/office/drawing/2014/main" id="{D947D6F1-CCFD-F419-992C-A7E9CF8B8DB4}"/>
              </a:ext>
            </a:extLst>
          </p:cNvPr>
          <p:cNvSpPr/>
          <p:nvPr/>
        </p:nvSpPr>
        <p:spPr>
          <a:xfrm>
            <a:off x="3314700" y="2730500"/>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C86C540-11C9-9352-0133-3EAA544B3D33}"/>
              </a:ext>
            </a:extLst>
          </p:cNvPr>
          <p:cNvSpPr txBox="1"/>
          <p:nvPr/>
        </p:nvSpPr>
        <p:spPr>
          <a:xfrm>
            <a:off x="3403600" y="2768600"/>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28.78</a:t>
            </a:r>
          </a:p>
        </p:txBody>
      </p:sp>
      <p:sp>
        <p:nvSpPr>
          <p:cNvPr id="27" name="Rectangle 26">
            <a:extLst>
              <a:ext uri="{FF2B5EF4-FFF2-40B4-BE49-F238E27FC236}">
                <a16:creationId xmlns:a16="http://schemas.microsoft.com/office/drawing/2014/main" id="{7ACC6E42-C18A-3D0C-F112-B6F884B0C935}"/>
              </a:ext>
            </a:extLst>
          </p:cNvPr>
          <p:cNvSpPr/>
          <p:nvPr/>
        </p:nvSpPr>
        <p:spPr>
          <a:xfrm>
            <a:off x="3314700" y="3484033"/>
            <a:ext cx="27559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D19398B-7905-7F16-8641-5234881D1750}"/>
              </a:ext>
            </a:extLst>
          </p:cNvPr>
          <p:cNvSpPr txBox="1"/>
          <p:nvPr/>
        </p:nvSpPr>
        <p:spPr>
          <a:xfrm>
            <a:off x="3403600" y="3522133"/>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33.48</a:t>
            </a:r>
          </a:p>
        </p:txBody>
      </p:sp>
      <p:sp>
        <p:nvSpPr>
          <p:cNvPr id="29" name="Rectangle 28">
            <a:extLst>
              <a:ext uri="{FF2B5EF4-FFF2-40B4-BE49-F238E27FC236}">
                <a16:creationId xmlns:a16="http://schemas.microsoft.com/office/drawing/2014/main" id="{8A228941-9468-8A65-8382-43BB1A872185}"/>
              </a:ext>
            </a:extLst>
          </p:cNvPr>
          <p:cNvSpPr/>
          <p:nvPr/>
        </p:nvSpPr>
        <p:spPr>
          <a:xfrm>
            <a:off x="3314700" y="4237567"/>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35F80FF-EE75-9D0B-6FB3-D304B277BF9D}"/>
              </a:ext>
            </a:extLst>
          </p:cNvPr>
          <p:cNvSpPr txBox="1"/>
          <p:nvPr/>
        </p:nvSpPr>
        <p:spPr>
          <a:xfrm>
            <a:off x="3403600" y="4275667"/>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20.45</a:t>
            </a:r>
          </a:p>
        </p:txBody>
      </p:sp>
      <p:sp>
        <p:nvSpPr>
          <p:cNvPr id="31" name="Rectangle 30">
            <a:extLst>
              <a:ext uri="{FF2B5EF4-FFF2-40B4-BE49-F238E27FC236}">
                <a16:creationId xmlns:a16="http://schemas.microsoft.com/office/drawing/2014/main" id="{0BD91846-38D9-6BEB-929C-170A8F2CF16F}"/>
              </a:ext>
            </a:extLst>
          </p:cNvPr>
          <p:cNvSpPr/>
          <p:nvPr/>
        </p:nvSpPr>
        <p:spPr>
          <a:xfrm>
            <a:off x="533400" y="2260600"/>
            <a:ext cx="27559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D6AA01B-DCBA-4B66-7BB6-5447A8098B50}"/>
              </a:ext>
            </a:extLst>
          </p:cNvPr>
          <p:cNvSpPr txBox="1"/>
          <p:nvPr/>
        </p:nvSpPr>
        <p:spPr>
          <a:xfrm>
            <a:off x="609600" y="2311400"/>
            <a:ext cx="2603500" cy="297517"/>
          </a:xfrm>
          <a:prstGeom prst="rect">
            <a:avLst/>
          </a:prstGeom>
          <a:noFill/>
        </p:spPr>
        <p:txBody>
          <a:bodyPr vert="horz" wrap="square" lIns="38100" tIns="25400" rIns="38100" bIns="25400" rtlCol="0">
            <a:spAutoFit/>
          </a:bodyPr>
          <a:lstStyle/>
          <a:p>
            <a:pPr algn="r" rtl="1">
              <a:spcAft>
                <a:spcPts val="400"/>
              </a:spcAft>
            </a:pPr>
            <a:r>
              <a:rPr lang="en-US" sz="1600" b="1">
                <a:solidFill>
                  <a:srgbClr val="FFFFFF"/>
                </a:solidFill>
                <a:latin typeface="Arial" panose="020B0604020202020204" pitchFamily="34" charset="0"/>
                <a:cs typeface="Arial" panose="020B0604020202020204" pitchFamily="34" charset="0"/>
              </a:rPr>
              <a:t>B2 + </a:t>
            </a:r>
            <a:r>
              <a:rPr lang="ar-SA" sz="1600" b="1">
                <a:solidFill>
                  <a:srgbClr val="FFFFFF"/>
                </a:solidFill>
                <a:latin typeface="Arial" panose="020B0604020202020204" pitchFamily="34" charset="0"/>
                <a:cs typeface="Arial" panose="020B0604020202020204" pitchFamily="34" charset="0"/>
              </a:rPr>
              <a:t>تحسين تقني </a:t>
            </a:r>
            <a:r>
              <a:rPr lang="en-US" sz="1600" b="1">
                <a:solidFill>
                  <a:srgbClr val="FFFFFF"/>
                </a:solidFill>
                <a:latin typeface="Arial" panose="020B0604020202020204" pitchFamily="34" charset="0"/>
                <a:cs typeface="Arial" panose="020B0604020202020204" pitchFamily="34" charset="0"/>
              </a:rPr>
              <a:t>C</a:t>
            </a:r>
          </a:p>
        </p:txBody>
      </p:sp>
      <p:sp>
        <p:nvSpPr>
          <p:cNvPr id="33" name="Rectangle 32">
            <a:extLst>
              <a:ext uri="{FF2B5EF4-FFF2-40B4-BE49-F238E27FC236}">
                <a16:creationId xmlns:a16="http://schemas.microsoft.com/office/drawing/2014/main" id="{A250B11A-7EAF-D795-AB3A-F44A442C6DDA}"/>
              </a:ext>
            </a:extLst>
          </p:cNvPr>
          <p:cNvSpPr/>
          <p:nvPr/>
        </p:nvSpPr>
        <p:spPr>
          <a:xfrm>
            <a:off x="533400" y="2730500"/>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2BF87DC-2E42-FB2A-E05E-8DABA66DE855}"/>
              </a:ext>
            </a:extLst>
          </p:cNvPr>
          <p:cNvSpPr txBox="1"/>
          <p:nvPr/>
        </p:nvSpPr>
        <p:spPr>
          <a:xfrm>
            <a:off x="622300" y="2768600"/>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18.27</a:t>
            </a:r>
          </a:p>
        </p:txBody>
      </p:sp>
      <p:sp>
        <p:nvSpPr>
          <p:cNvPr id="35" name="Rectangle 34">
            <a:extLst>
              <a:ext uri="{FF2B5EF4-FFF2-40B4-BE49-F238E27FC236}">
                <a16:creationId xmlns:a16="http://schemas.microsoft.com/office/drawing/2014/main" id="{3513CD5F-932E-31DE-A9C7-A91446984B50}"/>
              </a:ext>
            </a:extLst>
          </p:cNvPr>
          <p:cNvSpPr/>
          <p:nvPr/>
        </p:nvSpPr>
        <p:spPr>
          <a:xfrm>
            <a:off x="533400" y="3484033"/>
            <a:ext cx="2755900" cy="728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C5D3F32-5AFF-25EE-3559-87B8C00DF19C}"/>
              </a:ext>
            </a:extLst>
          </p:cNvPr>
          <p:cNvSpPr txBox="1"/>
          <p:nvPr/>
        </p:nvSpPr>
        <p:spPr>
          <a:xfrm>
            <a:off x="622300" y="3522133"/>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26.88</a:t>
            </a:r>
          </a:p>
        </p:txBody>
      </p:sp>
      <p:sp>
        <p:nvSpPr>
          <p:cNvPr id="37" name="Rectangle 36">
            <a:extLst>
              <a:ext uri="{FF2B5EF4-FFF2-40B4-BE49-F238E27FC236}">
                <a16:creationId xmlns:a16="http://schemas.microsoft.com/office/drawing/2014/main" id="{79525B6A-2B64-6551-61ED-FC1F25221C38}"/>
              </a:ext>
            </a:extLst>
          </p:cNvPr>
          <p:cNvSpPr/>
          <p:nvPr/>
        </p:nvSpPr>
        <p:spPr>
          <a:xfrm>
            <a:off x="533400" y="4237567"/>
            <a:ext cx="2755900" cy="728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BDF191DA-F875-DD15-4D13-96F3845A509B}"/>
              </a:ext>
            </a:extLst>
          </p:cNvPr>
          <p:cNvSpPr txBox="1"/>
          <p:nvPr/>
        </p:nvSpPr>
        <p:spPr>
          <a:xfrm>
            <a:off x="622300" y="4275667"/>
            <a:ext cx="2578100"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20.50</a:t>
            </a:r>
          </a:p>
        </p:txBody>
      </p:sp>
      <p:sp>
        <p:nvSpPr>
          <p:cNvPr id="39" name="Rectangle: Rounded Corners 38">
            <a:extLst>
              <a:ext uri="{FF2B5EF4-FFF2-40B4-BE49-F238E27FC236}">
                <a16:creationId xmlns:a16="http://schemas.microsoft.com/office/drawing/2014/main" id="{C5C1CB50-73F2-792C-44F9-F1C9DCE8BA3D}"/>
              </a:ext>
            </a:extLst>
          </p:cNvPr>
          <p:cNvSpPr/>
          <p:nvPr/>
        </p:nvSpPr>
        <p:spPr>
          <a:xfrm>
            <a:off x="6184900" y="5130800"/>
            <a:ext cx="54737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0347BCC-16AC-DCFF-D979-C963866E5F50}"/>
              </a:ext>
            </a:extLst>
          </p:cNvPr>
          <p:cNvSpPr txBox="1"/>
          <p:nvPr/>
        </p:nvSpPr>
        <p:spPr>
          <a:xfrm>
            <a:off x="6350000" y="5232400"/>
            <a:ext cx="5143500" cy="743793"/>
          </a:xfrm>
          <a:prstGeom prst="rect">
            <a:avLst/>
          </a:prstGeom>
          <a:noFill/>
        </p:spPr>
        <p:txBody>
          <a:bodyPr vert="horz" wrap="square" lIns="38100" tIns="25400" rIns="38100" bIns="25400" rtlCol="0">
            <a:spAutoFit/>
          </a:bodyPr>
          <a:lstStyle/>
          <a:p>
            <a:pPr algn="r" rtl="1">
              <a:spcAft>
                <a:spcPts val="400"/>
              </a:spcAft>
            </a:pPr>
            <a:r>
              <a:rPr lang="ar-SA" sz="1500">
                <a:solidFill>
                  <a:srgbClr val="30263B"/>
                </a:solidFill>
                <a:latin typeface="Arial" panose="020B0604020202020204" pitchFamily="34" charset="0"/>
                <a:cs typeface="Arial" panose="020B0604020202020204" pitchFamily="34" charset="0"/>
              </a:rPr>
              <a:t>كيف تُفسر النتيجة؟: </a:t>
            </a:r>
            <a:r>
              <a:rPr lang="en-US" sz="1500">
                <a:solidFill>
                  <a:srgbClr val="30263B"/>
                </a:solidFill>
                <a:latin typeface="Arial" panose="020B0604020202020204" pitchFamily="34" charset="0"/>
                <a:cs typeface="Arial" panose="020B0604020202020204" pitchFamily="34" charset="0"/>
              </a:rPr>
              <a:t>A/B/B2 </a:t>
            </a:r>
            <a:r>
              <a:rPr lang="ar-SA" sz="1500">
                <a:solidFill>
                  <a:srgbClr val="30263B"/>
                </a:solidFill>
                <a:latin typeface="Arial" panose="020B0604020202020204" pitchFamily="34" charset="0"/>
                <a:cs typeface="Arial" panose="020B0604020202020204" pitchFamily="34" charset="0"/>
              </a:rPr>
              <a:t>على الكود نفسه. </a:t>
            </a:r>
            <a:r>
              <a:rPr lang="en-US" sz="1500">
                <a:solidFill>
                  <a:srgbClr val="30263B"/>
                </a:solidFill>
                <a:latin typeface="Arial" panose="020B0604020202020204" pitchFamily="34" charset="0"/>
                <a:cs typeface="Arial" panose="020B0604020202020204" pitchFamily="34" charset="0"/>
              </a:rPr>
              <a:t>C </a:t>
            </a:r>
            <a:r>
              <a:rPr lang="ar-SA" sz="1500">
                <a:solidFill>
                  <a:srgbClr val="30263B"/>
                </a:solidFill>
                <a:latin typeface="Arial" panose="020B0604020202020204" pitchFamily="34" charset="0"/>
                <a:cs typeface="Arial" panose="020B0604020202020204" pitchFamily="34" charset="0"/>
              </a:rPr>
              <a:t>أزال نداء الصياغة الثاني للطلب الناقص فقط؛ تحسن </a:t>
            </a:r>
            <a:r>
              <a:rPr lang="en-US" sz="1500">
                <a:solidFill>
                  <a:srgbClr val="30263B"/>
                </a:solidFill>
                <a:latin typeface="Arial" panose="020B0604020202020204" pitchFamily="34" charset="0"/>
                <a:cs typeface="Arial" panose="020B0604020202020204" pitchFamily="34" charset="0"/>
              </a:rPr>
              <a:t>Typical </a:t>
            </a:r>
            <a:r>
              <a:rPr lang="ar-SA" sz="1500">
                <a:solidFill>
                  <a:srgbClr val="30263B"/>
                </a:solidFill>
                <a:latin typeface="Arial" panose="020B0604020202020204" pitchFamily="34" charset="0"/>
                <a:cs typeface="Arial" panose="020B0604020202020204" pitchFamily="34" charset="0"/>
              </a:rPr>
              <a:t>لا يُنسب للكود لأنه لم يتغير مساره. </a:t>
            </a:r>
            <a:r>
              <a:rPr lang="en-US" sz="1500">
                <a:solidFill>
                  <a:srgbClr val="30263B"/>
                </a:solidFill>
                <a:latin typeface="Arial" panose="020B0604020202020204" pitchFamily="34" charset="0"/>
                <a:cs typeface="Arial" panose="020B0604020202020204" pitchFamily="34" charset="0"/>
              </a:rPr>
              <a:t>Edge </a:t>
            </a:r>
            <a:r>
              <a:rPr lang="ar-SA" sz="1500">
                <a:solidFill>
                  <a:srgbClr val="30263B"/>
                </a:solidFill>
                <a:latin typeface="Arial" panose="020B0604020202020204" pitchFamily="34" charset="0"/>
                <a:cs typeface="Arial" panose="020B0604020202020204" pitchFamily="34" charset="0"/>
              </a:rPr>
              <a:t>تباطأ 0.05 ثانية في </a:t>
            </a:r>
            <a:r>
              <a:rPr lang="en-US" sz="1500">
                <a:solidFill>
                  <a:srgbClr val="30263B"/>
                </a:solidFill>
                <a:latin typeface="Arial" panose="020B0604020202020204" pitchFamily="34" charset="0"/>
                <a:cs typeface="Arial" panose="020B0604020202020204" pitchFamily="34" charset="0"/>
              </a:rPr>
              <a:t>C. </a:t>
            </a:r>
            <a:r>
              <a:rPr lang="ar-SA" sz="1500">
                <a:solidFill>
                  <a:srgbClr val="30263B"/>
                </a:solidFill>
                <a:latin typeface="Arial" panose="020B0604020202020204" pitchFamily="34" charset="0"/>
                <a:cs typeface="Arial" panose="020B0604020202020204" pitchFamily="34" charset="0"/>
              </a:rPr>
              <a:t>التخزين المؤقت والترتيب والعينة الصغيرة حدود فعلية.</a:t>
            </a:r>
            <a:endParaRPr lang="en-US" sz="1500">
              <a:solidFill>
                <a:srgbClr val="30263B"/>
              </a:solidFill>
              <a:latin typeface="Arial" panose="020B0604020202020204" pitchFamily="34" charset="0"/>
              <a:cs typeface="Arial" panose="020B0604020202020204" pitchFamily="34" charset="0"/>
            </a:endParaRPr>
          </a:p>
        </p:txBody>
      </p:sp>
      <p:sp>
        <p:nvSpPr>
          <p:cNvPr id="41" name="Rectangle: Rounded Corners 40">
            <a:extLst>
              <a:ext uri="{FF2B5EF4-FFF2-40B4-BE49-F238E27FC236}">
                <a16:creationId xmlns:a16="http://schemas.microsoft.com/office/drawing/2014/main" id="{E35649B5-D914-B616-93F5-B88A3227B94A}"/>
              </a:ext>
            </a:extLst>
          </p:cNvPr>
          <p:cNvSpPr/>
          <p:nvPr/>
        </p:nvSpPr>
        <p:spPr>
          <a:xfrm>
            <a:off x="533400" y="5130800"/>
            <a:ext cx="54737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DF17F8BD-012C-72AE-E031-CC451BC06AEF}"/>
              </a:ext>
            </a:extLst>
          </p:cNvPr>
          <p:cNvSpPr txBox="1"/>
          <p:nvPr/>
        </p:nvSpPr>
        <p:spPr>
          <a:xfrm>
            <a:off x="698500" y="5232400"/>
            <a:ext cx="5143500" cy="766877"/>
          </a:xfrm>
          <a:prstGeom prst="rect">
            <a:avLst/>
          </a:prstGeom>
          <a:noFill/>
        </p:spPr>
        <p:txBody>
          <a:bodyPr vert="horz" wrap="square" lIns="38100" tIns="25400" rIns="38100" bIns="25400" rtlCol="0">
            <a:spAutoFit/>
          </a:bodyPr>
          <a:lstStyle/>
          <a:p>
            <a:pPr algn="r" rtl="1">
              <a:spcAft>
                <a:spcPts val="400"/>
              </a:spcAft>
            </a:pPr>
            <a:r>
              <a:rPr lang="ar-SA" sz="1550">
                <a:solidFill>
                  <a:srgbClr val="30263B"/>
                </a:solidFill>
                <a:latin typeface="Arial" panose="020B0604020202020204" pitchFamily="34" charset="0"/>
                <a:cs typeface="Arial" panose="020B0604020202020204" pitchFamily="34" charset="0"/>
              </a:rPr>
              <a:t>تحسين لاحق، مجموعة قياس أخرى: خفض نداءات النص إلى واحد لكل دور: 18.75/28.38/21.44 ← 10.08/20.44/10.94 ثانية. اختيار البطاقة عبر المتصفح: 1.73 ثانية في حالة واحدة. ليست هذه الأزمنة قياسات العمل البشري.</a:t>
            </a:r>
            <a:endParaRPr lang="en-US" sz="1550">
              <a:solidFill>
                <a:srgbClr val="30263B"/>
              </a:solidFill>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780A7B33-39F6-0873-8DF4-809F9D6EF26B}"/>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60A5B75-A14C-8362-EADF-96F99E3079A2}"/>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E05: comparison.json؛ speed_comparison.json؛ docs/Prompt_Engineering_Log.md</a:t>
            </a:r>
          </a:p>
        </p:txBody>
      </p:sp>
    </p:spTree>
    <p:extLst>
      <p:ext uri="{BB962C8B-B14F-4D97-AF65-F5344CB8AC3E}">
        <p14:creationId xmlns:p14="http://schemas.microsoft.com/office/powerpoint/2010/main" val="2409837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ACF7EC-79B8-FBAA-4DF4-D2DCE3319401}"/>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E1840F3-9262-2148-A99D-5A8D6976AFDE}"/>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B85CAC0A-687E-55D2-8466-34426DF8FCBF}"/>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19 / 27</a:t>
            </a:r>
          </a:p>
        </p:txBody>
      </p:sp>
      <p:sp>
        <p:nvSpPr>
          <p:cNvPr id="5" name="TextBox 4">
            <a:extLst>
              <a:ext uri="{FF2B5EF4-FFF2-40B4-BE49-F238E27FC236}">
                <a16:creationId xmlns:a16="http://schemas.microsoft.com/office/drawing/2014/main" id="{53B614DB-F851-3D93-120B-E87AB8E471D1}"/>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الأثر المقاس على الإنتاجية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8F208E0-2CC3-F198-C7D1-3FF9FFC698D2}"/>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ست جولات أبلغت عنها صاحبة المشروع: ثلاث حالات × طريقتين. الأرقام مدة كلية من بدء الطلب إلى إتمامه؛ ليست زمن استدلال النموذج.</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823D35EA-65FB-C549-6D2D-F5B7AAC97D4A}"/>
              </a:ext>
            </a:extLst>
          </p:cNvPr>
          <p:cNvSpPr/>
          <p:nvPr/>
        </p:nvSpPr>
        <p:spPr>
          <a:xfrm>
            <a:off x="10086975" y="2260600"/>
            <a:ext cx="1546225"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B9B8968-FB6A-A50E-5D05-1076A3B42B96}"/>
              </a:ext>
            </a:extLst>
          </p:cNvPr>
          <p:cNvSpPr txBox="1"/>
          <p:nvPr/>
        </p:nvSpPr>
        <p:spPr>
          <a:xfrm>
            <a:off x="10163175" y="2311400"/>
            <a:ext cx="1393825"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الحالة</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54538B1-0182-B489-1CC3-336E1A9CD721}"/>
              </a:ext>
            </a:extLst>
          </p:cNvPr>
          <p:cNvSpPr/>
          <p:nvPr/>
        </p:nvSpPr>
        <p:spPr>
          <a:xfrm>
            <a:off x="10086975" y="273050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9AF7FBB-E066-6B00-C654-4C59E7930DB7}"/>
              </a:ext>
            </a:extLst>
          </p:cNvPr>
          <p:cNvSpPr txBox="1"/>
          <p:nvPr/>
        </p:nvSpPr>
        <p:spPr>
          <a:xfrm>
            <a:off x="10175875" y="2768600"/>
            <a:ext cx="1368425"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Typical</a:t>
            </a:r>
          </a:p>
        </p:txBody>
      </p:sp>
      <p:sp>
        <p:nvSpPr>
          <p:cNvPr id="11" name="Rectangle 10">
            <a:extLst>
              <a:ext uri="{FF2B5EF4-FFF2-40B4-BE49-F238E27FC236}">
                <a16:creationId xmlns:a16="http://schemas.microsoft.com/office/drawing/2014/main" id="{A705426E-C97A-1A7F-81D6-5D40B3301C25}"/>
              </a:ext>
            </a:extLst>
          </p:cNvPr>
          <p:cNvSpPr/>
          <p:nvPr/>
        </p:nvSpPr>
        <p:spPr>
          <a:xfrm>
            <a:off x="10086975" y="347662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D13795C-C83D-1310-3C25-BB60185D3F10}"/>
              </a:ext>
            </a:extLst>
          </p:cNvPr>
          <p:cNvSpPr txBox="1"/>
          <p:nvPr/>
        </p:nvSpPr>
        <p:spPr>
          <a:xfrm>
            <a:off x="10175875" y="3514725"/>
            <a:ext cx="1368425"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Messy</a:t>
            </a:r>
          </a:p>
        </p:txBody>
      </p:sp>
      <p:sp>
        <p:nvSpPr>
          <p:cNvPr id="13" name="Rectangle 12">
            <a:extLst>
              <a:ext uri="{FF2B5EF4-FFF2-40B4-BE49-F238E27FC236}">
                <a16:creationId xmlns:a16="http://schemas.microsoft.com/office/drawing/2014/main" id="{C5501E75-2D12-F179-6863-81B4101CADEB}"/>
              </a:ext>
            </a:extLst>
          </p:cNvPr>
          <p:cNvSpPr/>
          <p:nvPr/>
        </p:nvSpPr>
        <p:spPr>
          <a:xfrm>
            <a:off x="10086975" y="422275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7427E2-B963-0F28-CAC2-B8E8465262B8}"/>
              </a:ext>
            </a:extLst>
          </p:cNvPr>
          <p:cNvSpPr txBox="1"/>
          <p:nvPr/>
        </p:nvSpPr>
        <p:spPr>
          <a:xfrm>
            <a:off x="10175875" y="4260850"/>
            <a:ext cx="1368425" cy="328295"/>
          </a:xfrm>
          <a:prstGeom prst="rect">
            <a:avLst/>
          </a:prstGeom>
          <a:noFill/>
        </p:spPr>
        <p:txBody>
          <a:bodyPr vert="horz" wrap="square" lIns="38100" tIns="25400" rIns="38100" bIns="25400" rtlCol="0">
            <a:spAutoFit/>
          </a:bodyPr>
          <a:lstStyle/>
          <a:p>
            <a:pPr algn="r" rtl="1">
              <a:spcAft>
                <a:spcPts val="400"/>
              </a:spcAft>
            </a:pPr>
            <a:r>
              <a:rPr lang="en-US" b="1">
                <a:solidFill>
                  <a:srgbClr val="30263B"/>
                </a:solidFill>
                <a:latin typeface="Arial" panose="020B0604020202020204" pitchFamily="34" charset="0"/>
                <a:cs typeface="Arial" panose="020B0604020202020204" pitchFamily="34" charset="0"/>
              </a:rPr>
              <a:t>Edge</a:t>
            </a:r>
          </a:p>
        </p:txBody>
      </p:sp>
      <p:sp>
        <p:nvSpPr>
          <p:cNvPr id="15" name="Rectangle 14">
            <a:extLst>
              <a:ext uri="{FF2B5EF4-FFF2-40B4-BE49-F238E27FC236}">
                <a16:creationId xmlns:a16="http://schemas.microsoft.com/office/drawing/2014/main" id="{56E1FCFF-87B7-2214-EB35-DBEB3B0C5AFF}"/>
              </a:ext>
            </a:extLst>
          </p:cNvPr>
          <p:cNvSpPr/>
          <p:nvPr/>
        </p:nvSpPr>
        <p:spPr>
          <a:xfrm>
            <a:off x="10086975" y="496887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787AD99-B52E-FF9B-9058-D32980BF15F9}"/>
              </a:ext>
            </a:extLst>
          </p:cNvPr>
          <p:cNvSpPr txBox="1"/>
          <p:nvPr/>
        </p:nvSpPr>
        <p:spPr>
          <a:xfrm>
            <a:off x="10175875" y="5006975"/>
            <a:ext cx="1368425"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المجموع</a:t>
            </a:r>
            <a:endParaRPr lang="en-US" b="1">
              <a:solidFill>
                <a:srgbClr val="30263B"/>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F95FA8DB-25CB-68F8-169A-A6FDB401A5EA}"/>
              </a:ext>
            </a:extLst>
          </p:cNvPr>
          <p:cNvSpPr/>
          <p:nvPr/>
        </p:nvSpPr>
        <p:spPr>
          <a:xfrm>
            <a:off x="8515350" y="2260600"/>
            <a:ext cx="1546225"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AFC6FB1-96B8-2502-49E8-A5F006E9090F}"/>
              </a:ext>
            </a:extLst>
          </p:cNvPr>
          <p:cNvSpPr txBox="1"/>
          <p:nvPr/>
        </p:nvSpPr>
        <p:spPr>
          <a:xfrm>
            <a:off x="8591550" y="2311400"/>
            <a:ext cx="1393825"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البريد + </a:t>
            </a:r>
            <a:r>
              <a:rPr lang="en-US" sz="1600" b="1">
                <a:solidFill>
                  <a:srgbClr val="FFFFFF"/>
                </a:solidFill>
                <a:latin typeface="Arial" panose="020B0604020202020204" pitchFamily="34" charset="0"/>
                <a:cs typeface="Arial" panose="020B0604020202020204" pitchFamily="34" charset="0"/>
              </a:rPr>
              <a:t>Excel</a:t>
            </a:r>
          </a:p>
        </p:txBody>
      </p:sp>
      <p:sp>
        <p:nvSpPr>
          <p:cNvPr id="19" name="Rectangle 18">
            <a:extLst>
              <a:ext uri="{FF2B5EF4-FFF2-40B4-BE49-F238E27FC236}">
                <a16:creationId xmlns:a16="http://schemas.microsoft.com/office/drawing/2014/main" id="{23C28882-9820-8F68-0A58-326D57990BB6}"/>
              </a:ext>
            </a:extLst>
          </p:cNvPr>
          <p:cNvSpPr/>
          <p:nvPr/>
        </p:nvSpPr>
        <p:spPr>
          <a:xfrm>
            <a:off x="8515350" y="273050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8DA0B75-4DD6-D397-8487-502E080D3534}"/>
              </a:ext>
            </a:extLst>
          </p:cNvPr>
          <p:cNvSpPr txBox="1"/>
          <p:nvPr/>
        </p:nvSpPr>
        <p:spPr>
          <a:xfrm>
            <a:off x="8604250" y="2768600"/>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2:38</a:t>
            </a:r>
          </a:p>
        </p:txBody>
      </p:sp>
      <p:sp>
        <p:nvSpPr>
          <p:cNvPr id="21" name="Rectangle 20">
            <a:extLst>
              <a:ext uri="{FF2B5EF4-FFF2-40B4-BE49-F238E27FC236}">
                <a16:creationId xmlns:a16="http://schemas.microsoft.com/office/drawing/2014/main" id="{5358E034-D122-E907-A0DB-679C38FAA7C5}"/>
              </a:ext>
            </a:extLst>
          </p:cNvPr>
          <p:cNvSpPr/>
          <p:nvPr/>
        </p:nvSpPr>
        <p:spPr>
          <a:xfrm>
            <a:off x="8515350" y="347662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93D5737-94FA-393A-D18A-FD5423C7030E}"/>
              </a:ext>
            </a:extLst>
          </p:cNvPr>
          <p:cNvSpPr txBox="1"/>
          <p:nvPr/>
        </p:nvSpPr>
        <p:spPr>
          <a:xfrm>
            <a:off x="8604250" y="3514725"/>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3:41</a:t>
            </a:r>
          </a:p>
        </p:txBody>
      </p:sp>
      <p:sp>
        <p:nvSpPr>
          <p:cNvPr id="23" name="Rectangle 22">
            <a:extLst>
              <a:ext uri="{FF2B5EF4-FFF2-40B4-BE49-F238E27FC236}">
                <a16:creationId xmlns:a16="http://schemas.microsoft.com/office/drawing/2014/main" id="{740A16CF-9A0B-5E68-13E4-65B063CC8061}"/>
              </a:ext>
            </a:extLst>
          </p:cNvPr>
          <p:cNvSpPr/>
          <p:nvPr/>
        </p:nvSpPr>
        <p:spPr>
          <a:xfrm>
            <a:off x="8515350" y="422275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1380A56-BA4A-B59E-B6DB-E05242AD6B01}"/>
              </a:ext>
            </a:extLst>
          </p:cNvPr>
          <p:cNvSpPr txBox="1"/>
          <p:nvPr/>
        </p:nvSpPr>
        <p:spPr>
          <a:xfrm>
            <a:off x="8604250" y="4260850"/>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5:58</a:t>
            </a:r>
          </a:p>
        </p:txBody>
      </p:sp>
      <p:sp>
        <p:nvSpPr>
          <p:cNvPr id="25" name="Rectangle 24">
            <a:extLst>
              <a:ext uri="{FF2B5EF4-FFF2-40B4-BE49-F238E27FC236}">
                <a16:creationId xmlns:a16="http://schemas.microsoft.com/office/drawing/2014/main" id="{C283B39F-E185-B780-C268-1981C98F3E0B}"/>
              </a:ext>
            </a:extLst>
          </p:cNvPr>
          <p:cNvSpPr/>
          <p:nvPr/>
        </p:nvSpPr>
        <p:spPr>
          <a:xfrm>
            <a:off x="8515350" y="496887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54FD5DF-BCAA-AA16-1787-17AA45EF2336}"/>
              </a:ext>
            </a:extLst>
          </p:cNvPr>
          <p:cNvSpPr txBox="1"/>
          <p:nvPr/>
        </p:nvSpPr>
        <p:spPr>
          <a:xfrm>
            <a:off x="8604250" y="5006975"/>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12:17</a:t>
            </a:r>
          </a:p>
        </p:txBody>
      </p:sp>
      <p:sp>
        <p:nvSpPr>
          <p:cNvPr id="27" name="Rectangle 26">
            <a:extLst>
              <a:ext uri="{FF2B5EF4-FFF2-40B4-BE49-F238E27FC236}">
                <a16:creationId xmlns:a16="http://schemas.microsoft.com/office/drawing/2014/main" id="{874BB9F5-9F71-EB9F-9722-077B4FC5DBB3}"/>
              </a:ext>
            </a:extLst>
          </p:cNvPr>
          <p:cNvSpPr/>
          <p:nvPr/>
        </p:nvSpPr>
        <p:spPr>
          <a:xfrm>
            <a:off x="6943725" y="2260600"/>
            <a:ext cx="1546225"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0145ACC-DE75-7424-86C0-9273B4CE2012}"/>
              </a:ext>
            </a:extLst>
          </p:cNvPr>
          <p:cNvSpPr txBox="1"/>
          <p:nvPr/>
        </p:nvSpPr>
        <p:spPr>
          <a:xfrm>
            <a:off x="7019925" y="2311400"/>
            <a:ext cx="1393825" cy="297517"/>
          </a:xfrm>
          <a:prstGeom prst="rect">
            <a:avLst/>
          </a:prstGeom>
          <a:noFill/>
        </p:spPr>
        <p:txBody>
          <a:bodyPr vert="horz" wrap="square" lIns="38100" tIns="25400" rIns="38100" bIns="25400" rtlCol="0">
            <a:spAutoFit/>
          </a:bodyPr>
          <a:lstStyle/>
          <a:p>
            <a:pPr algn="r" rtl="1">
              <a:spcAft>
                <a:spcPts val="400"/>
              </a:spcAft>
            </a:pPr>
            <a:r>
              <a:rPr lang="en-US" sz="1600" b="1">
                <a:solidFill>
                  <a:srgbClr val="FFFFFF"/>
                </a:solidFill>
                <a:latin typeface="Arial" panose="020B0604020202020204" pitchFamily="34" charset="0"/>
                <a:cs typeface="Arial" panose="020B0604020202020204" pitchFamily="34" charset="0"/>
              </a:rPr>
              <a:t>MeetSpace</a:t>
            </a:r>
          </a:p>
        </p:txBody>
      </p:sp>
      <p:sp>
        <p:nvSpPr>
          <p:cNvPr id="29" name="Rectangle 28">
            <a:extLst>
              <a:ext uri="{FF2B5EF4-FFF2-40B4-BE49-F238E27FC236}">
                <a16:creationId xmlns:a16="http://schemas.microsoft.com/office/drawing/2014/main" id="{C9ECC48A-BDCE-4298-87EE-33B6B6A4B91F}"/>
              </a:ext>
            </a:extLst>
          </p:cNvPr>
          <p:cNvSpPr/>
          <p:nvPr/>
        </p:nvSpPr>
        <p:spPr>
          <a:xfrm>
            <a:off x="6943725" y="273050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55D2115-856A-8AE8-394B-F7DBBC5D7CBE}"/>
              </a:ext>
            </a:extLst>
          </p:cNvPr>
          <p:cNvSpPr txBox="1"/>
          <p:nvPr/>
        </p:nvSpPr>
        <p:spPr>
          <a:xfrm>
            <a:off x="7032625" y="2768600"/>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0:58</a:t>
            </a:r>
          </a:p>
        </p:txBody>
      </p:sp>
      <p:sp>
        <p:nvSpPr>
          <p:cNvPr id="31" name="Rectangle 30">
            <a:extLst>
              <a:ext uri="{FF2B5EF4-FFF2-40B4-BE49-F238E27FC236}">
                <a16:creationId xmlns:a16="http://schemas.microsoft.com/office/drawing/2014/main" id="{1F1874DB-FA4C-78C2-CCA7-56916F88EE32}"/>
              </a:ext>
            </a:extLst>
          </p:cNvPr>
          <p:cNvSpPr/>
          <p:nvPr/>
        </p:nvSpPr>
        <p:spPr>
          <a:xfrm>
            <a:off x="6943725" y="347662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61E9850-787D-1544-56D4-BDF4FE8A7ADF}"/>
              </a:ext>
            </a:extLst>
          </p:cNvPr>
          <p:cNvSpPr txBox="1"/>
          <p:nvPr/>
        </p:nvSpPr>
        <p:spPr>
          <a:xfrm>
            <a:off x="7032625" y="3514725"/>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1:06</a:t>
            </a:r>
          </a:p>
        </p:txBody>
      </p:sp>
      <p:sp>
        <p:nvSpPr>
          <p:cNvPr id="33" name="Rectangle 32">
            <a:extLst>
              <a:ext uri="{FF2B5EF4-FFF2-40B4-BE49-F238E27FC236}">
                <a16:creationId xmlns:a16="http://schemas.microsoft.com/office/drawing/2014/main" id="{2317E22E-EFF2-145D-8CF9-157BBC137719}"/>
              </a:ext>
            </a:extLst>
          </p:cNvPr>
          <p:cNvSpPr/>
          <p:nvPr/>
        </p:nvSpPr>
        <p:spPr>
          <a:xfrm>
            <a:off x="6943725" y="422275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E2C460E-6F11-7B34-E861-CC8E5718CBB0}"/>
              </a:ext>
            </a:extLst>
          </p:cNvPr>
          <p:cNvSpPr txBox="1"/>
          <p:nvPr/>
        </p:nvSpPr>
        <p:spPr>
          <a:xfrm>
            <a:off x="7032625" y="4260850"/>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1:46</a:t>
            </a:r>
          </a:p>
        </p:txBody>
      </p:sp>
      <p:sp>
        <p:nvSpPr>
          <p:cNvPr id="35" name="Rectangle 34">
            <a:extLst>
              <a:ext uri="{FF2B5EF4-FFF2-40B4-BE49-F238E27FC236}">
                <a16:creationId xmlns:a16="http://schemas.microsoft.com/office/drawing/2014/main" id="{FB3B986D-2947-8F19-CEB3-58E243445DA5}"/>
              </a:ext>
            </a:extLst>
          </p:cNvPr>
          <p:cNvSpPr/>
          <p:nvPr/>
        </p:nvSpPr>
        <p:spPr>
          <a:xfrm>
            <a:off x="6943725" y="496887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57BBDFC-1D6C-D152-3AAE-C1BF793180AA}"/>
              </a:ext>
            </a:extLst>
          </p:cNvPr>
          <p:cNvSpPr txBox="1"/>
          <p:nvPr/>
        </p:nvSpPr>
        <p:spPr>
          <a:xfrm>
            <a:off x="7032625" y="5006975"/>
            <a:ext cx="1368425" cy="328295"/>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3:50</a:t>
            </a:r>
          </a:p>
        </p:txBody>
      </p:sp>
      <p:sp>
        <p:nvSpPr>
          <p:cNvPr id="37" name="Rectangle 36">
            <a:extLst>
              <a:ext uri="{FF2B5EF4-FFF2-40B4-BE49-F238E27FC236}">
                <a16:creationId xmlns:a16="http://schemas.microsoft.com/office/drawing/2014/main" id="{C2A89C39-CAD1-2DFA-7CB6-E038324D14ED}"/>
              </a:ext>
            </a:extLst>
          </p:cNvPr>
          <p:cNvSpPr/>
          <p:nvPr/>
        </p:nvSpPr>
        <p:spPr>
          <a:xfrm>
            <a:off x="5372100" y="2260600"/>
            <a:ext cx="1546225"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D39C047-E635-42F2-490C-8703AAD5115E}"/>
              </a:ext>
            </a:extLst>
          </p:cNvPr>
          <p:cNvSpPr txBox="1"/>
          <p:nvPr/>
        </p:nvSpPr>
        <p:spPr>
          <a:xfrm>
            <a:off x="5448300" y="2311400"/>
            <a:ext cx="1393825"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الوقت الموفر</a:t>
            </a:r>
            <a:endParaRPr lang="en-US" sz="1600" b="1">
              <a:solidFill>
                <a:srgbClr val="FFFFFF"/>
              </a:solidFill>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751ED4C4-9ADC-F9C8-EDF0-05BF7CDD9979}"/>
              </a:ext>
            </a:extLst>
          </p:cNvPr>
          <p:cNvSpPr/>
          <p:nvPr/>
        </p:nvSpPr>
        <p:spPr>
          <a:xfrm>
            <a:off x="5372100" y="273050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70C0F70-98CC-F38F-5B2F-C4704BFEBBA1}"/>
              </a:ext>
            </a:extLst>
          </p:cNvPr>
          <p:cNvSpPr txBox="1"/>
          <p:nvPr/>
        </p:nvSpPr>
        <p:spPr>
          <a:xfrm>
            <a:off x="5461000" y="2768600"/>
            <a:ext cx="1368425" cy="605294"/>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1:40 — 63.29%</a:t>
            </a:r>
          </a:p>
        </p:txBody>
      </p:sp>
      <p:sp>
        <p:nvSpPr>
          <p:cNvPr id="41" name="Rectangle 40">
            <a:extLst>
              <a:ext uri="{FF2B5EF4-FFF2-40B4-BE49-F238E27FC236}">
                <a16:creationId xmlns:a16="http://schemas.microsoft.com/office/drawing/2014/main" id="{42BE7AF8-CCA0-6E1D-4E96-E7B69964F9CA}"/>
              </a:ext>
            </a:extLst>
          </p:cNvPr>
          <p:cNvSpPr/>
          <p:nvPr/>
        </p:nvSpPr>
        <p:spPr>
          <a:xfrm>
            <a:off x="5372100" y="347662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E7F62857-CB78-264B-8648-DFCB388E0CD1}"/>
              </a:ext>
            </a:extLst>
          </p:cNvPr>
          <p:cNvSpPr txBox="1"/>
          <p:nvPr/>
        </p:nvSpPr>
        <p:spPr>
          <a:xfrm>
            <a:off x="5461000" y="3514725"/>
            <a:ext cx="1368425" cy="605294"/>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2:35 — 70.14%</a:t>
            </a:r>
          </a:p>
        </p:txBody>
      </p:sp>
      <p:sp>
        <p:nvSpPr>
          <p:cNvPr id="43" name="Rectangle 42">
            <a:extLst>
              <a:ext uri="{FF2B5EF4-FFF2-40B4-BE49-F238E27FC236}">
                <a16:creationId xmlns:a16="http://schemas.microsoft.com/office/drawing/2014/main" id="{7014CE38-F24B-1493-0923-126FFC720416}"/>
              </a:ext>
            </a:extLst>
          </p:cNvPr>
          <p:cNvSpPr/>
          <p:nvPr/>
        </p:nvSpPr>
        <p:spPr>
          <a:xfrm>
            <a:off x="5372100" y="4222750"/>
            <a:ext cx="1546225" cy="720725"/>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114C69D4-512B-370B-7F20-2776C056954E}"/>
              </a:ext>
            </a:extLst>
          </p:cNvPr>
          <p:cNvSpPr txBox="1"/>
          <p:nvPr/>
        </p:nvSpPr>
        <p:spPr>
          <a:xfrm>
            <a:off x="5461000" y="4260850"/>
            <a:ext cx="1368425" cy="605294"/>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4:12 — 70.39%</a:t>
            </a:r>
          </a:p>
        </p:txBody>
      </p:sp>
      <p:sp>
        <p:nvSpPr>
          <p:cNvPr id="45" name="Rectangle 44">
            <a:extLst>
              <a:ext uri="{FF2B5EF4-FFF2-40B4-BE49-F238E27FC236}">
                <a16:creationId xmlns:a16="http://schemas.microsoft.com/office/drawing/2014/main" id="{E9D63ED1-5E47-616A-9370-3822AABB59EA}"/>
              </a:ext>
            </a:extLst>
          </p:cNvPr>
          <p:cNvSpPr/>
          <p:nvPr/>
        </p:nvSpPr>
        <p:spPr>
          <a:xfrm>
            <a:off x="5372100" y="4968875"/>
            <a:ext cx="1546225" cy="720725"/>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803DA48-4EAB-72C2-D8E4-963410CD0E9D}"/>
              </a:ext>
            </a:extLst>
          </p:cNvPr>
          <p:cNvSpPr txBox="1"/>
          <p:nvPr/>
        </p:nvSpPr>
        <p:spPr>
          <a:xfrm>
            <a:off x="5461000" y="5006975"/>
            <a:ext cx="1368425" cy="605294"/>
          </a:xfrm>
          <a:prstGeom prst="rect">
            <a:avLst/>
          </a:prstGeom>
          <a:noFill/>
        </p:spPr>
        <p:txBody>
          <a:bodyPr vert="horz" wrap="square" lIns="38100" tIns="25400" rIns="38100" bIns="25400" rtlCol="0">
            <a:spAutoFit/>
          </a:bodyPr>
          <a:lstStyle/>
          <a:p>
            <a:pPr algn="r" rtl="1">
              <a:spcAft>
                <a:spcPts val="400"/>
              </a:spcAft>
            </a:pPr>
            <a:r>
              <a:rPr lang="en-US">
                <a:solidFill>
                  <a:srgbClr val="30263B"/>
                </a:solidFill>
                <a:latin typeface="Arial" panose="020B0604020202020204" pitchFamily="34" charset="0"/>
                <a:cs typeface="Arial" panose="020B0604020202020204" pitchFamily="34" charset="0"/>
              </a:rPr>
              <a:t>8:27 — 68.79%</a:t>
            </a:r>
          </a:p>
        </p:txBody>
      </p:sp>
      <p:sp>
        <p:nvSpPr>
          <p:cNvPr id="47" name="TextBox 46">
            <a:extLst>
              <a:ext uri="{FF2B5EF4-FFF2-40B4-BE49-F238E27FC236}">
                <a16:creationId xmlns:a16="http://schemas.microsoft.com/office/drawing/2014/main" id="{2D30F468-E6E1-DA3E-466C-358AD19EF4DE}"/>
              </a:ext>
            </a:extLst>
          </p:cNvPr>
          <p:cNvSpPr txBox="1"/>
          <p:nvPr/>
        </p:nvSpPr>
        <p:spPr>
          <a:xfrm>
            <a:off x="533400" y="2273300"/>
            <a:ext cx="4635500" cy="251351"/>
          </a:xfrm>
          <a:prstGeom prst="rect">
            <a:avLst/>
          </a:prstGeom>
          <a:noFill/>
        </p:spPr>
        <p:txBody>
          <a:bodyPr vert="horz" wrap="square" lIns="38100" tIns="25400" rIns="38100" bIns="25400" rtlCol="0">
            <a:spAutoFit/>
          </a:bodyPr>
          <a:lstStyle/>
          <a:p>
            <a:pPr>
              <a:spcAft>
                <a:spcPts val="400"/>
              </a:spcAft>
            </a:pPr>
            <a:r>
              <a:rPr lang="en-US" sz="1300">
                <a:solidFill>
                  <a:srgbClr val="6C6570"/>
                </a:solidFill>
                <a:latin typeface="Arial" panose="020B0604020202020204" pitchFamily="34" charset="0"/>
                <a:cs typeface="Arial" panose="020B0604020202020204" pitchFamily="34" charset="0"/>
              </a:rPr>
              <a:t>Elapsed seconds / actual reported data</a:t>
            </a:r>
          </a:p>
        </p:txBody>
      </p:sp>
      <p:sp>
        <p:nvSpPr>
          <p:cNvPr id="48" name="TextBox 47">
            <a:extLst>
              <a:ext uri="{FF2B5EF4-FFF2-40B4-BE49-F238E27FC236}">
                <a16:creationId xmlns:a16="http://schemas.microsoft.com/office/drawing/2014/main" id="{8B2C21F1-0A5E-5406-84B1-6715E61BB052}"/>
              </a:ext>
            </a:extLst>
          </p:cNvPr>
          <p:cNvSpPr txBox="1"/>
          <p:nvPr/>
        </p:nvSpPr>
        <p:spPr>
          <a:xfrm>
            <a:off x="533400" y="2781300"/>
            <a:ext cx="952500" cy="266740"/>
          </a:xfrm>
          <a:prstGeom prst="rect">
            <a:avLst/>
          </a:prstGeom>
          <a:noFill/>
        </p:spPr>
        <p:txBody>
          <a:bodyPr vert="horz" wrap="square" lIns="38100" tIns="25400" rIns="38100" bIns="25400" rtlCol="0">
            <a:spAutoFit/>
          </a:bodyPr>
          <a:lstStyle/>
          <a:p>
            <a:pPr>
              <a:spcAft>
                <a:spcPts val="400"/>
              </a:spcAft>
            </a:pPr>
            <a:r>
              <a:rPr lang="en-US" sz="1400" b="1">
                <a:solidFill>
                  <a:srgbClr val="30263B"/>
                </a:solidFill>
                <a:latin typeface="Arial" panose="020B0604020202020204" pitchFamily="34" charset="0"/>
                <a:cs typeface="Arial" panose="020B0604020202020204" pitchFamily="34" charset="0"/>
              </a:rPr>
              <a:t>Typical</a:t>
            </a:r>
          </a:p>
        </p:txBody>
      </p:sp>
      <p:sp>
        <p:nvSpPr>
          <p:cNvPr id="49" name="Rectangle 48">
            <a:extLst>
              <a:ext uri="{FF2B5EF4-FFF2-40B4-BE49-F238E27FC236}">
                <a16:creationId xmlns:a16="http://schemas.microsoft.com/office/drawing/2014/main" id="{4B6684B0-E6C2-9634-DD11-F69F680BCAAF}"/>
              </a:ext>
            </a:extLst>
          </p:cNvPr>
          <p:cNvSpPr/>
          <p:nvPr/>
        </p:nvSpPr>
        <p:spPr>
          <a:xfrm>
            <a:off x="1562100" y="2781300"/>
            <a:ext cx="1244092" cy="228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A654BE0-6EB3-7BE2-B7CB-511A9D8193C2}"/>
              </a:ext>
            </a:extLst>
          </p:cNvPr>
          <p:cNvSpPr/>
          <p:nvPr/>
        </p:nvSpPr>
        <p:spPr>
          <a:xfrm>
            <a:off x="1562100" y="3098800"/>
            <a:ext cx="456692" cy="228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4616A9F7-D2D3-2EC1-3AFD-DC1A95E5146B}"/>
              </a:ext>
            </a:extLst>
          </p:cNvPr>
          <p:cNvSpPr txBox="1"/>
          <p:nvPr/>
        </p:nvSpPr>
        <p:spPr>
          <a:xfrm>
            <a:off x="2869692" y="2768600"/>
            <a:ext cx="571500" cy="251351"/>
          </a:xfrm>
          <a:prstGeom prst="rect">
            <a:avLst/>
          </a:prstGeom>
          <a:noFill/>
        </p:spPr>
        <p:txBody>
          <a:bodyPr vert="horz" wrap="square" lIns="38100" tIns="25400" rIns="38100" bIns="25400" rtlCol="0">
            <a:spAutoFit/>
          </a:bodyPr>
          <a:lstStyle/>
          <a:p>
            <a:pPr>
              <a:spcAft>
                <a:spcPts val="400"/>
              </a:spcAft>
            </a:pPr>
            <a:r>
              <a:rPr lang="en-US" sz="1300" b="1">
                <a:solidFill>
                  <a:srgbClr val="5B2453"/>
                </a:solidFill>
                <a:latin typeface="Arial" panose="020B0604020202020204" pitchFamily="34" charset="0"/>
                <a:cs typeface="Arial" panose="020B0604020202020204" pitchFamily="34" charset="0"/>
              </a:rPr>
              <a:t>158</a:t>
            </a:r>
          </a:p>
        </p:txBody>
      </p:sp>
      <p:sp>
        <p:nvSpPr>
          <p:cNvPr id="52" name="TextBox 51">
            <a:extLst>
              <a:ext uri="{FF2B5EF4-FFF2-40B4-BE49-F238E27FC236}">
                <a16:creationId xmlns:a16="http://schemas.microsoft.com/office/drawing/2014/main" id="{9E7ECEA4-F6FA-3AFD-509D-A6B2708F3293}"/>
              </a:ext>
            </a:extLst>
          </p:cNvPr>
          <p:cNvSpPr txBox="1"/>
          <p:nvPr/>
        </p:nvSpPr>
        <p:spPr>
          <a:xfrm>
            <a:off x="2082292" y="3086100"/>
            <a:ext cx="571500" cy="251351"/>
          </a:xfrm>
          <a:prstGeom prst="rect">
            <a:avLst/>
          </a:prstGeom>
          <a:noFill/>
        </p:spPr>
        <p:txBody>
          <a:bodyPr vert="horz" wrap="square" lIns="38100" tIns="25400" rIns="38100" bIns="25400" rtlCol="0">
            <a:spAutoFit/>
          </a:bodyPr>
          <a:lstStyle/>
          <a:p>
            <a:pPr>
              <a:spcAft>
                <a:spcPts val="400"/>
              </a:spcAft>
            </a:pPr>
            <a:r>
              <a:rPr lang="en-US" sz="1300" b="1">
                <a:solidFill>
                  <a:srgbClr val="30263B"/>
                </a:solidFill>
                <a:latin typeface="Arial" panose="020B0604020202020204" pitchFamily="34" charset="0"/>
                <a:cs typeface="Arial" panose="020B0604020202020204" pitchFamily="34" charset="0"/>
              </a:rPr>
              <a:t>58</a:t>
            </a:r>
          </a:p>
        </p:txBody>
      </p:sp>
      <p:sp>
        <p:nvSpPr>
          <p:cNvPr id="53" name="TextBox 52">
            <a:extLst>
              <a:ext uri="{FF2B5EF4-FFF2-40B4-BE49-F238E27FC236}">
                <a16:creationId xmlns:a16="http://schemas.microsoft.com/office/drawing/2014/main" id="{59575411-FB53-1A8B-752E-847E91B22E59}"/>
              </a:ext>
            </a:extLst>
          </p:cNvPr>
          <p:cNvSpPr txBox="1"/>
          <p:nvPr/>
        </p:nvSpPr>
        <p:spPr>
          <a:xfrm>
            <a:off x="533400" y="3746500"/>
            <a:ext cx="952500" cy="266740"/>
          </a:xfrm>
          <a:prstGeom prst="rect">
            <a:avLst/>
          </a:prstGeom>
          <a:noFill/>
        </p:spPr>
        <p:txBody>
          <a:bodyPr vert="horz" wrap="square" lIns="38100" tIns="25400" rIns="38100" bIns="25400" rtlCol="0">
            <a:spAutoFit/>
          </a:bodyPr>
          <a:lstStyle/>
          <a:p>
            <a:pPr>
              <a:spcAft>
                <a:spcPts val="400"/>
              </a:spcAft>
            </a:pPr>
            <a:r>
              <a:rPr lang="en-US" sz="1400" b="1">
                <a:solidFill>
                  <a:srgbClr val="30263B"/>
                </a:solidFill>
                <a:latin typeface="Arial" panose="020B0604020202020204" pitchFamily="34" charset="0"/>
                <a:cs typeface="Arial" panose="020B0604020202020204" pitchFamily="34" charset="0"/>
              </a:rPr>
              <a:t>Messy</a:t>
            </a:r>
          </a:p>
        </p:txBody>
      </p:sp>
      <p:sp>
        <p:nvSpPr>
          <p:cNvPr id="54" name="Rectangle 53">
            <a:extLst>
              <a:ext uri="{FF2B5EF4-FFF2-40B4-BE49-F238E27FC236}">
                <a16:creationId xmlns:a16="http://schemas.microsoft.com/office/drawing/2014/main" id="{5CD9B998-A0C0-82FE-3191-500DAFFBF48D}"/>
              </a:ext>
            </a:extLst>
          </p:cNvPr>
          <p:cNvSpPr/>
          <p:nvPr/>
        </p:nvSpPr>
        <p:spPr>
          <a:xfrm>
            <a:off x="1562100" y="3746500"/>
            <a:ext cx="1740154" cy="228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7315962-6C36-B580-4054-1C412134A8B7}"/>
              </a:ext>
            </a:extLst>
          </p:cNvPr>
          <p:cNvSpPr/>
          <p:nvPr/>
        </p:nvSpPr>
        <p:spPr>
          <a:xfrm>
            <a:off x="1562100" y="4064000"/>
            <a:ext cx="519684" cy="228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502030EB-2CFC-3AF3-3EB9-4474F98982EB}"/>
              </a:ext>
            </a:extLst>
          </p:cNvPr>
          <p:cNvSpPr txBox="1"/>
          <p:nvPr/>
        </p:nvSpPr>
        <p:spPr>
          <a:xfrm>
            <a:off x="3365754" y="3733800"/>
            <a:ext cx="571500" cy="251351"/>
          </a:xfrm>
          <a:prstGeom prst="rect">
            <a:avLst/>
          </a:prstGeom>
          <a:noFill/>
        </p:spPr>
        <p:txBody>
          <a:bodyPr vert="horz" wrap="square" lIns="38100" tIns="25400" rIns="38100" bIns="25400" rtlCol="0">
            <a:spAutoFit/>
          </a:bodyPr>
          <a:lstStyle/>
          <a:p>
            <a:pPr>
              <a:spcAft>
                <a:spcPts val="400"/>
              </a:spcAft>
            </a:pPr>
            <a:r>
              <a:rPr lang="en-US" sz="1300" b="1">
                <a:solidFill>
                  <a:srgbClr val="5B2453"/>
                </a:solidFill>
                <a:latin typeface="Arial" panose="020B0604020202020204" pitchFamily="34" charset="0"/>
                <a:cs typeface="Arial" panose="020B0604020202020204" pitchFamily="34" charset="0"/>
              </a:rPr>
              <a:t>221</a:t>
            </a:r>
          </a:p>
        </p:txBody>
      </p:sp>
      <p:sp>
        <p:nvSpPr>
          <p:cNvPr id="57" name="TextBox 56">
            <a:extLst>
              <a:ext uri="{FF2B5EF4-FFF2-40B4-BE49-F238E27FC236}">
                <a16:creationId xmlns:a16="http://schemas.microsoft.com/office/drawing/2014/main" id="{7C5CE191-94DF-5A28-9843-F38381B5A8D1}"/>
              </a:ext>
            </a:extLst>
          </p:cNvPr>
          <p:cNvSpPr txBox="1"/>
          <p:nvPr/>
        </p:nvSpPr>
        <p:spPr>
          <a:xfrm>
            <a:off x="2145284" y="4051300"/>
            <a:ext cx="571500" cy="251351"/>
          </a:xfrm>
          <a:prstGeom prst="rect">
            <a:avLst/>
          </a:prstGeom>
          <a:noFill/>
        </p:spPr>
        <p:txBody>
          <a:bodyPr vert="horz" wrap="square" lIns="38100" tIns="25400" rIns="38100" bIns="25400" rtlCol="0">
            <a:spAutoFit/>
          </a:bodyPr>
          <a:lstStyle/>
          <a:p>
            <a:pPr>
              <a:spcAft>
                <a:spcPts val="400"/>
              </a:spcAft>
            </a:pPr>
            <a:r>
              <a:rPr lang="en-US" sz="1300" b="1">
                <a:solidFill>
                  <a:srgbClr val="30263B"/>
                </a:solidFill>
                <a:latin typeface="Arial" panose="020B0604020202020204" pitchFamily="34" charset="0"/>
                <a:cs typeface="Arial" panose="020B0604020202020204" pitchFamily="34" charset="0"/>
              </a:rPr>
              <a:t>66</a:t>
            </a:r>
          </a:p>
        </p:txBody>
      </p:sp>
      <p:sp>
        <p:nvSpPr>
          <p:cNvPr id="58" name="TextBox 57">
            <a:extLst>
              <a:ext uri="{FF2B5EF4-FFF2-40B4-BE49-F238E27FC236}">
                <a16:creationId xmlns:a16="http://schemas.microsoft.com/office/drawing/2014/main" id="{B309D5DC-AA3B-1C9D-FFBE-221C0D7411B8}"/>
              </a:ext>
            </a:extLst>
          </p:cNvPr>
          <p:cNvSpPr txBox="1"/>
          <p:nvPr/>
        </p:nvSpPr>
        <p:spPr>
          <a:xfrm>
            <a:off x="533400" y="4711700"/>
            <a:ext cx="952500" cy="266740"/>
          </a:xfrm>
          <a:prstGeom prst="rect">
            <a:avLst/>
          </a:prstGeom>
          <a:noFill/>
        </p:spPr>
        <p:txBody>
          <a:bodyPr vert="horz" wrap="square" lIns="38100" tIns="25400" rIns="38100" bIns="25400" rtlCol="0">
            <a:spAutoFit/>
          </a:bodyPr>
          <a:lstStyle/>
          <a:p>
            <a:pPr>
              <a:spcAft>
                <a:spcPts val="400"/>
              </a:spcAft>
            </a:pPr>
            <a:r>
              <a:rPr lang="en-US" sz="1400" b="1">
                <a:solidFill>
                  <a:srgbClr val="30263B"/>
                </a:solidFill>
                <a:latin typeface="Arial" panose="020B0604020202020204" pitchFamily="34" charset="0"/>
                <a:cs typeface="Arial" panose="020B0604020202020204" pitchFamily="34" charset="0"/>
              </a:rPr>
              <a:t>Edge</a:t>
            </a:r>
          </a:p>
        </p:txBody>
      </p:sp>
      <p:sp>
        <p:nvSpPr>
          <p:cNvPr id="59" name="Rectangle 58">
            <a:extLst>
              <a:ext uri="{FF2B5EF4-FFF2-40B4-BE49-F238E27FC236}">
                <a16:creationId xmlns:a16="http://schemas.microsoft.com/office/drawing/2014/main" id="{A65FE9BF-B6A2-9F79-B104-D64511DFB22A}"/>
              </a:ext>
            </a:extLst>
          </p:cNvPr>
          <p:cNvSpPr/>
          <p:nvPr/>
        </p:nvSpPr>
        <p:spPr>
          <a:xfrm>
            <a:off x="1562100" y="4711700"/>
            <a:ext cx="2818892" cy="228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0E11ADCD-87F2-5849-939E-FFB825A1512D}"/>
              </a:ext>
            </a:extLst>
          </p:cNvPr>
          <p:cNvSpPr/>
          <p:nvPr/>
        </p:nvSpPr>
        <p:spPr>
          <a:xfrm>
            <a:off x="1562100" y="5029200"/>
            <a:ext cx="834644" cy="228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46E7A782-6631-1E9D-7DA2-8C1B377605EE}"/>
              </a:ext>
            </a:extLst>
          </p:cNvPr>
          <p:cNvSpPr txBox="1"/>
          <p:nvPr/>
        </p:nvSpPr>
        <p:spPr>
          <a:xfrm>
            <a:off x="4444492" y="4699000"/>
            <a:ext cx="571500" cy="251351"/>
          </a:xfrm>
          <a:prstGeom prst="rect">
            <a:avLst/>
          </a:prstGeom>
          <a:noFill/>
        </p:spPr>
        <p:txBody>
          <a:bodyPr vert="horz" wrap="square" lIns="38100" tIns="25400" rIns="38100" bIns="25400" rtlCol="0">
            <a:spAutoFit/>
          </a:bodyPr>
          <a:lstStyle/>
          <a:p>
            <a:pPr>
              <a:spcAft>
                <a:spcPts val="400"/>
              </a:spcAft>
            </a:pPr>
            <a:r>
              <a:rPr lang="en-US" sz="1300" b="1">
                <a:solidFill>
                  <a:srgbClr val="5B2453"/>
                </a:solidFill>
                <a:latin typeface="Arial" panose="020B0604020202020204" pitchFamily="34" charset="0"/>
                <a:cs typeface="Arial" panose="020B0604020202020204" pitchFamily="34" charset="0"/>
              </a:rPr>
              <a:t>358</a:t>
            </a:r>
          </a:p>
        </p:txBody>
      </p:sp>
      <p:sp>
        <p:nvSpPr>
          <p:cNvPr id="62" name="TextBox 61">
            <a:extLst>
              <a:ext uri="{FF2B5EF4-FFF2-40B4-BE49-F238E27FC236}">
                <a16:creationId xmlns:a16="http://schemas.microsoft.com/office/drawing/2014/main" id="{8B2FADBA-209E-4203-8108-F1A2FF92C15B}"/>
              </a:ext>
            </a:extLst>
          </p:cNvPr>
          <p:cNvSpPr txBox="1"/>
          <p:nvPr/>
        </p:nvSpPr>
        <p:spPr>
          <a:xfrm>
            <a:off x="2460244" y="5016500"/>
            <a:ext cx="571500" cy="251351"/>
          </a:xfrm>
          <a:prstGeom prst="rect">
            <a:avLst/>
          </a:prstGeom>
          <a:noFill/>
        </p:spPr>
        <p:txBody>
          <a:bodyPr vert="horz" wrap="square" lIns="38100" tIns="25400" rIns="38100" bIns="25400" rtlCol="0">
            <a:spAutoFit/>
          </a:bodyPr>
          <a:lstStyle/>
          <a:p>
            <a:pPr>
              <a:spcAft>
                <a:spcPts val="400"/>
              </a:spcAft>
            </a:pPr>
            <a:r>
              <a:rPr lang="en-US" sz="1300" b="1">
                <a:solidFill>
                  <a:srgbClr val="30263B"/>
                </a:solidFill>
                <a:latin typeface="Arial" panose="020B0604020202020204" pitchFamily="34" charset="0"/>
                <a:cs typeface="Arial" panose="020B0604020202020204" pitchFamily="34" charset="0"/>
              </a:rPr>
              <a:t>106</a:t>
            </a:r>
          </a:p>
        </p:txBody>
      </p:sp>
      <p:sp>
        <p:nvSpPr>
          <p:cNvPr id="63" name="TextBox 62">
            <a:extLst>
              <a:ext uri="{FF2B5EF4-FFF2-40B4-BE49-F238E27FC236}">
                <a16:creationId xmlns:a16="http://schemas.microsoft.com/office/drawing/2014/main" id="{DCBC4F6A-4F2E-6487-94AB-E924CB660D7D}"/>
              </a:ext>
            </a:extLst>
          </p:cNvPr>
          <p:cNvSpPr txBox="1"/>
          <p:nvPr/>
        </p:nvSpPr>
        <p:spPr>
          <a:xfrm>
            <a:off x="533400" y="5753100"/>
            <a:ext cx="4635500" cy="235962"/>
          </a:xfrm>
          <a:prstGeom prst="rect">
            <a:avLst/>
          </a:prstGeom>
          <a:noFill/>
        </p:spPr>
        <p:txBody>
          <a:bodyPr vert="horz" wrap="square" lIns="38100" tIns="25400" rIns="38100" bIns="25400" rtlCol="0">
            <a:spAutoFit/>
          </a:bodyPr>
          <a:lstStyle/>
          <a:p>
            <a:pPr>
              <a:spcAft>
                <a:spcPts val="400"/>
              </a:spcAft>
            </a:pPr>
            <a:r>
              <a:rPr lang="en-US" sz="1200">
                <a:solidFill>
                  <a:srgbClr val="6C6570"/>
                </a:solidFill>
                <a:latin typeface="Arial" panose="020B0604020202020204" pitchFamily="34" charset="0"/>
                <a:cs typeface="Arial" panose="020B0604020202020204" pitchFamily="34" charset="0"/>
              </a:rPr>
              <a:t>Plum: Email + Excel | Mint: MeetSpace</a:t>
            </a:r>
          </a:p>
        </p:txBody>
      </p:sp>
      <p:sp>
        <p:nvSpPr>
          <p:cNvPr id="64" name="TextBox 63">
            <a:extLst>
              <a:ext uri="{FF2B5EF4-FFF2-40B4-BE49-F238E27FC236}">
                <a16:creationId xmlns:a16="http://schemas.microsoft.com/office/drawing/2014/main" id="{6D9D8BD0-2B52-93C9-B85D-6B123FEB0F6D}"/>
              </a:ext>
            </a:extLst>
          </p:cNvPr>
          <p:cNvSpPr txBox="1"/>
          <p:nvPr/>
        </p:nvSpPr>
        <p:spPr>
          <a:xfrm>
            <a:off x="5372100" y="5778500"/>
            <a:ext cx="6286500" cy="343684"/>
          </a:xfrm>
          <a:prstGeom prst="rect">
            <a:avLst/>
          </a:prstGeom>
          <a:noFill/>
        </p:spPr>
        <p:txBody>
          <a:bodyPr vert="horz" wrap="square" lIns="38100" tIns="25400" rIns="38100" bIns="25400" rtlCol="0">
            <a:spAutoFit/>
          </a:bodyPr>
          <a:lstStyle/>
          <a:p>
            <a:pPr algn="ctr">
              <a:spcAft>
                <a:spcPts val="400"/>
              </a:spcAft>
            </a:pPr>
            <a:r>
              <a:rPr lang="en-US" sz="1900" b="1">
                <a:solidFill>
                  <a:srgbClr val="5B2453"/>
                </a:solidFill>
                <a:latin typeface="Arial" panose="020B0604020202020204" pitchFamily="34" charset="0"/>
                <a:cs typeface="Arial" panose="020B0604020202020204" pitchFamily="34" charset="0"/>
              </a:rPr>
              <a:t>68.79% observed total time reduction</a:t>
            </a:r>
          </a:p>
        </p:txBody>
      </p:sp>
      <p:sp>
        <p:nvSpPr>
          <p:cNvPr id="65" name="Rectangle 64">
            <a:extLst>
              <a:ext uri="{FF2B5EF4-FFF2-40B4-BE49-F238E27FC236}">
                <a16:creationId xmlns:a16="http://schemas.microsoft.com/office/drawing/2014/main" id="{F69AB908-98C2-3D15-0D5B-C8C4A7BF5B70}"/>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428C08FC-BA42-12EB-C82D-5E03E3383AF0}"/>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E03: CSV + Productivity_Results.md | (737 − 230) ÷ 737 × 100 = 68.79%</a:t>
            </a:r>
          </a:p>
        </p:txBody>
      </p:sp>
    </p:spTree>
    <p:extLst>
      <p:ext uri="{BB962C8B-B14F-4D97-AF65-F5344CB8AC3E}">
        <p14:creationId xmlns:p14="http://schemas.microsoft.com/office/powerpoint/2010/main" val="2589802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83706F-9FE3-91F1-88EB-8CB4D9BB2093}"/>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12DBF5D-C669-E00B-DF22-7051B8DCE696}"/>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DFC21FDC-0635-F98B-6872-8A1F5138BEB8}"/>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20 / 27</a:t>
            </a:r>
          </a:p>
        </p:txBody>
      </p:sp>
      <p:sp>
        <p:nvSpPr>
          <p:cNvPr id="5" name="TextBox 4">
            <a:extLst>
              <a:ext uri="{FF2B5EF4-FFF2-40B4-BE49-F238E27FC236}">
                <a16:creationId xmlns:a16="http://schemas.microsoft.com/office/drawing/2014/main" id="{CD9C0552-36DC-C506-6908-3AB0EF097C0D}"/>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تفسير النتائج وحدود الاستنتاج</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3CC0BD2-2F76-A51B-6986-32D4FF62437A}"/>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كانت الحالات أسرع في </a:t>
            </a:r>
            <a:r>
              <a:rPr lang="en-US" sz="1900">
                <a:solidFill>
                  <a:srgbClr val="30263B"/>
                </a:solidFill>
                <a:latin typeface="Arial" panose="020B0604020202020204" pitchFamily="34" charset="0"/>
                <a:cs typeface="Arial" panose="020B0604020202020204" pitchFamily="34" charset="0"/>
              </a:rPr>
              <a:t>MeetSpace </a:t>
            </a:r>
            <a:r>
              <a:rPr lang="ar-SA" sz="1900">
                <a:solidFill>
                  <a:srgbClr val="30263B"/>
                </a:solidFill>
                <a:latin typeface="Arial" panose="020B0604020202020204" pitchFamily="34" charset="0"/>
                <a:cs typeface="Arial" panose="020B0604020202020204" pitchFamily="34" charset="0"/>
              </a:rPr>
              <a:t>في الأزمنة المبلّغ عنها جميعها؛ لم تتوفر قياسات أخطاء تُثبت انخفاضها أو ارتفاعها.</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1DD8B0A4-E5DF-0C78-115B-5699F2B0BDD4}"/>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28950D2-74CC-2D5D-B8E8-14075C48773B}"/>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8513CB9-2F5E-2A01-6B94-C5CDB75C9FFE}"/>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ما يدعم المقارنة</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8690F60-B26A-C89E-7B98-BB982F3DF43D}"/>
              </a:ext>
            </a:extLst>
          </p:cNvPr>
          <p:cNvSpPr txBox="1"/>
          <p:nvPr/>
        </p:nvSpPr>
        <p:spPr>
          <a:xfrm>
            <a:off x="8233833"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متطلبات وظروف متطابقة بحسب إفادة المشاركة؛ لم يُضَف انتظار بريد مصطنع. شخص واحد أدّى الدورين، ببيانات تعليمية افتراضية، وجولة واحدة لكل حالة وطريقة.</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38A43590-BD39-7667-1C3C-6EFD593D67A6}"/>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529E9B2-F324-76A4-062A-D7F87BE8A5D3}"/>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C471D96-FBDF-DA70-ECD0-ADBA516E8C16}"/>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ما لم يُقَس</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2ED0BA2-642D-E87B-C9F3-3759F53DCEB2}"/>
              </a:ext>
            </a:extLst>
          </p:cNvPr>
          <p:cNvSpPr txBox="1"/>
          <p:nvPr/>
        </p:nvSpPr>
        <p:spPr>
          <a:xfrm>
            <a:off x="4466167" y="3175000"/>
            <a:ext cx="3259667" cy="1805623"/>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وقت العمل النشط والانتظار منفصلين، عدد الأدوار والأخطاء والتصحيحات، تكرار شهري، ترتيب التشغيل وحالة تسخين النموذج ونسخة التطبيق أثناء كل جولة. الحقول غير المتاحة بقيت فارغة في </a:t>
            </a:r>
            <a:r>
              <a:rPr lang="en-US" sz="1900">
                <a:solidFill>
                  <a:srgbClr val="30263B"/>
                </a:solidFill>
                <a:latin typeface="Arial" panose="020B0604020202020204" pitchFamily="34" charset="0"/>
                <a:cs typeface="Arial" panose="020B0604020202020204" pitchFamily="34" charset="0"/>
              </a:rPr>
              <a:t>CSV.</a:t>
            </a:r>
          </a:p>
        </p:txBody>
      </p:sp>
      <p:sp>
        <p:nvSpPr>
          <p:cNvPr id="15" name="Rectangle: Rounded Corners 14">
            <a:extLst>
              <a:ext uri="{FF2B5EF4-FFF2-40B4-BE49-F238E27FC236}">
                <a16:creationId xmlns:a16="http://schemas.microsoft.com/office/drawing/2014/main" id="{42F5A85A-BFA7-B3EF-8BF4-7F51D38F5A21}"/>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ADCBE90-0A5B-D282-2320-A4350BA89624}"/>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7045FE1-7DB1-1D76-F631-0118ED784447}"/>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حدود الإثبات</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967C7A61-1EB3-A2B7-9C3C-0DC86FF18F3B}"/>
              </a:ext>
            </a:extLst>
          </p:cNvPr>
          <p:cNvSpPr txBox="1"/>
          <p:nvPr/>
        </p:nvSpPr>
        <p:spPr>
          <a:xfrm>
            <a:off x="698500" y="3175000"/>
            <a:ext cx="3259667" cy="1805623"/>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الإتمام مُبلّغ عنه من المالكة؛ لا ربط مباشر لمعرّفات حجوزات الجولات أو سجلات مؤقت/</a:t>
            </a:r>
            <a:r>
              <a:rPr lang="en-US" sz="1900">
                <a:solidFill>
                  <a:srgbClr val="30263B"/>
                </a:solidFill>
                <a:latin typeface="Arial" panose="020B0604020202020204" pitchFamily="34" charset="0"/>
                <a:cs typeface="Arial" panose="020B0604020202020204" pitchFamily="34" charset="0"/>
              </a:rPr>
              <a:t>Excel </a:t>
            </a:r>
            <a:r>
              <a:rPr lang="ar-SA" sz="1900">
                <a:solidFill>
                  <a:srgbClr val="30263B"/>
                </a:solidFill>
                <a:latin typeface="Arial" panose="020B0604020202020204" pitchFamily="34" charset="0"/>
                <a:cs typeface="Arial" panose="020B0604020202020204" pitchFamily="34" charset="0"/>
              </a:rPr>
              <a:t>مستقلة. صور هذا العرض لا تثبت زمن تلك الجولات. لا تعميم إحصائي أو توفير شهري مؤكد أو نسبة خفض أخطاء.</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7357F41A-40F3-F1F9-730B-AE0C7F68161B}"/>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2AF904C-B055-4843-9BEE-DF5580DB26B5}"/>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E03: Productivity_Results.md §§4،7–10؛ </a:t>
            </a:r>
            <a:r>
              <a:rPr lang="ar-SA" sz="1000">
                <a:solidFill>
                  <a:srgbClr val="6C6570"/>
                </a:solidFill>
                <a:latin typeface="Arial" panose="020B0604020202020204" pitchFamily="34" charset="0"/>
                <a:cs typeface="Arial" panose="020B0604020202020204" pitchFamily="34" charset="0"/>
              </a:rPr>
              <a:t>ليست قياسات استدلال </a:t>
            </a:r>
            <a:r>
              <a:rPr lang="en-US" sz="1000">
                <a:solidFill>
                  <a:srgbClr val="6C6570"/>
                </a:solidFill>
                <a:latin typeface="Arial" panose="020B0604020202020204" pitchFamily="34" charset="0"/>
                <a:cs typeface="Arial" panose="020B0604020202020204" pitchFamily="34" charset="0"/>
              </a:rPr>
              <a:t>M4</a:t>
            </a:r>
          </a:p>
        </p:txBody>
      </p:sp>
    </p:spTree>
    <p:extLst>
      <p:ext uri="{BB962C8B-B14F-4D97-AF65-F5344CB8AC3E}">
        <p14:creationId xmlns:p14="http://schemas.microsoft.com/office/powerpoint/2010/main" val="1094954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D4257D-87A8-A562-AD87-B7B40F0AAADC}"/>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AD4399-DD06-1D3C-988F-E4F1C59E0E58}"/>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8911742B-94DA-1FBD-9BFB-49E24D9F0A05}"/>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21 / 27</a:t>
            </a:r>
          </a:p>
        </p:txBody>
      </p:sp>
      <p:sp>
        <p:nvSpPr>
          <p:cNvPr id="5" name="TextBox 4">
            <a:extLst>
              <a:ext uri="{FF2B5EF4-FFF2-40B4-BE49-F238E27FC236}">
                <a16:creationId xmlns:a16="http://schemas.microsoft.com/office/drawing/2014/main" id="{DEA4F8DD-91BD-BA5F-3E59-D36BD5C52C04}"/>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المخاطر والضوابط والإفصاح</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E4F44A3-325B-5ADD-5A32-C89EB4D3E93A}"/>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المراجعة البشرية تبقى مطلوبة؛ حفظ الحجز مسؤولية الخادم وليس وعد النموذج.</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FDEC4A28-9375-74C2-AA6B-F496D32BD565}"/>
              </a:ext>
            </a:extLst>
          </p:cNvPr>
          <p:cNvSpPr/>
          <p:nvPr/>
        </p:nvSpPr>
        <p:spPr>
          <a:xfrm>
            <a:off x="60960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34FE48C-AE4F-360F-B3F6-F78033B3C33E}"/>
              </a:ext>
            </a:extLst>
          </p:cNvPr>
          <p:cNvSpPr txBox="1"/>
          <p:nvPr/>
        </p:nvSpPr>
        <p:spPr>
          <a:xfrm>
            <a:off x="61722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الخطر</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EA5C3C0-6160-A483-9FE2-F6EB9C7205C2}"/>
              </a:ext>
            </a:extLst>
          </p:cNvPr>
          <p:cNvSpPr/>
          <p:nvPr/>
        </p:nvSpPr>
        <p:spPr>
          <a:xfrm>
            <a:off x="6096000" y="27305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9990F-DFA2-30AD-B771-0E6565022C19}"/>
              </a:ext>
            </a:extLst>
          </p:cNvPr>
          <p:cNvSpPr txBox="1"/>
          <p:nvPr/>
        </p:nvSpPr>
        <p:spPr>
          <a:xfrm>
            <a:off x="6184900" y="2768600"/>
            <a:ext cx="53594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نجاح مختلق أو تعارض مزدوج</a:t>
            </a:r>
            <a:endParaRPr lang="en-US"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5FF91FDD-C1C8-73AE-579C-6EB481D5E15D}"/>
              </a:ext>
            </a:extLst>
          </p:cNvPr>
          <p:cNvSpPr/>
          <p:nvPr/>
        </p:nvSpPr>
        <p:spPr>
          <a:xfrm>
            <a:off x="6096000" y="32956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881E63E-81DF-066E-DCFC-E69CDFF2973E}"/>
              </a:ext>
            </a:extLst>
          </p:cNvPr>
          <p:cNvSpPr txBox="1"/>
          <p:nvPr/>
        </p:nvSpPr>
        <p:spPr>
          <a:xfrm>
            <a:off x="6184900" y="3333750"/>
            <a:ext cx="53594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حجز غير مناسب بسبب فهم خاطئ</a:t>
            </a:r>
            <a:endParaRPr lang="en-US"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6507AC9-3577-7F56-19BD-95C8D950F196}"/>
              </a:ext>
            </a:extLst>
          </p:cNvPr>
          <p:cNvSpPr/>
          <p:nvPr/>
        </p:nvSpPr>
        <p:spPr>
          <a:xfrm>
            <a:off x="6096000" y="38608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1619315-33FE-3A2E-69B4-EBC66CB64348}"/>
              </a:ext>
            </a:extLst>
          </p:cNvPr>
          <p:cNvSpPr txBox="1"/>
          <p:nvPr/>
        </p:nvSpPr>
        <p:spPr>
          <a:xfrm>
            <a:off x="6184900" y="3898900"/>
            <a:ext cx="53594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تسرب بيانات أو إساءة دور المسؤول</a:t>
            </a:r>
            <a:endParaRPr lang="en-US"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9E2591C1-0995-23D8-F27A-6743FADAF4BA}"/>
              </a:ext>
            </a:extLst>
          </p:cNvPr>
          <p:cNvSpPr/>
          <p:nvPr/>
        </p:nvSpPr>
        <p:spPr>
          <a:xfrm>
            <a:off x="6096000" y="44259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50563F5-1E79-A5BF-DDC3-62470B5ABED8}"/>
              </a:ext>
            </a:extLst>
          </p:cNvPr>
          <p:cNvSpPr txBox="1"/>
          <p:nvPr/>
        </p:nvSpPr>
        <p:spPr>
          <a:xfrm>
            <a:off x="6184900" y="4464050"/>
            <a:ext cx="5359400" cy="328295"/>
          </a:xfrm>
          <a:prstGeom prst="rect">
            <a:avLst/>
          </a:prstGeom>
          <a:noFill/>
        </p:spPr>
        <p:txBody>
          <a:bodyPr vert="horz" wrap="square" lIns="38100" tIns="25400" rIns="38100" bIns="25400" rtlCol="0">
            <a:spAutoFit/>
          </a:bodyPr>
          <a:lstStyle/>
          <a:p>
            <a:pPr algn="r" rtl="1">
              <a:spcAft>
                <a:spcPts val="400"/>
              </a:spcAft>
            </a:pPr>
            <a:r>
              <a:rPr lang="ar-SA" b="1">
                <a:solidFill>
                  <a:srgbClr val="30263B"/>
                </a:solidFill>
                <a:latin typeface="Arial" panose="020B0604020202020204" pitchFamily="34" charset="0"/>
                <a:cs typeface="Arial" panose="020B0604020202020204" pitchFamily="34" charset="0"/>
              </a:rPr>
              <a:t>تعطل الشبكة أو النموذج</a:t>
            </a:r>
            <a:endParaRPr lang="en-US" b="1">
              <a:solidFill>
                <a:srgbClr val="30263B"/>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5A4A2C66-24E0-3438-E071-736E10B87B73}"/>
              </a:ext>
            </a:extLst>
          </p:cNvPr>
          <p:cNvSpPr/>
          <p:nvPr/>
        </p:nvSpPr>
        <p:spPr>
          <a:xfrm>
            <a:off x="5334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AC8B6FD-60B6-FAEE-FA94-969C8620A308}"/>
              </a:ext>
            </a:extLst>
          </p:cNvPr>
          <p:cNvSpPr txBox="1"/>
          <p:nvPr/>
        </p:nvSpPr>
        <p:spPr>
          <a:xfrm>
            <a:off x="6096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الضابط / المسؤولية المتبقية</a:t>
            </a:r>
            <a:endParaRPr lang="en-US" sz="1600" b="1">
              <a:solidFill>
                <a:srgbClr val="FFFFFF"/>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4DED02F9-F0F1-4A34-DBCB-0EB5B0BAB820}"/>
              </a:ext>
            </a:extLst>
          </p:cNvPr>
          <p:cNvSpPr/>
          <p:nvPr/>
        </p:nvSpPr>
        <p:spPr>
          <a:xfrm>
            <a:off x="533400" y="27305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A740C6C-498D-FC7E-3A8B-13473B06E346}"/>
              </a:ext>
            </a:extLst>
          </p:cNvPr>
          <p:cNvSpPr txBox="1"/>
          <p:nvPr/>
        </p:nvSpPr>
        <p:spPr>
          <a:xfrm>
            <a:off x="622300" y="2768600"/>
            <a:ext cx="5359400" cy="297517"/>
          </a:xfrm>
          <a:prstGeom prst="rect">
            <a:avLst/>
          </a:prstGeom>
          <a:noFill/>
        </p:spPr>
        <p:txBody>
          <a:bodyPr vert="horz" wrap="square" lIns="38100" tIns="25400" rIns="38100" bIns="25400" rtlCol="0">
            <a:spAutoFit/>
          </a:bodyPr>
          <a:lstStyle/>
          <a:p>
            <a:pPr algn="r" rtl="1">
              <a:spcAft>
                <a:spcPts val="400"/>
              </a:spcAft>
            </a:pPr>
            <a:r>
              <a:rPr lang="ar-SA" sz="1600">
                <a:solidFill>
                  <a:srgbClr val="30263B"/>
                </a:solidFill>
                <a:latin typeface="Arial" panose="020B0604020202020204" pitchFamily="34" charset="0"/>
                <a:cs typeface="Arial" panose="020B0604020202020204" pitchFamily="34" charset="0"/>
              </a:rPr>
              <a:t>تحقق حتمي ومعاملة ذرية ومفتاح عرض ثابت؛ المستخدم يراجع الإيصال والتقويم.</a:t>
            </a:r>
            <a:endParaRPr lang="en-US" sz="1600">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C479E03D-EE1B-14FC-4CAB-D75FD87D1BCB}"/>
              </a:ext>
            </a:extLst>
          </p:cNvPr>
          <p:cNvSpPr/>
          <p:nvPr/>
        </p:nvSpPr>
        <p:spPr>
          <a:xfrm>
            <a:off x="533400" y="32956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D8FB6F6-B2B9-E443-FCAA-96A15B59722C}"/>
              </a:ext>
            </a:extLst>
          </p:cNvPr>
          <p:cNvSpPr txBox="1"/>
          <p:nvPr/>
        </p:nvSpPr>
        <p:spPr>
          <a:xfrm>
            <a:off x="622300" y="3333750"/>
            <a:ext cx="5359400" cy="282129"/>
          </a:xfrm>
          <a:prstGeom prst="rect">
            <a:avLst/>
          </a:prstGeom>
          <a:noFill/>
        </p:spPr>
        <p:txBody>
          <a:bodyPr vert="horz" wrap="square" lIns="38100" tIns="25400" rIns="38100" bIns="25400" rtlCol="0">
            <a:spAutoFit/>
          </a:bodyPr>
          <a:lstStyle/>
          <a:p>
            <a:pPr algn="r" rtl="1">
              <a:spcAft>
                <a:spcPts val="400"/>
              </a:spcAft>
            </a:pPr>
            <a:r>
              <a:rPr lang="ar-SA" sz="1500">
                <a:solidFill>
                  <a:srgbClr val="30263B"/>
                </a:solidFill>
                <a:latin typeface="Arial" panose="020B0604020202020204" pitchFamily="34" charset="0"/>
                <a:cs typeface="Arial" panose="020B0604020202020204" pitchFamily="34" charset="0"/>
              </a:rPr>
              <a:t>استيضاح الغموض وعرض التفاصيل وتأكيد صريح؛ المستخدم مسؤول عن دقة الطلب.</a:t>
            </a:r>
            <a:endParaRPr lang="en-US" sz="1500">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C8C2D068-01C1-D466-570C-932D33C7F0E1}"/>
              </a:ext>
            </a:extLst>
          </p:cNvPr>
          <p:cNvSpPr/>
          <p:nvPr/>
        </p:nvSpPr>
        <p:spPr>
          <a:xfrm>
            <a:off x="533400" y="3860800"/>
            <a:ext cx="5537200" cy="5397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EE07B07-7E34-D876-F2D2-423A09479EEA}"/>
              </a:ext>
            </a:extLst>
          </p:cNvPr>
          <p:cNvSpPr txBox="1"/>
          <p:nvPr/>
        </p:nvSpPr>
        <p:spPr>
          <a:xfrm>
            <a:off x="622300" y="3898900"/>
            <a:ext cx="5359400" cy="482183"/>
          </a:xfrm>
          <a:prstGeom prst="rect">
            <a:avLst/>
          </a:prstGeom>
          <a:noFill/>
        </p:spPr>
        <p:txBody>
          <a:bodyPr vert="horz" wrap="square" lIns="38100" tIns="25400" rIns="38100" bIns="25400" rtlCol="0">
            <a:spAutoFit/>
          </a:bodyPr>
          <a:lstStyle/>
          <a:p>
            <a:pPr algn="r" rtl="1">
              <a:spcAft>
                <a:spcPts val="400"/>
              </a:spcAft>
            </a:pPr>
            <a:r>
              <a:rPr lang="ar-SA" sz="1400">
                <a:solidFill>
                  <a:srgbClr val="30263B"/>
                </a:solidFill>
                <a:latin typeface="Arial" panose="020B0604020202020204" pitchFamily="34" charset="0"/>
                <a:cs typeface="Arial" panose="020B0604020202020204" pitchFamily="34" charset="0"/>
              </a:rPr>
              <a:t>بيانات وهمية وأسرار خارج </a:t>
            </a:r>
            <a:r>
              <a:rPr lang="en-US" sz="1400">
                <a:solidFill>
                  <a:srgbClr val="30263B"/>
                </a:solidFill>
                <a:latin typeface="Arial" panose="020B0604020202020204" pitchFamily="34" charset="0"/>
                <a:cs typeface="Arial" panose="020B0604020202020204" pitchFamily="34" charset="0"/>
              </a:rPr>
              <a:t>Git </a:t>
            </a:r>
            <a:r>
              <a:rPr lang="ar-SA" sz="1400">
                <a:solidFill>
                  <a:srgbClr val="30263B"/>
                </a:solidFill>
                <a:latin typeface="Arial" panose="020B0604020202020204" pitchFamily="34" charset="0"/>
                <a:cs typeface="Arial" panose="020B0604020202020204" pitchFamily="34" charset="0"/>
              </a:rPr>
              <a:t>وتشغيل محلي فقط؛ لا تشغيل مؤسسي قبل تصريح بيانات ومصادقة معتمدة.</a:t>
            </a:r>
            <a:endParaRPr lang="en-US" sz="1400">
              <a:solidFill>
                <a:srgbClr val="30263B"/>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4B8AC030-B61A-EFB1-06B7-42FAA48AAC21}"/>
              </a:ext>
            </a:extLst>
          </p:cNvPr>
          <p:cNvSpPr/>
          <p:nvPr/>
        </p:nvSpPr>
        <p:spPr>
          <a:xfrm>
            <a:off x="533400" y="4425950"/>
            <a:ext cx="5537200" cy="5397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E048BBD-E6C5-1CB3-2A3E-B3F12E96CB2D}"/>
              </a:ext>
            </a:extLst>
          </p:cNvPr>
          <p:cNvSpPr txBox="1"/>
          <p:nvPr/>
        </p:nvSpPr>
        <p:spPr>
          <a:xfrm>
            <a:off x="622300" y="4464050"/>
            <a:ext cx="5359400" cy="482183"/>
          </a:xfrm>
          <a:prstGeom prst="rect">
            <a:avLst/>
          </a:prstGeom>
          <a:noFill/>
        </p:spPr>
        <p:txBody>
          <a:bodyPr vert="horz" wrap="square" lIns="38100" tIns="25400" rIns="38100" bIns="25400" rtlCol="0">
            <a:spAutoFit/>
          </a:bodyPr>
          <a:lstStyle/>
          <a:p>
            <a:pPr algn="r" rtl="1">
              <a:spcAft>
                <a:spcPts val="400"/>
              </a:spcAft>
            </a:pPr>
            <a:r>
              <a:rPr lang="ar-SA" sz="1400">
                <a:solidFill>
                  <a:srgbClr val="30263B"/>
                </a:solidFill>
                <a:latin typeface="Arial" panose="020B0604020202020204" pitchFamily="34" charset="0"/>
                <a:cs typeface="Arial" panose="020B0604020202020204" pitchFamily="34" charset="0"/>
              </a:rPr>
              <a:t>عرض خطأ دون نجاح وهمي؛ فحص حالة الحفظ قبل إعادة المحاولة. اختبارات الانقطاع كانت حقن أخطاء وليست قطع خدمات ماديًا.</a:t>
            </a:r>
            <a:endParaRPr lang="en-US" sz="1400">
              <a:solidFill>
                <a:srgbClr val="30263B"/>
              </a:solidFill>
              <a:latin typeface="Arial" panose="020B0604020202020204" pitchFamily="34" charset="0"/>
              <a:cs typeface="Arial" panose="020B0604020202020204" pitchFamily="34" charset="0"/>
            </a:endParaRPr>
          </a:p>
        </p:txBody>
      </p:sp>
      <p:sp>
        <p:nvSpPr>
          <p:cNvPr id="27" name="Rectangle: Rounded Corners 26">
            <a:extLst>
              <a:ext uri="{FF2B5EF4-FFF2-40B4-BE49-F238E27FC236}">
                <a16:creationId xmlns:a16="http://schemas.microsoft.com/office/drawing/2014/main" id="{91246FA7-A950-A6E3-E1AD-5EF6BF4987F3}"/>
              </a:ext>
            </a:extLst>
          </p:cNvPr>
          <p:cNvSpPr/>
          <p:nvPr/>
        </p:nvSpPr>
        <p:spPr>
          <a:xfrm>
            <a:off x="533400" y="5130800"/>
            <a:ext cx="11125200" cy="1028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A8A7DB9-8781-822B-2B60-C5341D8B097F}"/>
              </a:ext>
            </a:extLst>
          </p:cNvPr>
          <p:cNvSpPr txBox="1"/>
          <p:nvPr/>
        </p:nvSpPr>
        <p:spPr>
          <a:xfrm>
            <a:off x="698500" y="5232400"/>
            <a:ext cx="10795000" cy="574516"/>
          </a:xfrm>
          <a:prstGeom prst="rect">
            <a:avLst/>
          </a:prstGeom>
          <a:noFill/>
        </p:spPr>
        <p:txBody>
          <a:bodyPr vert="horz" wrap="square" lIns="38100" tIns="25400" rIns="38100" bIns="25400" rtlCol="0">
            <a:spAutoFit/>
          </a:bodyPr>
          <a:lstStyle/>
          <a:p>
            <a:pPr algn="r" rtl="1">
              <a:spcAft>
                <a:spcPts val="400"/>
              </a:spcAft>
            </a:pPr>
            <a:r>
              <a:rPr lang="ar-SA" sz="1700">
                <a:solidFill>
                  <a:srgbClr val="30263B"/>
                </a:solidFill>
                <a:latin typeface="Arial" panose="020B0604020202020204" pitchFamily="34" charset="0"/>
                <a:cs typeface="Arial" panose="020B0604020202020204" pitchFamily="34" charset="0"/>
              </a:rPr>
              <a:t>نص الإفصاح المقترح للاستخدام: «يساعد الذكاء الاصطناعي في فهم طلبك. راجع التفاصيل قبل التأكيد؛ يتحقق الخادم من القواعد ويحفظ الحجز. هذه نسخة تعليمية ببيانات وهمية ودخول تجريبي.» هذا نص مقترح للتوثيق، لا ادعاء بإضافته للواجهة.</a:t>
            </a:r>
            <a:endParaRPr lang="en-US" sz="1700">
              <a:solidFill>
                <a:srgbClr val="30263B"/>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36EFE5F6-8364-BAA8-FC5D-0C4C3AEFDF91}"/>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D0DB00A-2BA2-C105-3E02-7BABA597FD73}"/>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E01 §§7،9؛ E05: </a:t>
            </a:r>
            <a:r>
              <a:rPr lang="ar-SA" sz="1000">
                <a:solidFill>
                  <a:srgbClr val="6C6570"/>
                </a:solidFill>
                <a:latin typeface="Arial" panose="020B0604020202020204" pitchFamily="34" charset="0"/>
                <a:cs typeface="Arial" panose="020B0604020202020204" pitchFamily="34" charset="0"/>
              </a:rPr>
              <a:t>اختبارات الفشل؛ </a:t>
            </a:r>
            <a:r>
              <a:rPr lang="en-US" sz="1000">
                <a:solidFill>
                  <a:srgbClr val="6C6570"/>
                </a:solidFill>
                <a:latin typeface="Arial" panose="020B0604020202020204" pitchFamily="34" charset="0"/>
                <a:cs typeface="Arial" panose="020B0604020202020204" pitchFamily="34" charset="0"/>
              </a:rPr>
              <a:t>O3: </a:t>
            </a:r>
            <a:r>
              <a:rPr lang="ar-SA" sz="1000">
                <a:solidFill>
                  <a:srgbClr val="6C6570"/>
                </a:solidFill>
                <a:latin typeface="Arial" panose="020B0604020202020204" pitchFamily="34" charset="0"/>
                <a:cs typeface="Arial" panose="020B0604020202020204" pitchFamily="34" charset="0"/>
              </a:rPr>
              <a:t>خطة التبني</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3752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CCE703-DC61-59E7-B0F5-AD752832294E}"/>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5077919-CEC8-3F86-2F47-08257644B7F3}"/>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1747D1E0-9233-0E31-742B-943375634CFD}"/>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22 / 27</a:t>
            </a:r>
          </a:p>
        </p:txBody>
      </p:sp>
      <p:sp>
        <p:nvSpPr>
          <p:cNvPr id="5" name="TextBox 4">
            <a:extLst>
              <a:ext uri="{FF2B5EF4-FFF2-40B4-BE49-F238E27FC236}">
                <a16:creationId xmlns:a16="http://schemas.microsoft.com/office/drawing/2014/main" id="{D428D11C-E0E3-37B7-9037-7479A127C270}"/>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خطة 30 يومًا: مقترحة وليست نتائج منفذة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92D8FF0-71D6-B009-632F-115BF737D320}"/>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المالكة مسؤولة عن المتابعة. لا تبدأ الخطة تشغيلًا مؤسسيًا أو تطوير خصائص جديدة دون موافقة.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9A7546DE-3C53-FF47-2AD4-4D7E3CB6C760}"/>
              </a:ext>
            </a:extLst>
          </p:cNvPr>
          <p:cNvSpPr/>
          <p:nvPr/>
        </p:nvSpPr>
        <p:spPr>
          <a:xfrm>
            <a:off x="79502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26F22E5-688A-FA0F-E2C6-D0F021CC7544}"/>
              </a:ext>
            </a:extLst>
          </p:cNvPr>
          <p:cNvSpPr txBox="1"/>
          <p:nvPr/>
        </p:nvSpPr>
        <p:spPr>
          <a:xfrm>
            <a:off x="80264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التوقيت</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44249FB5-7BD3-3262-E9A0-AE15466DD27A}"/>
              </a:ext>
            </a:extLst>
          </p:cNvPr>
          <p:cNvSpPr/>
          <p:nvPr/>
        </p:nvSpPr>
        <p:spPr>
          <a:xfrm>
            <a:off x="79502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EA6F1E2-AE13-FBC2-373B-EEF8F8C3242E}"/>
              </a:ext>
            </a:extLst>
          </p:cNvPr>
          <p:cNvSpPr txBox="1"/>
          <p:nvPr/>
        </p:nvSpPr>
        <p:spPr>
          <a:xfrm>
            <a:off x="8039100" y="2768600"/>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اليوم الأول</a:t>
            </a:r>
            <a:endParaRPr lang="en-US" sz="1900"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D41DD965-BA65-CA51-B922-17F9DB224D26}"/>
              </a:ext>
            </a:extLst>
          </p:cNvPr>
          <p:cNvSpPr/>
          <p:nvPr/>
        </p:nvSpPr>
        <p:spPr>
          <a:xfrm>
            <a:off x="79502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67F8CB-B8E4-DDBE-D285-8A29386A8833}"/>
              </a:ext>
            </a:extLst>
          </p:cNvPr>
          <p:cNvSpPr txBox="1"/>
          <p:nvPr/>
        </p:nvSpPr>
        <p:spPr>
          <a:xfrm>
            <a:off x="8039100" y="3903133"/>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الأسبوع الأول</a:t>
            </a:r>
            <a:endParaRPr lang="en-US" sz="1900"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3E0B1F62-6712-C251-5F45-AE77B495FC35}"/>
              </a:ext>
            </a:extLst>
          </p:cNvPr>
          <p:cNvSpPr/>
          <p:nvPr/>
        </p:nvSpPr>
        <p:spPr>
          <a:xfrm>
            <a:off x="79502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FE57084-7232-C665-13C6-D3E3FD09D066}"/>
              </a:ext>
            </a:extLst>
          </p:cNvPr>
          <p:cNvSpPr txBox="1"/>
          <p:nvPr/>
        </p:nvSpPr>
        <p:spPr>
          <a:xfrm>
            <a:off x="8039100" y="5037667"/>
            <a:ext cx="35052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الشهر الأول</a:t>
            </a:r>
            <a:endParaRPr lang="en-US" sz="1900"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2E270E3-4974-451F-61D7-5614B4B5A0D9}"/>
              </a:ext>
            </a:extLst>
          </p:cNvPr>
          <p:cNvSpPr/>
          <p:nvPr/>
        </p:nvSpPr>
        <p:spPr>
          <a:xfrm>
            <a:off x="42418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013A9D1-363D-A316-E4B4-993C252BD17C}"/>
              </a:ext>
            </a:extLst>
          </p:cNvPr>
          <p:cNvSpPr txBox="1"/>
          <p:nvPr/>
        </p:nvSpPr>
        <p:spPr>
          <a:xfrm>
            <a:off x="43180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الإجراء والدليل المطلوب</a:t>
            </a:r>
            <a:endParaRPr lang="en-US" sz="1600" b="1">
              <a:solidFill>
                <a:srgbClr val="FFFFFF"/>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B31D23A-3C94-3DF2-F10C-284F9EC82928}"/>
              </a:ext>
            </a:extLst>
          </p:cNvPr>
          <p:cNvSpPr/>
          <p:nvPr/>
        </p:nvSpPr>
        <p:spPr>
          <a:xfrm>
            <a:off x="42418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F7E50F0-BC56-C21A-1228-A130987097F6}"/>
              </a:ext>
            </a:extLst>
          </p:cNvPr>
          <p:cNvSpPr txBox="1"/>
          <p:nvPr/>
        </p:nvSpPr>
        <p:spPr>
          <a:xfrm>
            <a:off x="4330700" y="2768600"/>
            <a:ext cx="35052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مراجعة المدرّب لملاءمة المحاكاة والتقييم بالملف وطريقة الوصول؛ تجربة هاتف فعلي وتسجيل الملاحظات.</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5C73FD27-F9EC-771E-4F1A-228670272DF5}"/>
              </a:ext>
            </a:extLst>
          </p:cNvPr>
          <p:cNvSpPr/>
          <p:nvPr/>
        </p:nvSpPr>
        <p:spPr>
          <a:xfrm>
            <a:off x="42418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C6F7B2B-5066-B761-8D07-5D7BA5096B6C}"/>
              </a:ext>
            </a:extLst>
          </p:cNvPr>
          <p:cNvSpPr txBox="1"/>
          <p:nvPr/>
        </p:nvSpPr>
        <p:spPr>
          <a:xfrm>
            <a:off x="4330700" y="3903133"/>
            <a:ext cx="35052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تجربة زميل بلا شرح مع معيار قبول؛ تكرار الحالات وتسجيل النشط والكلي والأخطاء وربط معرّف الحجز.</a:t>
            </a:r>
            <a:endParaRPr lang="en-US" sz="1900">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5DE0E495-52EB-8770-95A5-04C7B1D1F635}"/>
              </a:ext>
            </a:extLst>
          </p:cNvPr>
          <p:cNvSpPr/>
          <p:nvPr/>
        </p:nvSpPr>
        <p:spPr>
          <a:xfrm>
            <a:off x="42418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804AD86-FD63-249F-1FA5-86AC3CA2F526}"/>
              </a:ext>
            </a:extLst>
          </p:cNvPr>
          <p:cNvSpPr txBox="1"/>
          <p:nvPr/>
        </p:nvSpPr>
        <p:spPr>
          <a:xfrm>
            <a:off x="4330700" y="5037667"/>
            <a:ext cx="35052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مراجعة البيانات الجديدة وسياسة الجهة إن أريد استخدام حقيقي؛ قياس التكرار الفعلي عند توفر مهمة واقعية.</a:t>
            </a:r>
            <a:endParaRPr lang="en-US" sz="1900">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991A05CF-B9AC-FE38-94CC-0E7194646A18}"/>
              </a:ext>
            </a:extLst>
          </p:cNvPr>
          <p:cNvSpPr/>
          <p:nvPr/>
        </p:nvSpPr>
        <p:spPr>
          <a:xfrm>
            <a:off x="533400" y="2260600"/>
            <a:ext cx="36830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4E25015-6C33-7AA0-5D1B-F7DD8B98A87E}"/>
              </a:ext>
            </a:extLst>
          </p:cNvPr>
          <p:cNvSpPr txBox="1"/>
          <p:nvPr/>
        </p:nvSpPr>
        <p:spPr>
          <a:xfrm>
            <a:off x="609600" y="2311400"/>
            <a:ext cx="35306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المؤشر والقرار</a:t>
            </a:r>
            <a:endParaRPr lang="en-US" sz="1600" b="1">
              <a:solidFill>
                <a:srgbClr val="FFFFFF"/>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D62E0246-B27B-C4EC-F18D-E191936974E1}"/>
              </a:ext>
            </a:extLst>
          </p:cNvPr>
          <p:cNvSpPr/>
          <p:nvPr/>
        </p:nvSpPr>
        <p:spPr>
          <a:xfrm>
            <a:off x="533400" y="2730500"/>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143136D-CF96-AD27-223B-51F8539D20A0}"/>
              </a:ext>
            </a:extLst>
          </p:cNvPr>
          <p:cNvSpPr txBox="1"/>
          <p:nvPr/>
        </p:nvSpPr>
        <p:spPr>
          <a:xfrm>
            <a:off x="622300" y="2768600"/>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توثيق قرار المراجعة ونتيجة فتح الأداة؛ لا تحويل المحلي إلى نشر عام تلقائيًا.</a:t>
            </a:r>
            <a:endParaRPr lang="en-US" sz="1900">
              <a:solidFill>
                <a:srgbClr val="30263B"/>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CA08CB78-AAC9-3345-606B-112750D609CC}"/>
              </a:ext>
            </a:extLst>
          </p:cNvPr>
          <p:cNvSpPr/>
          <p:nvPr/>
        </p:nvSpPr>
        <p:spPr>
          <a:xfrm>
            <a:off x="533400" y="3865033"/>
            <a:ext cx="3683000" cy="1109134"/>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8C5D40E-F4C1-E95B-2BDC-E3D31F0200BC}"/>
              </a:ext>
            </a:extLst>
          </p:cNvPr>
          <p:cNvSpPr txBox="1"/>
          <p:nvPr/>
        </p:nvSpPr>
        <p:spPr>
          <a:xfrm>
            <a:off x="622300" y="3903133"/>
            <a:ext cx="350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سجل مستقل؛ قياسات مكتملة؛ أي إخفاق أو بطء يظهر في المقارنة.</a:t>
            </a:r>
            <a:endParaRPr lang="en-US" sz="1900">
              <a:solidFill>
                <a:srgbClr val="30263B"/>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1CC4099E-013E-F3BA-8A87-BC9CA3E44A7A}"/>
              </a:ext>
            </a:extLst>
          </p:cNvPr>
          <p:cNvSpPr/>
          <p:nvPr/>
        </p:nvSpPr>
        <p:spPr>
          <a:xfrm>
            <a:off x="533400" y="4999567"/>
            <a:ext cx="3683000" cy="1109133"/>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F2987B0-AB2C-B6BC-4921-9FE4D1188DAA}"/>
              </a:ext>
            </a:extLst>
          </p:cNvPr>
          <p:cNvSpPr txBox="1"/>
          <p:nvPr/>
        </p:nvSpPr>
        <p:spPr>
          <a:xfrm>
            <a:off x="622300" y="5037667"/>
            <a:ext cx="3505200" cy="928459"/>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أستمر إن ثبت القبول؛ أعدّل عند قصور؛ أتوقف عند خطر بيانات/حجز؛ أوسّع فقط بموافقة وأدلة.</a:t>
            </a:r>
            <a:endParaRPr lang="en-US" sz="1900">
              <a:solidFill>
                <a:srgbClr val="30263B"/>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5CE2716C-C9DB-2E13-6D59-62C0685588EC}"/>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6E6C6C2-5F90-72C4-AFD6-07049642FA6E}"/>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O3: D4_4_adoption_plan.html؛ </a:t>
            </a:r>
            <a:r>
              <a:rPr lang="ar-SA" sz="1000">
                <a:solidFill>
                  <a:srgbClr val="6C6570"/>
                </a:solidFill>
                <a:latin typeface="Arial" panose="020B0604020202020204" pitchFamily="34" charset="0"/>
                <a:cs typeface="Arial" panose="020B0604020202020204" pitchFamily="34" charset="0"/>
              </a:rPr>
              <a:t>خطة مستقبلية لا قياسات منجزة</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432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CEB124-2BBC-C4C8-2338-3A96F9DA509D}"/>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7B52E3C-4595-818F-33C5-73EDEBCEB414}"/>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A2BE56FD-B4B9-12F3-8865-7B3DBC4AE2C7}"/>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23 / 27</a:t>
            </a:r>
          </a:p>
        </p:txBody>
      </p:sp>
      <p:sp>
        <p:nvSpPr>
          <p:cNvPr id="5" name="TextBox 4">
            <a:extLst>
              <a:ext uri="{FF2B5EF4-FFF2-40B4-BE49-F238E27FC236}">
                <a16:creationId xmlns:a16="http://schemas.microsoft.com/office/drawing/2014/main" id="{64CE6C51-9CE8-D523-02C7-FB3452CD6E54}"/>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الخلاصة وفهرس التسليم</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5507B0E-C4FA-4BA8-53F6-F56401CE07BF}"/>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MeetSpace </a:t>
            </a:r>
            <a:r>
              <a:rPr lang="ar-SA" sz="1900">
                <a:solidFill>
                  <a:srgbClr val="30263B"/>
                </a:solidFill>
                <a:latin typeface="Arial" panose="020B0604020202020204" pitchFamily="34" charset="0"/>
                <a:cs typeface="Arial" panose="020B0604020202020204" pitchFamily="34" charset="0"/>
              </a:rPr>
              <a:t>يبرهن بناء أداة فعلية بقيود واضحة، وتحسينًا رفض محاولة ضعيفة قبل اعتماد أفضل، وأثرًا زمنيًا مقاسًا في محاكاة صغيرة.</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C10DF1FE-83DD-9490-1E99-BDF96C7C2197}"/>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05D11D4-8703-4524-7AFF-8D321182D515}"/>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6F16796-4049-0BD2-5CC8-5E0BCF9CE024}"/>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مخرجات قابلة للمراجعة</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20D55E7-851D-E435-392A-BF9BEC905621}"/>
              </a:ext>
            </a:extLst>
          </p:cNvPr>
          <p:cNvSpPr txBox="1"/>
          <p:nvPr/>
        </p:nvSpPr>
        <p:spPr>
          <a:xfrm>
            <a:off x="8233833" y="3175000"/>
            <a:ext cx="3259667" cy="1513235"/>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PowerPoint </a:t>
            </a:r>
            <a:r>
              <a:rPr lang="ar-SA" sz="1900">
                <a:solidFill>
                  <a:srgbClr val="30263B"/>
                </a:solidFill>
                <a:latin typeface="Arial" panose="020B0604020202020204" pitchFamily="34" charset="0"/>
                <a:cs typeface="Arial" panose="020B0604020202020204" pitchFamily="34" charset="0"/>
              </a:rPr>
              <a:t>قابل للتحرير و</a:t>
            </a:r>
            <a:r>
              <a:rPr lang="en-US" sz="1900">
                <a:solidFill>
                  <a:srgbClr val="30263B"/>
                </a:solidFill>
                <a:latin typeface="Arial" panose="020B0604020202020204" pitchFamily="34" charset="0"/>
                <a:cs typeface="Arial" panose="020B0604020202020204" pitchFamily="34" charset="0"/>
              </a:rPr>
              <a:t>PDF </a:t>
            </a:r>
            <a:r>
              <a:rPr lang="ar-SA" sz="1900">
                <a:solidFill>
                  <a:srgbClr val="30263B"/>
                </a:solidFill>
                <a:latin typeface="Arial" panose="020B0604020202020204" pitchFamily="34" charset="0"/>
                <a:cs typeface="Arial" panose="020B0604020202020204" pitchFamily="34" charset="0"/>
              </a:rPr>
              <a:t>مطابق، لوحة المشروع بأقسامها الثمانية، وقائمة متطلبات تربط كل ادعاء بدليل. ملفات المصدر واللقطات وفحوص التنسيق محفوظة داخل المشروع.</a:t>
            </a:r>
            <a:endParaRPr lang="en-US" sz="1900">
              <a:solidFill>
                <a:srgbClr val="30263B"/>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D979A7DD-B6EB-3321-09B9-2A79C541F0D5}"/>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E284CBF-7BF9-A431-1B91-1596D84DA961}"/>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4772F1B-D7D2-D38E-F06F-C4BBDA71A003}"/>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ما يحتاج إجراء من المالكة</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1B1D5AB0-56E8-DE99-1678-29964ECCAF27}"/>
              </a:ext>
            </a:extLst>
          </p:cNvPr>
          <p:cNvSpPr txBox="1"/>
          <p:nvPr/>
        </p:nvSpPr>
        <p:spPr>
          <a:xfrm>
            <a:off x="4466167" y="3175000"/>
            <a:ext cx="3259667" cy="1513235"/>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رأي زميل واختبار هاتف فعلي، اتفاق وصول المقيّم، تأكيد قبول المحاكاة بدل مهمة مؤسسية متكررة، وتأكيد التقييم بالملف بدل العرض الحي الرسمي. لا رابط عام أو تقييمات مختلقة.</a:t>
            </a:r>
            <a:endParaRPr lang="en-US" sz="1900">
              <a:solidFill>
                <a:srgbClr val="30263B"/>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CC8A65FD-BEDB-1709-48ED-99DE389D0FC6}"/>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AB5C81-67E8-CE42-BF33-F3158D9622FF}"/>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649999A-8230-E14A-FE1B-3DC39EB3CE87}"/>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قراءة الأدلة</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3BB18FA6-D4BB-F92C-B066-A92205C68C1A}"/>
              </a:ext>
            </a:extLst>
          </p:cNvPr>
          <p:cNvSpPr txBox="1"/>
          <p:nvPr/>
        </p:nvSpPr>
        <p:spPr>
          <a:xfrm>
            <a:off x="698500" y="3175000"/>
            <a:ext cx="3259667" cy="1805623"/>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E01 </a:t>
            </a:r>
            <a:r>
              <a:rPr lang="ar-SA" sz="1900">
                <a:solidFill>
                  <a:srgbClr val="30263B"/>
                </a:solidFill>
                <a:latin typeface="Arial" panose="020B0604020202020204" pitchFamily="34" charset="0"/>
                <a:cs typeface="Arial" panose="020B0604020202020204" pitchFamily="34" charset="0"/>
              </a:rPr>
              <a:t>عقد العمل؛ </a:t>
            </a:r>
            <a:r>
              <a:rPr lang="en-US" sz="1900">
                <a:solidFill>
                  <a:srgbClr val="30263B"/>
                </a:solidFill>
                <a:latin typeface="Arial" panose="020B0604020202020204" pitchFamily="34" charset="0"/>
                <a:cs typeface="Arial" panose="020B0604020202020204" pitchFamily="34" charset="0"/>
              </a:rPr>
              <a:t>E02 </a:t>
            </a:r>
            <a:r>
              <a:rPr lang="ar-SA" sz="1900">
                <a:solidFill>
                  <a:srgbClr val="30263B"/>
                </a:solidFill>
                <a:latin typeface="Arial" panose="020B0604020202020204" pitchFamily="34" charset="0"/>
                <a:cs typeface="Arial" panose="020B0604020202020204" pitchFamily="34" charset="0"/>
              </a:rPr>
              <a:t>المتطلبات والتقنية؛ </a:t>
            </a:r>
            <a:r>
              <a:rPr lang="en-US" sz="1900">
                <a:solidFill>
                  <a:srgbClr val="30263B"/>
                </a:solidFill>
                <a:latin typeface="Arial" panose="020B0604020202020204" pitchFamily="34" charset="0"/>
                <a:cs typeface="Arial" panose="020B0604020202020204" pitchFamily="34" charset="0"/>
              </a:rPr>
              <a:t>E03 </a:t>
            </a:r>
            <a:r>
              <a:rPr lang="ar-SA" sz="1900">
                <a:solidFill>
                  <a:srgbClr val="30263B"/>
                </a:solidFill>
                <a:latin typeface="Arial" panose="020B0604020202020204" pitchFamily="34" charset="0"/>
                <a:cs typeface="Arial" panose="020B0604020202020204" pitchFamily="34" charset="0"/>
              </a:rPr>
              <a:t>القياس البشري؛ </a:t>
            </a:r>
            <a:r>
              <a:rPr lang="en-US" sz="1900">
                <a:solidFill>
                  <a:srgbClr val="30263B"/>
                </a:solidFill>
                <a:latin typeface="Arial" panose="020B0604020202020204" pitchFamily="34" charset="0"/>
                <a:cs typeface="Arial" panose="020B0604020202020204" pitchFamily="34" charset="0"/>
              </a:rPr>
              <a:t>E04 </a:t>
            </a:r>
            <a:r>
              <a:rPr lang="ar-SA" sz="1900">
                <a:solidFill>
                  <a:srgbClr val="30263B"/>
                </a:solidFill>
                <a:latin typeface="Arial" panose="020B0604020202020204" pitchFamily="34" charset="0"/>
                <a:cs typeface="Arial" panose="020B0604020202020204" pitchFamily="34" charset="0"/>
              </a:rPr>
              <a:t>سجل الأوامر؛ </a:t>
            </a:r>
            <a:r>
              <a:rPr lang="en-US" sz="1900">
                <a:solidFill>
                  <a:srgbClr val="30263B"/>
                </a:solidFill>
                <a:latin typeface="Arial" panose="020B0604020202020204" pitchFamily="34" charset="0"/>
                <a:cs typeface="Arial" panose="020B0604020202020204" pitchFamily="34" charset="0"/>
              </a:rPr>
              <a:t>E05 </a:t>
            </a:r>
            <a:r>
              <a:rPr lang="ar-SA" sz="1900">
                <a:solidFill>
                  <a:srgbClr val="30263B"/>
                </a:solidFill>
                <a:latin typeface="Arial" panose="020B0604020202020204" pitchFamily="34" charset="0"/>
                <a:cs typeface="Arial" panose="020B0604020202020204" pitchFamily="34" charset="0"/>
              </a:rPr>
              <a:t>الاختبارات؛ </a:t>
            </a:r>
            <a:r>
              <a:rPr lang="en-US" sz="1900">
                <a:solidFill>
                  <a:srgbClr val="30263B"/>
                </a:solidFill>
                <a:latin typeface="Arial" panose="020B0604020202020204" pitchFamily="34" charset="0"/>
                <a:cs typeface="Arial" panose="020B0604020202020204" pitchFamily="34" charset="0"/>
              </a:rPr>
              <a:t>E06 </a:t>
            </a:r>
            <a:r>
              <a:rPr lang="ar-SA" sz="1900">
                <a:solidFill>
                  <a:srgbClr val="30263B"/>
                </a:solidFill>
                <a:latin typeface="Arial" panose="020B0604020202020204" pitchFamily="34" charset="0"/>
                <a:cs typeface="Arial" panose="020B0604020202020204" pitchFamily="34" charset="0"/>
              </a:rPr>
              <a:t>الصور؛ </a:t>
            </a:r>
            <a:r>
              <a:rPr lang="en-US" sz="1900">
                <a:solidFill>
                  <a:srgbClr val="30263B"/>
                </a:solidFill>
                <a:latin typeface="Arial" panose="020B0604020202020204" pitchFamily="34" charset="0"/>
                <a:cs typeface="Arial" panose="020B0604020202020204" pitchFamily="34" charset="0"/>
              </a:rPr>
              <a:t>E07 </a:t>
            </a:r>
            <a:r>
              <a:rPr lang="ar-SA" sz="1900">
                <a:solidFill>
                  <a:srgbClr val="30263B"/>
                </a:solidFill>
                <a:latin typeface="Arial" panose="020B0604020202020204" pitchFamily="34" charset="0"/>
                <a:cs typeface="Arial" panose="020B0604020202020204" pitchFamily="34" charset="0"/>
              </a:rPr>
              <a:t>الفحص الحالي؛ </a:t>
            </a:r>
            <a:r>
              <a:rPr lang="en-US" sz="1900">
                <a:solidFill>
                  <a:srgbClr val="30263B"/>
                </a:solidFill>
                <a:latin typeface="Arial" panose="020B0604020202020204" pitchFamily="34" charset="0"/>
                <a:cs typeface="Arial" panose="020B0604020202020204" pitchFamily="34" charset="0"/>
              </a:rPr>
              <a:t>O1–O3 </a:t>
            </a:r>
            <a:r>
              <a:rPr lang="ar-SA" sz="1900">
                <a:solidFill>
                  <a:srgbClr val="30263B"/>
                </a:solidFill>
                <a:latin typeface="Arial" panose="020B0604020202020204" pitchFamily="34" charset="0"/>
                <a:cs typeface="Arial" panose="020B0604020202020204" pitchFamily="34" charset="0"/>
              </a:rPr>
              <a:t>المصادر الرسمية. التفاصيل والروابط في الملحق والقائمة.</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066881B0-54EF-0F92-1AB9-8D972604A028}"/>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D22099A-9A32-4E00-7040-DED1A2B52E1A}"/>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docs/Final_Capstone_Board.md؛ MeetSpace_Evidence_Checklist.md؛ </a:t>
            </a:r>
            <a:r>
              <a:rPr lang="ar-SA" sz="1000">
                <a:solidFill>
                  <a:srgbClr val="6C6570"/>
                </a:solidFill>
                <a:latin typeface="Arial" panose="020B0604020202020204" pitchFamily="34" charset="0"/>
                <a:cs typeface="Arial" panose="020B0604020202020204" pitchFamily="34" charset="0"/>
              </a:rPr>
              <a:t>لا ادعاء اكتمال المتطلبات الناقصة</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5923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0A1EDA-E70E-5BFE-EE61-1062DA9346FE}"/>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EE12CB5-FAE4-AEEF-30E9-51CFE7E4CBB1}"/>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869935CF-4DF4-4423-3CDD-9070139B2F61}"/>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24 / 27</a:t>
            </a:r>
          </a:p>
        </p:txBody>
      </p:sp>
      <p:sp>
        <p:nvSpPr>
          <p:cNvPr id="5" name="TextBox 4">
            <a:extLst>
              <a:ext uri="{FF2B5EF4-FFF2-40B4-BE49-F238E27FC236}">
                <a16:creationId xmlns:a16="http://schemas.microsoft.com/office/drawing/2014/main" id="{AAA61524-0CA2-404A-A96D-4D7087591E55}"/>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ملحق أ: تعليمات فعلية قابلة للتتبع</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B199C8A-1F05-CD7D-DD59-33041AB5CD41}"/>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مقتطفات قصيرة من عقد العمل ومواصفات التنفيذ؛ النصوص الأصلية الكاملة في الملفات المشار إليها.</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11E88405-B5FB-FB65-E6A4-6C6098A2C24D}"/>
              </a:ext>
            </a:extLst>
          </p:cNvPr>
          <p:cNvSpPr/>
          <p:nvPr/>
        </p:nvSpPr>
        <p:spPr>
          <a:xfrm>
            <a:off x="8068733"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1044027-788E-248D-FFC3-E0974472A9FC}"/>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D43E547-34C5-A7BD-96ED-05868201067A}"/>
              </a:ext>
            </a:extLst>
          </p:cNvPr>
          <p:cNvSpPr txBox="1"/>
          <p:nvPr/>
        </p:nvSpPr>
        <p:spPr>
          <a:xfrm>
            <a:off x="8233833" y="2489200"/>
            <a:ext cx="3234267" cy="359073"/>
          </a:xfrm>
          <a:prstGeom prst="rect">
            <a:avLst/>
          </a:prstGeom>
          <a:noFill/>
        </p:spPr>
        <p:txBody>
          <a:bodyPr vert="horz" wrap="square" lIns="38100" tIns="25400" rIns="38100" bIns="25400" rtlCol="0">
            <a:spAutoFit/>
          </a:bodyPr>
          <a:lstStyle/>
          <a:p>
            <a:pPr algn="r" rtl="1">
              <a:spcAft>
                <a:spcPts val="400"/>
              </a:spcAft>
            </a:pPr>
            <a:r>
              <a:rPr lang="en-US" sz="2000" b="1">
                <a:solidFill>
                  <a:srgbClr val="5B2453"/>
                </a:solidFill>
                <a:latin typeface="Arial" panose="020B0604020202020204" pitchFamily="34" charset="0"/>
                <a:cs typeface="Arial" panose="020B0604020202020204" pitchFamily="34" charset="0"/>
              </a:rPr>
              <a:t>RICE — </a:t>
            </a:r>
            <a:r>
              <a:rPr lang="ar-SA" sz="2000" b="1">
                <a:solidFill>
                  <a:srgbClr val="5B2453"/>
                </a:solidFill>
                <a:latin typeface="Arial" panose="020B0604020202020204" pitchFamily="34" charset="0"/>
                <a:cs typeface="Arial" panose="020B0604020202020204" pitchFamily="34" charset="0"/>
              </a:rPr>
              <a:t>الموجز الأصلي</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E0D352B-D83F-CD08-F2DA-4DAEA9B5E383}"/>
              </a:ext>
            </a:extLst>
          </p:cNvPr>
          <p:cNvSpPr txBox="1"/>
          <p:nvPr/>
        </p:nvSpPr>
        <p:spPr>
          <a:xfrm>
            <a:off x="8233833" y="3175000"/>
            <a:ext cx="3259667" cy="2821285"/>
          </a:xfrm>
          <a:prstGeom prst="rect">
            <a:avLst/>
          </a:prstGeom>
          <a:noFill/>
        </p:spPr>
        <p:txBody>
          <a:bodyPr vert="horz" wrap="square" lIns="38100" tIns="25400" rIns="38100" bIns="25400" rtlCol="0">
            <a:spAutoFit/>
          </a:bodyPr>
          <a:lstStyle/>
          <a:p>
            <a:pPr algn="r" rtl="1">
              <a:spcAft>
                <a:spcPts val="400"/>
              </a:spcAft>
            </a:pPr>
            <a:r>
              <a:rPr lang="en-US" sz="1700">
                <a:solidFill>
                  <a:srgbClr val="30263B"/>
                </a:solidFill>
                <a:latin typeface="Arial" panose="020B0604020202020204" pitchFamily="34" charset="0"/>
                <a:cs typeface="Arial" panose="020B0604020202020204" pitchFamily="34" charset="0"/>
              </a:rPr>
              <a:t>R: “careful senior full-stack implementer”
I: “Implement only approved requirements, validate actual behavior”
C: “time-limited educational MVP”
E: “reproducible checks, an accurate change log, and no unapproved additions.”</a:t>
            </a:r>
          </a:p>
        </p:txBody>
      </p:sp>
      <p:sp>
        <p:nvSpPr>
          <p:cNvPr id="11" name="Rectangle: Rounded Corners 10">
            <a:extLst>
              <a:ext uri="{FF2B5EF4-FFF2-40B4-BE49-F238E27FC236}">
                <a16:creationId xmlns:a16="http://schemas.microsoft.com/office/drawing/2014/main" id="{54B6F683-E928-AFC4-E5F6-53BA10650CF1}"/>
              </a:ext>
            </a:extLst>
          </p:cNvPr>
          <p:cNvSpPr/>
          <p:nvPr/>
        </p:nvSpPr>
        <p:spPr>
          <a:xfrm>
            <a:off x="4301067" y="2336800"/>
            <a:ext cx="3589866"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1E8AC7-B3C2-8F05-FF14-7B267CAD8FD8}"/>
              </a:ext>
            </a:extLst>
          </p:cNvPr>
          <p:cNvSpPr/>
          <p:nvPr/>
        </p:nvSpPr>
        <p:spPr>
          <a:xfrm>
            <a:off x="7802033"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BB1DDD8-A0D7-95D1-F302-8E6D4656FF58}"/>
              </a:ext>
            </a:extLst>
          </p:cNvPr>
          <p:cNvSpPr txBox="1"/>
          <p:nvPr/>
        </p:nvSpPr>
        <p:spPr>
          <a:xfrm>
            <a:off x="4466167"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قواعد القبول والتحكم</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D364005-4EF2-FE59-4D10-97224069B522}"/>
              </a:ext>
            </a:extLst>
          </p:cNvPr>
          <p:cNvSpPr txBox="1"/>
          <p:nvPr/>
        </p:nvSpPr>
        <p:spPr>
          <a:xfrm>
            <a:off x="4466167" y="3175000"/>
            <a:ext cx="3259667" cy="2098010"/>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BRD: </a:t>
            </a:r>
            <a:r>
              <a:rPr lang="ar-SA" sz="1900">
                <a:solidFill>
                  <a:srgbClr val="30263B"/>
                </a:solidFill>
                <a:latin typeface="Arial" panose="020B0604020202020204" pitchFamily="34" charset="0"/>
                <a:cs typeface="Arial" panose="020B0604020202020204" pitchFamily="34" charset="0"/>
              </a:rPr>
              <a:t>حجز منفرد، نوع وسعة وموعد صالح، وموافقة صريحة. </a:t>
            </a:r>
            <a:r>
              <a:rPr lang="en-US" sz="1900">
                <a:solidFill>
                  <a:srgbClr val="30263B"/>
                </a:solidFill>
                <a:latin typeface="Arial" panose="020B0604020202020204" pitchFamily="34" charset="0"/>
                <a:cs typeface="Arial" panose="020B0604020202020204" pitchFamily="34" charset="0"/>
              </a:rPr>
              <a:t>SPEC: </a:t>
            </a:r>
            <a:r>
              <a:rPr lang="ar-SA" sz="1900">
                <a:solidFill>
                  <a:srgbClr val="30263B"/>
                </a:solidFill>
                <a:latin typeface="Arial" panose="020B0604020202020204" pitchFamily="34" charset="0"/>
                <a:cs typeface="Arial" panose="020B0604020202020204" pitchFamily="34" charset="0"/>
              </a:rPr>
              <a:t>عرض معلق واحد، وقت الرياض و</a:t>
            </a:r>
            <a:r>
              <a:rPr lang="en-US" sz="1900">
                <a:solidFill>
                  <a:srgbClr val="30263B"/>
                </a:solidFill>
                <a:latin typeface="Arial" panose="020B0604020202020204" pitchFamily="34" charset="0"/>
                <a:cs typeface="Arial" panose="020B0604020202020204" pitchFamily="34" charset="0"/>
              </a:rPr>
              <a:t>UTC </a:t>
            </a:r>
            <a:r>
              <a:rPr lang="ar-SA" sz="1900">
                <a:solidFill>
                  <a:srgbClr val="30263B"/>
                </a:solidFill>
                <a:latin typeface="Arial" panose="020B0604020202020204" pitchFamily="34" charset="0"/>
                <a:cs typeface="Arial" panose="020B0604020202020204" pitchFamily="34" charset="0"/>
              </a:rPr>
              <a:t>للتخزين، معاملة </a:t>
            </a:r>
            <a:r>
              <a:rPr lang="en-US" sz="1900">
                <a:solidFill>
                  <a:srgbClr val="30263B"/>
                </a:solidFill>
                <a:latin typeface="Arial" panose="020B0604020202020204" pitchFamily="34" charset="0"/>
                <a:cs typeface="Arial" panose="020B0604020202020204" pitchFamily="34" charset="0"/>
              </a:rPr>
              <a:t>room_days </a:t>
            </a:r>
            <a:r>
              <a:rPr lang="ar-SA" sz="1900">
                <a:solidFill>
                  <a:srgbClr val="30263B"/>
                </a:solidFill>
                <a:latin typeface="Arial" panose="020B0604020202020204" pitchFamily="34" charset="0"/>
                <a:cs typeface="Arial" panose="020B0604020202020204" pitchFamily="34" charset="0"/>
              </a:rPr>
              <a:t>ومنع التكرار. </a:t>
            </a:r>
            <a:r>
              <a:rPr lang="en-US" sz="1900">
                <a:solidFill>
                  <a:srgbClr val="30263B"/>
                </a:solidFill>
                <a:latin typeface="Arial" panose="020B0604020202020204" pitchFamily="34" charset="0"/>
                <a:cs typeface="Arial" panose="020B0604020202020204" pitchFamily="34" charset="0"/>
              </a:rPr>
              <a:t>AGENTS §12: </a:t>
            </a:r>
            <a:r>
              <a:rPr lang="ar-SA" sz="1900">
                <a:solidFill>
                  <a:srgbClr val="30263B"/>
                </a:solidFill>
                <a:latin typeface="Arial" panose="020B0604020202020204" pitchFamily="34" charset="0"/>
                <a:cs typeface="Arial" panose="020B0604020202020204" pitchFamily="34" charset="0"/>
              </a:rPr>
              <a:t>موافقة قبل نطاق أو تقنية أو نشر جديد.</a:t>
            </a:r>
            <a:endParaRPr lang="en-US" sz="1900">
              <a:solidFill>
                <a:srgbClr val="30263B"/>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9346F121-2828-1EBB-F9A1-4A4DC622D603}"/>
              </a:ext>
            </a:extLst>
          </p:cNvPr>
          <p:cNvSpPr/>
          <p:nvPr/>
        </p:nvSpPr>
        <p:spPr>
          <a:xfrm>
            <a:off x="533400" y="2336800"/>
            <a:ext cx="3589867"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B0468FB-1573-3E3B-F9FD-1A3A4E9941F7}"/>
              </a:ext>
            </a:extLst>
          </p:cNvPr>
          <p:cNvSpPr/>
          <p:nvPr/>
        </p:nvSpPr>
        <p:spPr>
          <a:xfrm>
            <a:off x="4034367"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B700116-2815-BC58-245C-D6DADAB51D58}"/>
              </a:ext>
            </a:extLst>
          </p:cNvPr>
          <p:cNvSpPr txBox="1"/>
          <p:nvPr/>
        </p:nvSpPr>
        <p:spPr>
          <a:xfrm>
            <a:off x="698500" y="2489200"/>
            <a:ext cx="3234267"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أثر الأوامر لا مجرد تعريفها</a:t>
            </a:r>
            <a:endParaRPr lang="en-US" sz="2000" b="1">
              <a:solidFill>
                <a:srgbClr val="5B2453"/>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C2FD5DC-DA7E-13CB-6B4D-CD1784429E3B}"/>
              </a:ext>
            </a:extLst>
          </p:cNvPr>
          <p:cNvSpPr txBox="1"/>
          <p:nvPr/>
        </p:nvSpPr>
        <p:spPr>
          <a:xfrm>
            <a:off x="698500" y="3175000"/>
            <a:ext cx="3259667" cy="1805623"/>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A </a:t>
            </a:r>
            <a:r>
              <a:rPr lang="ar-SA" sz="1900">
                <a:solidFill>
                  <a:srgbClr val="30263B"/>
                </a:solidFill>
                <a:latin typeface="Arial" panose="020B0604020202020204" pitchFamily="34" charset="0"/>
                <a:cs typeface="Arial" panose="020B0604020202020204" pitchFamily="34" charset="0"/>
              </a:rPr>
              <a:t>و</a:t>
            </a:r>
            <a:r>
              <a:rPr lang="en-US" sz="1900">
                <a:solidFill>
                  <a:srgbClr val="30263B"/>
                </a:solidFill>
                <a:latin typeface="Arial" panose="020B0604020202020204" pitchFamily="34" charset="0"/>
                <a:cs typeface="Arial" panose="020B0604020202020204" pitchFamily="34" charset="0"/>
              </a:rPr>
              <a:t>B </a:t>
            </a:r>
            <a:r>
              <a:rPr lang="ar-SA" sz="1900">
                <a:solidFill>
                  <a:srgbClr val="30263B"/>
                </a:solidFill>
                <a:latin typeface="Arial" panose="020B0604020202020204" pitchFamily="34" charset="0"/>
                <a:cs typeface="Arial" panose="020B0604020202020204" pitchFamily="34" charset="0"/>
              </a:rPr>
              <a:t>و</a:t>
            </a:r>
            <a:r>
              <a:rPr lang="en-US" sz="1900">
                <a:solidFill>
                  <a:srgbClr val="30263B"/>
                </a:solidFill>
                <a:latin typeface="Arial" panose="020B0604020202020204" pitchFamily="34" charset="0"/>
                <a:cs typeface="Arial" panose="020B0604020202020204" pitchFamily="34" charset="0"/>
              </a:rPr>
              <a:t>B2 </a:t>
            </a:r>
            <a:r>
              <a:rPr lang="ar-SA" sz="1900">
                <a:solidFill>
                  <a:srgbClr val="30263B"/>
                </a:solidFill>
                <a:latin typeface="Arial" panose="020B0604020202020204" pitchFamily="34" charset="0"/>
                <a:cs typeface="Arial" panose="020B0604020202020204" pitchFamily="34" charset="0"/>
              </a:rPr>
              <a:t>ملفات منفصلة محفوظة. سجل </a:t>
            </a:r>
            <a:r>
              <a:rPr lang="en-US" sz="1900">
                <a:solidFill>
                  <a:srgbClr val="30263B"/>
                </a:solidFill>
                <a:latin typeface="Arial" panose="020B0604020202020204" pitchFamily="34" charset="0"/>
                <a:cs typeface="Arial" panose="020B0604020202020204" pitchFamily="34" charset="0"/>
              </a:rPr>
              <a:t>M4 </a:t>
            </a:r>
            <a:r>
              <a:rPr lang="ar-SA" sz="1900">
                <a:solidFill>
                  <a:srgbClr val="30263B"/>
                </a:solidFill>
                <a:latin typeface="Arial" panose="020B0604020202020204" pitchFamily="34" charset="0"/>
                <a:cs typeface="Arial" panose="020B0604020202020204" pitchFamily="34" charset="0"/>
              </a:rPr>
              <a:t>يربط السلوك المرصود بالتغيير ثم النتيجة. قالب قياس العمل البشري أبقى الحقول غير المقاسة فارغة؛ لا تُستكمل البيانات بطلب للنموذج أن يتخيلها.</a:t>
            </a:r>
            <a:endParaRPr lang="en-US" sz="1900">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662CC4F2-3FBA-A87A-D5EA-84679D5ABDAF}"/>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361B095-7971-1B38-6ED6-2F66306D205E}"/>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AGENTS.md §§1،7،12؛ docs/MeetSpace_BRD.md؛ docs/MeetSpace_SPEC.md؛ archive/prompt_versions/</a:t>
            </a:r>
          </a:p>
        </p:txBody>
      </p:sp>
    </p:spTree>
    <p:extLst>
      <p:ext uri="{BB962C8B-B14F-4D97-AF65-F5344CB8AC3E}">
        <p14:creationId xmlns:p14="http://schemas.microsoft.com/office/powerpoint/2010/main" val="3760901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EC96F4-8052-DF8D-A5B2-E8C5B7ECC6D3}"/>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4F49735-CA9C-2186-3F5D-D2933D0D44DE}"/>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BCBE88F1-0B01-F43F-9D8B-7AC9B0A50990}"/>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25 / 27</a:t>
            </a:r>
          </a:p>
        </p:txBody>
      </p:sp>
      <p:sp>
        <p:nvSpPr>
          <p:cNvPr id="5" name="TextBox 4">
            <a:extLst>
              <a:ext uri="{FF2B5EF4-FFF2-40B4-BE49-F238E27FC236}">
                <a16:creationId xmlns:a16="http://schemas.microsoft.com/office/drawing/2014/main" id="{033CCEBC-13C2-6E45-E261-2DCB3C7D625F}"/>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ملحق ب: مطابقة لوحة سدايا وأسلوب التقييم</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9DEA8D1-CFAC-29A3-446F-3C3EBC2FF6EA}"/>
              </a:ext>
            </a:extLst>
          </p:cNvPr>
          <p:cNvSpPr txBox="1"/>
          <p:nvPr/>
        </p:nvSpPr>
        <p:spPr>
          <a:xfrm>
            <a:off x="533400" y="1320800"/>
            <a:ext cx="11125200" cy="636072"/>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اللوحة المستقلة تجيب عن الحقول الثمانية. العرض الحي الرسمي غير منفّذ؛ بديل التقييم بالملف يحتاج تأكيد المدرّب، ولا يُدّعى استيفاء صيغة التقييم بالمحتوى وحده.</a:t>
            </a:r>
            <a:endParaRPr lang="en-US" sz="1900">
              <a:solidFill>
                <a:srgbClr val="30263B"/>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BDF850BD-CBDD-EE26-33D4-6A49146213ED}"/>
              </a:ext>
            </a:extLst>
          </p:cNvPr>
          <p:cNvSpPr/>
          <p:nvPr/>
        </p:nvSpPr>
        <p:spPr>
          <a:xfrm>
            <a:off x="60960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51FA27A-6F7B-9639-9FBD-D265F8C5825E}"/>
              </a:ext>
            </a:extLst>
          </p:cNvPr>
          <p:cNvSpPr txBox="1"/>
          <p:nvPr/>
        </p:nvSpPr>
        <p:spPr>
          <a:xfrm>
            <a:off x="61722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القسم الرسمي</a:t>
            </a:r>
            <a:endParaRPr lang="en-US" sz="1600" b="1">
              <a:solidFill>
                <a:srgbClr val="FFFFFF"/>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6FCFE391-0E27-C3E6-66E2-C48D6F2D4612}"/>
              </a:ext>
            </a:extLst>
          </p:cNvPr>
          <p:cNvSpPr/>
          <p:nvPr/>
        </p:nvSpPr>
        <p:spPr>
          <a:xfrm>
            <a:off x="6096000" y="27305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7F0CCE7-E150-410C-8862-28A48318DF20}"/>
              </a:ext>
            </a:extLst>
          </p:cNvPr>
          <p:cNvSpPr txBox="1"/>
          <p:nvPr/>
        </p:nvSpPr>
        <p:spPr>
          <a:xfrm>
            <a:off x="6184900" y="27686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1 · المهمة وخط الأساس</a:t>
            </a:r>
            <a:endParaRPr lang="en-US" sz="1900" b="1">
              <a:solidFill>
                <a:srgbClr val="30263B"/>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8201879A-7139-349C-8163-5C0FA9583E2F}"/>
              </a:ext>
            </a:extLst>
          </p:cNvPr>
          <p:cNvSpPr/>
          <p:nvPr/>
        </p:nvSpPr>
        <p:spPr>
          <a:xfrm>
            <a:off x="6096000" y="31559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0191C04-7E00-7484-4B04-6DA8D9B06DEE}"/>
              </a:ext>
            </a:extLst>
          </p:cNvPr>
          <p:cNvSpPr txBox="1"/>
          <p:nvPr/>
        </p:nvSpPr>
        <p:spPr>
          <a:xfrm>
            <a:off x="6184900" y="319405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2 · المسار، ولماذا</a:t>
            </a:r>
            <a:endParaRPr lang="en-US" sz="1900" b="1">
              <a:solidFill>
                <a:srgbClr val="30263B"/>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422888C7-597E-6950-A817-778119F91FE5}"/>
              </a:ext>
            </a:extLst>
          </p:cNvPr>
          <p:cNvSpPr/>
          <p:nvPr/>
        </p:nvSpPr>
        <p:spPr>
          <a:xfrm>
            <a:off x="6096000" y="35814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5B400AC-CAB9-4EC0-00FE-58A17BF2DCB6}"/>
              </a:ext>
            </a:extLst>
          </p:cNvPr>
          <p:cNvSpPr txBox="1"/>
          <p:nvPr/>
        </p:nvSpPr>
        <p:spPr>
          <a:xfrm>
            <a:off x="6184900" y="36195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3 · سير العمل</a:t>
            </a:r>
            <a:endParaRPr lang="en-US" sz="1900" b="1">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324C58A-5472-6A85-2E12-AA6420AB90F4}"/>
              </a:ext>
            </a:extLst>
          </p:cNvPr>
          <p:cNvSpPr/>
          <p:nvPr/>
        </p:nvSpPr>
        <p:spPr>
          <a:xfrm>
            <a:off x="6096000" y="40068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8201431-E7A1-501D-67B5-C901276F6C52}"/>
              </a:ext>
            </a:extLst>
          </p:cNvPr>
          <p:cNvSpPr txBox="1"/>
          <p:nvPr/>
        </p:nvSpPr>
        <p:spPr>
          <a:xfrm>
            <a:off x="6184900" y="404495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4 · بطاقة التفويض والأمر الجاهز</a:t>
            </a:r>
            <a:endParaRPr lang="en-US" sz="1900" b="1">
              <a:solidFill>
                <a:srgbClr val="30263B"/>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6A97E50F-7248-10BB-AD46-03A1DD85651D}"/>
              </a:ext>
            </a:extLst>
          </p:cNvPr>
          <p:cNvSpPr/>
          <p:nvPr/>
        </p:nvSpPr>
        <p:spPr>
          <a:xfrm>
            <a:off x="6096000" y="44323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F6DD37F-8A0F-D31F-8EE6-EAB848867346}"/>
              </a:ext>
            </a:extLst>
          </p:cNvPr>
          <p:cNvSpPr txBox="1"/>
          <p:nvPr/>
        </p:nvSpPr>
        <p:spPr>
          <a:xfrm>
            <a:off x="6184900" y="44704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5 · البيانات</a:t>
            </a:r>
            <a:endParaRPr lang="en-US" sz="1900" b="1">
              <a:solidFill>
                <a:srgbClr val="30263B"/>
              </a:solidFill>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8BBF798F-26E4-0215-E434-34A468C9823D}"/>
              </a:ext>
            </a:extLst>
          </p:cNvPr>
          <p:cNvSpPr/>
          <p:nvPr/>
        </p:nvSpPr>
        <p:spPr>
          <a:xfrm>
            <a:off x="6096000" y="48577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820FCC4-CB78-6B59-924C-262B4C6AC77D}"/>
              </a:ext>
            </a:extLst>
          </p:cNvPr>
          <p:cNvSpPr txBox="1"/>
          <p:nvPr/>
        </p:nvSpPr>
        <p:spPr>
          <a:xfrm>
            <a:off x="6184900" y="489585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6 · معيار القبول وحالات الاختبار</a:t>
            </a:r>
            <a:endParaRPr lang="en-US" sz="1900" b="1">
              <a:solidFill>
                <a:srgbClr val="30263B"/>
              </a:solidFill>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0DCF559D-21C1-19D5-B4B5-73B6554CE51F}"/>
              </a:ext>
            </a:extLst>
          </p:cNvPr>
          <p:cNvSpPr/>
          <p:nvPr/>
        </p:nvSpPr>
        <p:spPr>
          <a:xfrm>
            <a:off x="6096000" y="52832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AFE6DB5-3D10-B817-259B-FDCE605D55E7}"/>
              </a:ext>
            </a:extLst>
          </p:cNvPr>
          <p:cNvSpPr txBox="1"/>
          <p:nvPr/>
        </p:nvSpPr>
        <p:spPr>
          <a:xfrm>
            <a:off x="6184900" y="532130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7 · النتيجة المقيسة</a:t>
            </a:r>
            <a:endParaRPr lang="en-US" sz="1900" b="1">
              <a:solidFill>
                <a:srgbClr val="30263B"/>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0574B012-9B8C-2E95-6DC9-0A2F540BC0CE}"/>
              </a:ext>
            </a:extLst>
          </p:cNvPr>
          <p:cNvSpPr/>
          <p:nvPr/>
        </p:nvSpPr>
        <p:spPr>
          <a:xfrm>
            <a:off x="6096000" y="57086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D803186-4EB6-E826-47D3-097B16488B86}"/>
              </a:ext>
            </a:extLst>
          </p:cNvPr>
          <p:cNvSpPr txBox="1"/>
          <p:nvPr/>
        </p:nvSpPr>
        <p:spPr>
          <a:xfrm>
            <a:off x="6184900" y="5746750"/>
            <a:ext cx="5359400" cy="343684"/>
          </a:xfrm>
          <a:prstGeom prst="rect">
            <a:avLst/>
          </a:prstGeom>
          <a:noFill/>
        </p:spPr>
        <p:txBody>
          <a:bodyPr vert="horz" wrap="square" lIns="38100" tIns="25400" rIns="38100" bIns="25400" rtlCol="0">
            <a:spAutoFit/>
          </a:bodyPr>
          <a:lstStyle/>
          <a:p>
            <a:pPr algn="r" rtl="1">
              <a:spcAft>
                <a:spcPts val="400"/>
              </a:spcAft>
            </a:pPr>
            <a:r>
              <a:rPr lang="ar-SA" sz="1900" b="1">
                <a:solidFill>
                  <a:srgbClr val="30263B"/>
                </a:solidFill>
                <a:latin typeface="Arial" panose="020B0604020202020204" pitchFamily="34" charset="0"/>
                <a:cs typeface="Arial" panose="020B0604020202020204" pitchFamily="34" charset="0"/>
              </a:rPr>
              <a:t>8 · المخاطر والضوابط، وخطة 30 يومًا</a:t>
            </a:r>
            <a:endParaRPr lang="en-US" sz="1900" b="1">
              <a:solidFill>
                <a:srgbClr val="30263B"/>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EDA357F0-0481-2F98-394A-41BFA5D9754D}"/>
              </a:ext>
            </a:extLst>
          </p:cNvPr>
          <p:cNvSpPr/>
          <p:nvPr/>
        </p:nvSpPr>
        <p:spPr>
          <a:xfrm>
            <a:off x="533400" y="2260600"/>
            <a:ext cx="5537200" cy="4699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6E203F1-737A-B863-AFB8-1756E3FFC807}"/>
              </a:ext>
            </a:extLst>
          </p:cNvPr>
          <p:cNvSpPr txBox="1"/>
          <p:nvPr/>
        </p:nvSpPr>
        <p:spPr>
          <a:xfrm>
            <a:off x="609600" y="2311400"/>
            <a:ext cx="5384800" cy="297517"/>
          </a:xfrm>
          <a:prstGeom prst="rect">
            <a:avLst/>
          </a:prstGeom>
          <a:noFill/>
        </p:spPr>
        <p:txBody>
          <a:bodyPr vert="horz" wrap="square" lIns="38100" tIns="25400" rIns="38100" bIns="25400" rtlCol="0">
            <a:spAutoFit/>
          </a:bodyPr>
          <a:lstStyle/>
          <a:p>
            <a:pPr algn="r" rtl="1">
              <a:spcAft>
                <a:spcPts val="400"/>
              </a:spcAft>
            </a:pPr>
            <a:r>
              <a:rPr lang="ar-SA" sz="1600" b="1">
                <a:solidFill>
                  <a:srgbClr val="FFFFFF"/>
                </a:solidFill>
                <a:latin typeface="Arial" panose="020B0604020202020204" pitchFamily="34" charset="0"/>
                <a:cs typeface="Arial" panose="020B0604020202020204" pitchFamily="34" charset="0"/>
              </a:rPr>
              <a:t>موضعه في العرض</a:t>
            </a:r>
            <a:endParaRPr lang="en-US" sz="1600" b="1">
              <a:solidFill>
                <a:srgbClr val="FFFFFF"/>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F70FAABC-B32C-F068-D772-D8F30A65D781}"/>
              </a:ext>
            </a:extLst>
          </p:cNvPr>
          <p:cNvSpPr/>
          <p:nvPr/>
        </p:nvSpPr>
        <p:spPr>
          <a:xfrm>
            <a:off x="533400" y="27305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5FFE0F3-DFDE-5D99-7E13-CAC98B361490}"/>
              </a:ext>
            </a:extLst>
          </p:cNvPr>
          <p:cNvSpPr txBox="1"/>
          <p:nvPr/>
        </p:nvSpPr>
        <p:spPr>
          <a:xfrm>
            <a:off x="622300" y="276860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3، 5، 19–20</a:t>
            </a:r>
          </a:p>
        </p:txBody>
      </p:sp>
      <p:sp>
        <p:nvSpPr>
          <p:cNvPr id="29" name="Rectangle 28">
            <a:extLst>
              <a:ext uri="{FF2B5EF4-FFF2-40B4-BE49-F238E27FC236}">
                <a16:creationId xmlns:a16="http://schemas.microsoft.com/office/drawing/2014/main" id="{398B6E33-3BFF-D6B1-7CA3-65A5740FCF11}"/>
              </a:ext>
            </a:extLst>
          </p:cNvPr>
          <p:cNvSpPr/>
          <p:nvPr/>
        </p:nvSpPr>
        <p:spPr>
          <a:xfrm>
            <a:off x="533400" y="31559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AD54707-6F28-2909-335E-D1DF4DE1A19A}"/>
              </a:ext>
            </a:extLst>
          </p:cNvPr>
          <p:cNvSpPr txBox="1"/>
          <p:nvPr/>
        </p:nvSpPr>
        <p:spPr>
          <a:xfrm>
            <a:off x="622300" y="319405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4</a:t>
            </a:r>
          </a:p>
        </p:txBody>
      </p:sp>
      <p:sp>
        <p:nvSpPr>
          <p:cNvPr id="31" name="Rectangle 30">
            <a:extLst>
              <a:ext uri="{FF2B5EF4-FFF2-40B4-BE49-F238E27FC236}">
                <a16:creationId xmlns:a16="http://schemas.microsoft.com/office/drawing/2014/main" id="{B44953BA-48B8-C4BC-3F75-E4A1E006A326}"/>
              </a:ext>
            </a:extLst>
          </p:cNvPr>
          <p:cNvSpPr/>
          <p:nvPr/>
        </p:nvSpPr>
        <p:spPr>
          <a:xfrm>
            <a:off x="533400" y="35814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F2DA9A6-4FBC-DDDD-D462-C1B58F626B4F}"/>
              </a:ext>
            </a:extLst>
          </p:cNvPr>
          <p:cNvSpPr txBox="1"/>
          <p:nvPr/>
        </p:nvSpPr>
        <p:spPr>
          <a:xfrm>
            <a:off x="622300" y="361950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5–6</a:t>
            </a:r>
          </a:p>
        </p:txBody>
      </p:sp>
      <p:sp>
        <p:nvSpPr>
          <p:cNvPr id="33" name="Rectangle 32">
            <a:extLst>
              <a:ext uri="{FF2B5EF4-FFF2-40B4-BE49-F238E27FC236}">
                <a16:creationId xmlns:a16="http://schemas.microsoft.com/office/drawing/2014/main" id="{0B3C8280-6FFA-0841-B227-AFA1FC9AD98F}"/>
              </a:ext>
            </a:extLst>
          </p:cNvPr>
          <p:cNvSpPr/>
          <p:nvPr/>
        </p:nvSpPr>
        <p:spPr>
          <a:xfrm>
            <a:off x="533400" y="40068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309F755-BFF9-EBC7-B576-BE74B4692878}"/>
              </a:ext>
            </a:extLst>
          </p:cNvPr>
          <p:cNvSpPr txBox="1"/>
          <p:nvPr/>
        </p:nvSpPr>
        <p:spPr>
          <a:xfrm>
            <a:off x="622300" y="404495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6–8، 24</a:t>
            </a:r>
          </a:p>
        </p:txBody>
      </p:sp>
      <p:sp>
        <p:nvSpPr>
          <p:cNvPr id="35" name="Rectangle 34">
            <a:extLst>
              <a:ext uri="{FF2B5EF4-FFF2-40B4-BE49-F238E27FC236}">
                <a16:creationId xmlns:a16="http://schemas.microsoft.com/office/drawing/2014/main" id="{1BEE96F2-2124-68B6-3079-8E2E9AE15A4E}"/>
              </a:ext>
            </a:extLst>
          </p:cNvPr>
          <p:cNvSpPr/>
          <p:nvPr/>
        </p:nvSpPr>
        <p:spPr>
          <a:xfrm>
            <a:off x="533400" y="44323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71CB107-CC3D-B0B6-50CF-7D12FBCE411A}"/>
              </a:ext>
            </a:extLst>
          </p:cNvPr>
          <p:cNvSpPr txBox="1"/>
          <p:nvPr/>
        </p:nvSpPr>
        <p:spPr>
          <a:xfrm>
            <a:off x="622300" y="447040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13</a:t>
            </a:r>
          </a:p>
        </p:txBody>
      </p:sp>
      <p:sp>
        <p:nvSpPr>
          <p:cNvPr id="37" name="Rectangle 36">
            <a:extLst>
              <a:ext uri="{FF2B5EF4-FFF2-40B4-BE49-F238E27FC236}">
                <a16:creationId xmlns:a16="http://schemas.microsoft.com/office/drawing/2014/main" id="{648B1813-AEB3-E171-2940-6AA95683FE65}"/>
              </a:ext>
            </a:extLst>
          </p:cNvPr>
          <p:cNvSpPr/>
          <p:nvPr/>
        </p:nvSpPr>
        <p:spPr>
          <a:xfrm>
            <a:off x="533400" y="48577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7E6BA2A6-4A25-3816-6839-D646A307950F}"/>
              </a:ext>
            </a:extLst>
          </p:cNvPr>
          <p:cNvSpPr txBox="1"/>
          <p:nvPr/>
        </p:nvSpPr>
        <p:spPr>
          <a:xfrm>
            <a:off x="622300" y="489585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14–16</a:t>
            </a:r>
          </a:p>
        </p:txBody>
      </p:sp>
      <p:sp>
        <p:nvSpPr>
          <p:cNvPr id="39" name="Rectangle 38">
            <a:extLst>
              <a:ext uri="{FF2B5EF4-FFF2-40B4-BE49-F238E27FC236}">
                <a16:creationId xmlns:a16="http://schemas.microsoft.com/office/drawing/2014/main" id="{DF875BE2-69DD-7F75-82A2-33FAB9720D27}"/>
              </a:ext>
            </a:extLst>
          </p:cNvPr>
          <p:cNvSpPr/>
          <p:nvPr/>
        </p:nvSpPr>
        <p:spPr>
          <a:xfrm>
            <a:off x="533400" y="5283200"/>
            <a:ext cx="5537200" cy="40005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E9FC41C-9FEA-ED84-50EF-F073C34892F3}"/>
              </a:ext>
            </a:extLst>
          </p:cNvPr>
          <p:cNvSpPr txBox="1"/>
          <p:nvPr/>
        </p:nvSpPr>
        <p:spPr>
          <a:xfrm>
            <a:off x="622300" y="532130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19–20</a:t>
            </a:r>
          </a:p>
        </p:txBody>
      </p:sp>
      <p:sp>
        <p:nvSpPr>
          <p:cNvPr id="41" name="Rectangle 40">
            <a:extLst>
              <a:ext uri="{FF2B5EF4-FFF2-40B4-BE49-F238E27FC236}">
                <a16:creationId xmlns:a16="http://schemas.microsoft.com/office/drawing/2014/main" id="{85B74E68-986C-029F-EAF7-3E6C812308AE}"/>
              </a:ext>
            </a:extLst>
          </p:cNvPr>
          <p:cNvSpPr/>
          <p:nvPr/>
        </p:nvSpPr>
        <p:spPr>
          <a:xfrm>
            <a:off x="533400" y="5708650"/>
            <a:ext cx="5537200" cy="400050"/>
          </a:xfrm>
          <a:prstGeom prst="rect">
            <a:avLst/>
          </a:prstGeom>
          <a:solidFill>
            <a:srgbClr val="E8F5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D7813E9-7A0C-747D-2AB2-CF970E510A2D}"/>
              </a:ext>
            </a:extLst>
          </p:cNvPr>
          <p:cNvSpPr txBox="1"/>
          <p:nvPr/>
        </p:nvSpPr>
        <p:spPr>
          <a:xfrm>
            <a:off x="622300" y="5746750"/>
            <a:ext cx="5359400" cy="34368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21–22</a:t>
            </a:r>
          </a:p>
        </p:txBody>
      </p:sp>
      <p:sp>
        <p:nvSpPr>
          <p:cNvPr id="43" name="Rectangle 42">
            <a:extLst>
              <a:ext uri="{FF2B5EF4-FFF2-40B4-BE49-F238E27FC236}">
                <a16:creationId xmlns:a16="http://schemas.microsoft.com/office/drawing/2014/main" id="{430D65F9-F064-9B12-9BC9-8A9EC79BBF26}"/>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5591A03B-ED02-4A89-E7E5-07AC60E78EE0}"/>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O1: capstone.html؛ </a:t>
            </a:r>
            <a:r>
              <a:rPr lang="ar-SA" sz="1000">
                <a:solidFill>
                  <a:srgbClr val="6C6570"/>
                </a:solidFill>
                <a:latin typeface="Arial" panose="020B0604020202020204" pitchFamily="34" charset="0"/>
                <a:cs typeface="Arial" panose="020B0604020202020204" pitchFamily="34" charset="0"/>
              </a:rPr>
              <a:t>تغطية المحتوى لا تعني تلقائيًا استيفاء صيغة التقييم الرسمي</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7402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85F00E-EEB2-B71A-D754-0CF8DFC6C7E6}"/>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4D21A42-B694-8207-B96B-D8A2EE0B2167}"/>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D9924475-DC72-ECDF-B4FC-E123A5B2AA2D}"/>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26 / 27</a:t>
            </a:r>
          </a:p>
        </p:txBody>
      </p:sp>
      <p:sp>
        <p:nvSpPr>
          <p:cNvPr id="5" name="TextBox 4">
            <a:extLst>
              <a:ext uri="{FF2B5EF4-FFF2-40B4-BE49-F238E27FC236}">
                <a16:creationId xmlns:a16="http://schemas.microsoft.com/office/drawing/2014/main" id="{B76155F8-C136-7D8A-1C7E-72AB7669A4E3}"/>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ملحق ج: المصادر والأدلة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F8EAD7A-6E50-9831-D7EE-EB0D3623A4A8}"/>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مسارات نسبية داخل المشروع؛ الروابط الرسمية كاملة أدناه. للاطلاع التفصيلي استخدم </a:t>
            </a:r>
            <a:r>
              <a:rPr lang="en-US" sz="1900">
                <a:solidFill>
                  <a:srgbClr val="30263B"/>
                </a:solidFill>
                <a:latin typeface="Arial" panose="020B0604020202020204" pitchFamily="34" charset="0"/>
                <a:cs typeface="Arial" panose="020B0604020202020204" pitchFamily="34" charset="0"/>
              </a:rPr>
              <a:t>MeetSpace_Evidence_Checklist.md.</a:t>
            </a:r>
          </a:p>
        </p:txBody>
      </p:sp>
      <p:sp>
        <p:nvSpPr>
          <p:cNvPr id="7" name="Rectangle: Rounded Corners 6">
            <a:extLst>
              <a:ext uri="{FF2B5EF4-FFF2-40B4-BE49-F238E27FC236}">
                <a16:creationId xmlns:a16="http://schemas.microsoft.com/office/drawing/2014/main" id="{357A4003-75BB-A3D9-F25C-61014638C3E2}"/>
              </a:ext>
            </a:extLst>
          </p:cNvPr>
          <p:cNvSpPr/>
          <p:nvPr/>
        </p:nvSpPr>
        <p:spPr>
          <a:xfrm>
            <a:off x="6184900" y="2336800"/>
            <a:ext cx="5473700"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54F925D-EBB2-D133-7649-106595CB5976}"/>
              </a:ext>
            </a:extLst>
          </p:cNvPr>
          <p:cNvSpPr/>
          <p:nvPr/>
        </p:nvSpPr>
        <p:spPr>
          <a:xfrm>
            <a:off x="115697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E705C63-4AFD-D250-8230-9B6126BB64C7}"/>
              </a:ext>
            </a:extLst>
          </p:cNvPr>
          <p:cNvSpPr txBox="1"/>
          <p:nvPr/>
        </p:nvSpPr>
        <p:spPr>
          <a:xfrm>
            <a:off x="6350000" y="2489200"/>
            <a:ext cx="5118100"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مصادر المشروع</a:t>
            </a:r>
            <a:endParaRPr lang="en-US" sz="2000" b="1">
              <a:solidFill>
                <a:srgbClr val="5B2453"/>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CADD4F7-3200-DE68-368D-D51174D64FD6}"/>
              </a:ext>
            </a:extLst>
          </p:cNvPr>
          <p:cNvSpPr txBox="1"/>
          <p:nvPr/>
        </p:nvSpPr>
        <p:spPr>
          <a:xfrm>
            <a:off x="6350000" y="3175000"/>
            <a:ext cx="5143500" cy="2544286"/>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E01: AGENTS.md
E02: docs/MeetSpace_BRD.md، docs/MeetSpace_SPEC.md، design/MeetSpace_A_Redesign.html
E03: docs/Productivity_Results.md، docs/m4/productivity_results.csv
E04: docs/Prompt_Engineering_Log.md، docs/archive/prompt_versions/</a:t>
            </a:r>
          </a:p>
        </p:txBody>
      </p:sp>
      <p:sp>
        <p:nvSpPr>
          <p:cNvPr id="11" name="Rectangle: Rounded Corners 10">
            <a:extLst>
              <a:ext uri="{FF2B5EF4-FFF2-40B4-BE49-F238E27FC236}">
                <a16:creationId xmlns:a16="http://schemas.microsoft.com/office/drawing/2014/main" id="{6C10834D-59C2-41BC-9DE8-02788F2693C3}"/>
              </a:ext>
            </a:extLst>
          </p:cNvPr>
          <p:cNvSpPr/>
          <p:nvPr/>
        </p:nvSpPr>
        <p:spPr>
          <a:xfrm>
            <a:off x="533400" y="2336800"/>
            <a:ext cx="5473700" cy="3810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9D7547-FFAE-EC10-2CCD-44E3C096630C}"/>
              </a:ext>
            </a:extLst>
          </p:cNvPr>
          <p:cNvSpPr/>
          <p:nvPr/>
        </p:nvSpPr>
        <p:spPr>
          <a:xfrm>
            <a:off x="5918200" y="2540000"/>
            <a:ext cx="50800" cy="3556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AE3A67E-7081-85BB-96B6-364D137AC2FE}"/>
              </a:ext>
            </a:extLst>
          </p:cNvPr>
          <p:cNvSpPr txBox="1"/>
          <p:nvPr/>
        </p:nvSpPr>
        <p:spPr>
          <a:xfrm>
            <a:off x="698500" y="2489200"/>
            <a:ext cx="5118100" cy="359073"/>
          </a:xfrm>
          <a:prstGeom prst="rect">
            <a:avLst/>
          </a:prstGeom>
          <a:noFill/>
        </p:spPr>
        <p:txBody>
          <a:bodyPr vert="horz" wrap="square" lIns="38100" tIns="25400" rIns="38100" bIns="25400" rtlCol="0">
            <a:spAutoFit/>
          </a:bodyPr>
          <a:lstStyle/>
          <a:p>
            <a:pPr algn="r" rtl="1">
              <a:spcAft>
                <a:spcPts val="400"/>
              </a:spcAft>
            </a:pPr>
            <a:r>
              <a:rPr lang="ar-SA" sz="2000" b="1">
                <a:solidFill>
                  <a:srgbClr val="5B2453"/>
                </a:solidFill>
                <a:latin typeface="Arial" panose="020B0604020202020204" pitchFamily="34" charset="0"/>
                <a:cs typeface="Arial" panose="020B0604020202020204" pitchFamily="34" charset="0"/>
              </a:rPr>
              <a:t>أدلة قابلة لإعادة الفحص</a:t>
            </a:r>
            <a:endParaRPr lang="en-US" sz="2000" b="1">
              <a:solidFill>
                <a:srgbClr val="5B2453"/>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3F026BD7-45C4-3FF3-3F0D-9CAF43BB692C}"/>
              </a:ext>
            </a:extLst>
          </p:cNvPr>
          <p:cNvSpPr txBox="1"/>
          <p:nvPr/>
        </p:nvSpPr>
        <p:spPr>
          <a:xfrm>
            <a:off x="698500" y="3175000"/>
            <a:ext cx="5143500" cy="2836674"/>
          </a:xfrm>
          <a:prstGeom prst="rect">
            <a:avLst/>
          </a:prstGeom>
          <a:noFill/>
        </p:spPr>
        <p:txBody>
          <a:bodyPr vert="horz" wrap="square" lIns="38100" tIns="25400" rIns="38100" bIns="25400" rtlCol="0">
            <a:spAutoFit/>
          </a:bodyPr>
          <a:lstStyle/>
          <a:p>
            <a:pPr algn="r" rtl="1">
              <a:spcAft>
                <a:spcPts val="400"/>
              </a:spcAft>
            </a:pPr>
            <a:r>
              <a:rPr lang="en-US" sz="1900">
                <a:solidFill>
                  <a:srgbClr val="30263B"/>
                </a:solidFill>
                <a:latin typeface="Arial" panose="020B0604020202020204" pitchFamily="34" charset="0"/>
                <a:cs typeface="Arial" panose="020B0604020202020204" pitchFamily="34" charset="0"/>
              </a:rPr>
              <a:t>E05: docs/evidence/m2/ </a:t>
            </a:r>
            <a:r>
              <a:rPr lang="ar-SA" sz="1900">
                <a:solidFill>
                  <a:srgbClr val="30263B"/>
                </a:solidFill>
                <a:latin typeface="Arial" panose="020B0604020202020204" pitchFamily="34" charset="0"/>
                <a:cs typeface="Arial" panose="020B0604020202020204" pitchFamily="34" charset="0"/>
              </a:rPr>
              <a:t>و</a:t>
            </a:r>
            <a:r>
              <a:rPr lang="en-US" sz="1900">
                <a:solidFill>
                  <a:srgbClr val="30263B"/>
                </a:solidFill>
                <a:latin typeface="Arial" panose="020B0604020202020204" pitchFamily="34" charset="0"/>
                <a:cs typeface="Arial" panose="020B0604020202020204" pitchFamily="34" charset="0"/>
              </a:rPr>
              <a:t>m3/ </a:t>
            </a:r>
            <a:r>
              <a:rPr lang="ar-SA" sz="1900">
                <a:solidFill>
                  <a:srgbClr val="30263B"/>
                </a:solidFill>
                <a:latin typeface="Arial" panose="020B0604020202020204" pitchFamily="34" charset="0"/>
                <a:cs typeface="Arial" panose="020B0604020202020204" pitchFamily="34" charset="0"/>
              </a:rPr>
              <a:t>و</a:t>
            </a:r>
            <a:r>
              <a:rPr lang="en-US" sz="1900">
                <a:solidFill>
                  <a:srgbClr val="30263B"/>
                </a:solidFill>
                <a:latin typeface="Arial" panose="020B0604020202020204" pitchFamily="34" charset="0"/>
                <a:cs typeface="Arial" panose="020B0604020202020204" pitchFamily="34" charset="0"/>
              </a:rPr>
              <a:t>m4/؛ docs/evidence/capstone/unit_checks.txt
E06: docs/evidence/capstone/screenshot_manifest.json </a:t>
            </a:r>
            <a:r>
              <a:rPr lang="ar-SA" sz="1900">
                <a:solidFill>
                  <a:srgbClr val="30263B"/>
                </a:solidFill>
                <a:latin typeface="Arial" panose="020B0604020202020204" pitchFamily="34" charset="0"/>
                <a:cs typeface="Arial" panose="020B0604020202020204" pitchFamily="34" charset="0"/>
              </a:rPr>
              <a:t>و</a:t>
            </a:r>
            <a:r>
              <a:rPr lang="en-US" sz="1900">
                <a:solidFill>
                  <a:srgbClr val="30263B"/>
                </a:solidFill>
                <a:latin typeface="Arial" panose="020B0604020202020204" pitchFamily="34" charset="0"/>
                <a:cs typeface="Arial" panose="020B0604020202020204" pitchFamily="34" charset="0"/>
              </a:rPr>
              <a:t>screenshots/
E07: docs/evidence/capstone/readiness_probe.json
</a:t>
            </a:r>
            <a:r>
              <a:rPr lang="ar-SA" sz="1900">
                <a:solidFill>
                  <a:srgbClr val="30263B"/>
                </a:solidFill>
                <a:latin typeface="Arial" panose="020B0604020202020204" pitchFamily="34" charset="0"/>
                <a:cs typeface="Arial" panose="020B0604020202020204" pitchFamily="34" charset="0"/>
              </a:rPr>
              <a:t>المصدر الدراسي المرجعي: </a:t>
            </a:r>
            <a:r>
              <a:rPr lang="en-US" sz="1900">
                <a:solidFill>
                  <a:srgbClr val="30263B"/>
                </a:solidFill>
                <a:latin typeface="Arial" panose="020B0604020202020204" pitchFamily="34" charset="0"/>
                <a:cs typeface="Arial" panose="020B0604020202020204" pitchFamily="34" charset="0"/>
              </a:rPr>
              <a:t>final_project_slides.pdf، 16 </a:t>
            </a:r>
            <a:r>
              <a:rPr lang="ar-SA" sz="1900">
                <a:solidFill>
                  <a:srgbClr val="30263B"/>
                </a:solidFill>
                <a:latin typeface="Arial" panose="020B0604020202020204" pitchFamily="34" charset="0"/>
                <a:cs typeface="Arial" panose="020B0604020202020204" pitchFamily="34" charset="0"/>
              </a:rPr>
              <a:t>صفحة؛ تنظيم فقط دون نسخ نتائج أو تصميم.</a:t>
            </a:r>
            <a:endParaRPr lang="en-US" sz="1900">
              <a:solidFill>
                <a:srgbClr val="30263B"/>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32C2344-250D-CCA6-8D3D-68A456E8731F}"/>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DE379BC-D130-AAF0-71DC-1D88DAEFA383}"/>
              </a:ext>
            </a:extLst>
          </p:cNvPr>
          <p:cNvSpPr txBox="1"/>
          <p:nvPr/>
        </p:nvSpPr>
        <p:spPr>
          <a:xfrm>
            <a:off x="533400" y="6273800"/>
            <a:ext cx="11125200" cy="569387"/>
          </a:xfrm>
          <a:prstGeom prst="rect">
            <a:avLst/>
          </a:prstGeom>
          <a:noFill/>
        </p:spPr>
        <p:txBody>
          <a:bodyPr vert="horz" wrap="square" lIns="38100" tIns="25400" rIns="38100" bIns="25400" rtlCol="0">
            <a:spAutoFit/>
          </a:bodyPr>
          <a:lstStyle/>
          <a:p>
            <a:pPr>
              <a:spcAft>
                <a:spcPts val="400"/>
              </a:spcAft>
            </a:pPr>
            <a:r>
              <a:rPr lang="pt-BR" sz="900">
                <a:solidFill>
                  <a:srgbClr val="6C6570"/>
                </a:solidFill>
                <a:latin typeface="Arial" panose="020B0604020202020204" pitchFamily="34" charset="0"/>
                <a:cs typeface="Arial" panose="020B0604020202020204" pitchFamily="34" charset="0"/>
              </a:rPr>
              <a:t>O1: https://sdaiaacademy.github.io/productivity/labs/capstone.html
O2: https://sdaiaacademy.github.io/productivity/labs/D4_3_build_it.html
O3: https://sdaiaacademy.github.io/productivity/labs/D4_4_adoption_plan.html</a:t>
            </a:r>
            <a:endParaRPr lang="en-US" sz="9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8636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E861BA-1A3F-D6EE-223D-90A96203BA75}"/>
              </a:ext>
            </a:extLst>
          </p:cNvPr>
          <p:cNvSpPr/>
          <p:nvPr/>
        </p:nvSpPr>
        <p:spPr>
          <a:xfrm>
            <a:off x="0" y="0"/>
            <a:ext cx="12192000" cy="101600"/>
          </a:xfrm>
          <a:prstGeom prst="rect">
            <a:avLst/>
          </a:prstGeom>
          <a:solidFill>
            <a:srgbClr val="5B245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DE83488-B8E9-7CC4-860A-CA1CFFCF1230}"/>
              </a:ext>
            </a:extLst>
          </p:cNvPr>
          <p:cNvSpPr txBox="1"/>
          <p:nvPr/>
        </p:nvSpPr>
        <p:spPr>
          <a:xfrm>
            <a:off x="533400" y="203200"/>
            <a:ext cx="6985000" cy="205184"/>
          </a:xfrm>
          <a:prstGeom prst="rect">
            <a:avLst/>
          </a:prstGeom>
          <a:noFill/>
        </p:spPr>
        <p:txBody>
          <a:bodyPr vert="horz" wrap="square" lIns="38100" tIns="25400" rIns="38100" bIns="25400" rtlCol="0">
            <a:spAutoFit/>
          </a:bodyPr>
          <a:lstStyle/>
          <a:p>
            <a:pPr>
              <a:spcAft>
                <a:spcPts val="400"/>
              </a:spcAft>
            </a:pPr>
            <a:r>
              <a:rPr lang="en-US" sz="1000">
                <a:solidFill>
                  <a:srgbClr val="6C6570"/>
                </a:solidFill>
                <a:latin typeface="Arial" panose="020B0604020202020204" pitchFamily="34" charset="0"/>
                <a:cs typeface="Arial" panose="020B0604020202020204" pitchFamily="34" charset="0"/>
              </a:rPr>
              <a:t>MEETSPACE / SDAIA CAPSTONE</a:t>
            </a:r>
          </a:p>
        </p:txBody>
      </p:sp>
      <p:sp>
        <p:nvSpPr>
          <p:cNvPr id="4" name="TextBox 3">
            <a:extLst>
              <a:ext uri="{FF2B5EF4-FFF2-40B4-BE49-F238E27FC236}">
                <a16:creationId xmlns:a16="http://schemas.microsoft.com/office/drawing/2014/main" id="{6C411CD8-49CD-D732-F1F1-5B5C0B881861}"/>
              </a:ext>
            </a:extLst>
          </p:cNvPr>
          <p:cNvSpPr txBox="1"/>
          <p:nvPr/>
        </p:nvSpPr>
        <p:spPr>
          <a:xfrm>
            <a:off x="10312400" y="203200"/>
            <a:ext cx="1346200" cy="205184"/>
          </a:xfrm>
          <a:prstGeom prst="rect">
            <a:avLst/>
          </a:prstGeom>
          <a:noFill/>
        </p:spPr>
        <p:txBody>
          <a:bodyPr vert="horz" wrap="square" lIns="38100" tIns="25400" rIns="38100" bIns="25400" rtlCol="0">
            <a:spAutoFit/>
          </a:bodyPr>
          <a:lstStyle/>
          <a:p>
            <a:pPr algn="r">
              <a:spcAft>
                <a:spcPts val="400"/>
              </a:spcAft>
            </a:pPr>
            <a:r>
              <a:rPr lang="en-US" sz="1000">
                <a:solidFill>
                  <a:srgbClr val="6C6570"/>
                </a:solidFill>
                <a:latin typeface="Arial" panose="020B0604020202020204" pitchFamily="34" charset="0"/>
                <a:cs typeface="Arial" panose="020B0604020202020204" pitchFamily="34" charset="0"/>
              </a:rPr>
              <a:t>27 / 27</a:t>
            </a:r>
          </a:p>
        </p:txBody>
      </p:sp>
      <p:sp>
        <p:nvSpPr>
          <p:cNvPr id="5" name="TextBox 4">
            <a:extLst>
              <a:ext uri="{FF2B5EF4-FFF2-40B4-BE49-F238E27FC236}">
                <a16:creationId xmlns:a16="http://schemas.microsoft.com/office/drawing/2014/main" id="{4BD4C777-AB40-62D2-EC84-09B60109054E}"/>
              </a:ext>
            </a:extLst>
          </p:cNvPr>
          <p:cNvSpPr txBox="1"/>
          <p:nvPr/>
        </p:nvSpPr>
        <p:spPr>
          <a:xfrm>
            <a:off x="533400" y="584200"/>
            <a:ext cx="11125200" cy="512961"/>
          </a:xfrm>
          <a:prstGeom prst="rect">
            <a:avLst/>
          </a:prstGeom>
          <a:noFill/>
        </p:spPr>
        <p:txBody>
          <a:bodyPr vert="horz" wrap="square" lIns="38100" tIns="25400" rIns="38100" bIns="25400" rtlCol="0">
            <a:spAutoFit/>
          </a:bodyPr>
          <a:lstStyle/>
          <a:p>
            <a:pPr algn="r" rtl="1">
              <a:spcAft>
                <a:spcPts val="400"/>
              </a:spcAft>
            </a:pPr>
            <a:r>
              <a:rPr lang="ar-SA" sz="3000" b="1">
                <a:solidFill>
                  <a:srgbClr val="5B2453"/>
                </a:solidFill>
                <a:latin typeface="Arial" panose="020B0604020202020204" pitchFamily="34" charset="0"/>
                <a:cs typeface="Arial" panose="020B0604020202020204" pitchFamily="34" charset="0"/>
              </a:rPr>
              <a:t>ملحق د: تفاصيل فعلية إضافية من الواجهة</a:t>
            </a:r>
            <a:endParaRPr lang="en-US" sz="3000" b="1">
              <a:solidFill>
                <a:srgbClr val="5B245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00C1638-FC60-F4A1-AAA8-0FD5281017BD}"/>
              </a:ext>
            </a:extLst>
          </p:cNvPr>
          <p:cNvSpPr txBox="1"/>
          <p:nvPr/>
        </p:nvSpPr>
        <p:spPr>
          <a:xfrm>
            <a:off x="533400" y="1320800"/>
            <a:ext cx="11125200" cy="343684"/>
          </a:xfrm>
          <a:prstGeom prst="rect">
            <a:avLst/>
          </a:prstGeom>
          <a:noFill/>
        </p:spPr>
        <p:txBody>
          <a:bodyPr vert="horz" wrap="square" lIns="38100" tIns="25400" rIns="38100" bIns="25400" rtlCol="0">
            <a:spAutoFit/>
          </a:bodyPr>
          <a:lstStyle/>
          <a:p>
            <a:pPr algn="r" rtl="1">
              <a:spcAft>
                <a:spcPts val="400"/>
              </a:spcAft>
            </a:pPr>
            <a:r>
              <a:rPr lang="ar-SA" sz="1900">
                <a:solidFill>
                  <a:srgbClr val="30263B"/>
                </a:solidFill>
                <a:latin typeface="Arial" panose="020B0604020202020204" pitchFamily="34" charset="0"/>
                <a:cs typeface="Arial" panose="020B0604020202020204" pitchFamily="34" charset="0"/>
              </a:rPr>
              <a:t>حالة القاعات من واجهة المسؤول، ومحاكاة عرض جوال في المتصفح. الصورة الثانية لا تثبت اختبار جهاز هاتف فعلي.</a:t>
            </a:r>
            <a:endParaRPr lang="en-US" sz="1900">
              <a:solidFill>
                <a:srgbClr val="30263B"/>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46F178B6-C7DD-6DFB-2E05-23AFF4A46F3C}"/>
              </a:ext>
            </a:extLst>
          </p:cNvPr>
          <p:cNvSpPr/>
          <p:nvPr/>
        </p:nvSpPr>
        <p:spPr>
          <a:xfrm>
            <a:off x="533400" y="2209800"/>
            <a:ext cx="5448300" cy="3848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BC43856-5279-3E14-C0DA-374587930D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300" y="3060185"/>
            <a:ext cx="5270500" cy="1817130"/>
          </a:xfrm>
          <a:prstGeom prst="rect">
            <a:avLst/>
          </a:prstGeom>
        </p:spPr>
      </p:pic>
      <p:sp>
        <p:nvSpPr>
          <p:cNvPr id="10" name="TextBox 9">
            <a:extLst>
              <a:ext uri="{FF2B5EF4-FFF2-40B4-BE49-F238E27FC236}">
                <a16:creationId xmlns:a16="http://schemas.microsoft.com/office/drawing/2014/main" id="{1918BF7D-3AC6-CE8D-0660-35A7A6B2C29C}"/>
              </a:ext>
            </a:extLst>
          </p:cNvPr>
          <p:cNvSpPr txBox="1"/>
          <p:nvPr/>
        </p:nvSpPr>
        <p:spPr>
          <a:xfrm>
            <a:off x="609600" y="5689600"/>
            <a:ext cx="5295900" cy="266740"/>
          </a:xfrm>
          <a:prstGeom prst="rect">
            <a:avLst/>
          </a:prstGeom>
          <a:noFill/>
        </p:spPr>
        <p:txBody>
          <a:bodyPr vert="horz" wrap="square" lIns="38100" tIns="25400" rIns="38100" bIns="25400" rtlCol="0">
            <a:spAutoFit/>
          </a:bodyPr>
          <a:lstStyle/>
          <a:p>
            <a:pPr algn="r" rtl="1">
              <a:spcAft>
                <a:spcPts val="400"/>
              </a:spcAft>
            </a:pPr>
            <a:r>
              <a:rPr lang="ar-SA" sz="1400" b="1">
                <a:solidFill>
                  <a:srgbClr val="5B2453"/>
                </a:solidFill>
                <a:latin typeface="Arial" panose="020B0604020202020204" pitchFamily="34" charset="0"/>
                <a:cs typeface="Arial" panose="020B0604020202020204" pitchFamily="34" charset="0"/>
              </a:rPr>
              <a:t>حالات القاعات — قراءة فقط أثناء تجهيز العرض</a:t>
            </a:r>
            <a:endParaRPr lang="en-US" sz="1400" b="1">
              <a:solidFill>
                <a:srgbClr val="5B2453"/>
              </a:solidFill>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5396E43D-D994-FABA-8291-09717A794382}"/>
              </a:ext>
            </a:extLst>
          </p:cNvPr>
          <p:cNvSpPr/>
          <p:nvPr/>
        </p:nvSpPr>
        <p:spPr>
          <a:xfrm>
            <a:off x="6210300" y="2209800"/>
            <a:ext cx="5448300" cy="3848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4F0C81E-B4C1-8E0C-15AE-768CD3D081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2696" y="2286001"/>
            <a:ext cx="343508" cy="3365498"/>
          </a:xfrm>
          <a:prstGeom prst="rect">
            <a:avLst/>
          </a:prstGeom>
        </p:spPr>
      </p:pic>
      <p:sp>
        <p:nvSpPr>
          <p:cNvPr id="14" name="TextBox 13">
            <a:extLst>
              <a:ext uri="{FF2B5EF4-FFF2-40B4-BE49-F238E27FC236}">
                <a16:creationId xmlns:a16="http://schemas.microsoft.com/office/drawing/2014/main" id="{706E60B9-938F-0E0A-E719-C6C413264386}"/>
              </a:ext>
            </a:extLst>
          </p:cNvPr>
          <p:cNvSpPr txBox="1"/>
          <p:nvPr/>
        </p:nvSpPr>
        <p:spPr>
          <a:xfrm>
            <a:off x="6286500" y="5689600"/>
            <a:ext cx="5295900" cy="266740"/>
          </a:xfrm>
          <a:prstGeom prst="rect">
            <a:avLst/>
          </a:prstGeom>
          <a:noFill/>
        </p:spPr>
        <p:txBody>
          <a:bodyPr vert="horz" wrap="square" lIns="38100" tIns="25400" rIns="38100" bIns="25400" rtlCol="0">
            <a:spAutoFit/>
          </a:bodyPr>
          <a:lstStyle/>
          <a:p>
            <a:pPr algn="r" rtl="1">
              <a:spcAft>
                <a:spcPts val="400"/>
              </a:spcAft>
            </a:pPr>
            <a:r>
              <a:rPr lang="en-US" sz="1400" b="1">
                <a:solidFill>
                  <a:srgbClr val="5B2453"/>
                </a:solidFill>
                <a:latin typeface="Arial" panose="020B0604020202020204" pitchFamily="34" charset="0"/>
                <a:cs typeface="Arial" panose="020B0604020202020204" pitchFamily="34" charset="0"/>
              </a:rPr>
              <a:t>Mobile emulation — </a:t>
            </a:r>
            <a:r>
              <a:rPr lang="ar-SA" sz="1400" b="1">
                <a:solidFill>
                  <a:srgbClr val="5B2453"/>
                </a:solidFill>
                <a:latin typeface="Arial" panose="020B0604020202020204" pitchFamily="34" charset="0"/>
                <a:cs typeface="Arial" panose="020B0604020202020204" pitchFamily="34" charset="0"/>
              </a:rPr>
              <a:t>عرض 390 بكسل، وليس هاتفًا فعليًا</a:t>
            </a:r>
            <a:endParaRPr lang="en-US" sz="1400" b="1">
              <a:solidFill>
                <a:srgbClr val="5B2453"/>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3F04BB37-C990-804D-2005-24C2D8E03314}"/>
              </a:ext>
            </a:extLst>
          </p:cNvPr>
          <p:cNvSpPr/>
          <p:nvPr/>
        </p:nvSpPr>
        <p:spPr>
          <a:xfrm>
            <a:off x="533400" y="6261100"/>
            <a:ext cx="11125200" cy="12700"/>
          </a:xfrm>
          <a:prstGeom prst="rect">
            <a:avLst/>
          </a:prstGeom>
          <a:solidFill>
            <a:srgbClr val="67C9C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FB5722C-0656-915D-291F-4C26D4EB645D}"/>
              </a:ext>
            </a:extLst>
          </p:cNvPr>
          <p:cNvSpPr txBox="1"/>
          <p:nvPr/>
        </p:nvSpPr>
        <p:spPr>
          <a:xfrm>
            <a:off x="533400" y="6337300"/>
            <a:ext cx="11125200" cy="205184"/>
          </a:xfrm>
          <a:prstGeom prst="rect">
            <a:avLst/>
          </a:prstGeom>
          <a:noFill/>
        </p:spPr>
        <p:txBody>
          <a:bodyPr vert="horz" wrap="square" lIns="38100" tIns="25400" rIns="38100" bIns="25400" rtlCol="0">
            <a:spAutoFit/>
          </a:bodyPr>
          <a:lstStyle/>
          <a:p>
            <a:pPr algn="r" rtl="1">
              <a:spcAft>
                <a:spcPts val="400"/>
              </a:spcAft>
            </a:pPr>
            <a:r>
              <a:rPr lang="en-US" sz="1000">
                <a:solidFill>
                  <a:srgbClr val="6C6570"/>
                </a:solidFill>
                <a:latin typeface="Arial" panose="020B0604020202020204" pitchFamily="34" charset="0"/>
                <a:cs typeface="Arial" panose="020B0604020202020204" pitchFamily="34" charset="0"/>
              </a:rPr>
              <a:t>E06: screenshot_manifest.json؛ database_unchanged=true؛ </a:t>
            </a:r>
            <a:r>
              <a:rPr lang="ar-SA" sz="1000">
                <a:solidFill>
                  <a:srgbClr val="6C6570"/>
                </a:solidFill>
                <a:latin typeface="Arial" panose="020B0604020202020204" pitchFamily="34" charset="0"/>
                <a:cs typeface="Arial" panose="020B0604020202020204" pitchFamily="34" charset="0"/>
              </a:rPr>
              <a:t>لا تأكيد أو إلغاء أثناء التصوير</a:t>
            </a:r>
            <a:endParaRPr lang="en-US" sz="1000">
              <a:solidFill>
                <a:srgbClr val="6C657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289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3994</Words>
  <Application>Microsoft Office PowerPoint</Application>
  <PresentationFormat>Custom</PresentationFormat>
  <Paragraphs>403</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Reema Abdulaziz</dc:creator>
  <cp:lastModifiedBy>Reema Abdulaziz</cp:lastModifiedBy>
  <cp:revision>1</cp:revision>
  <dcterms:created xsi:type="dcterms:W3CDTF">2026-10-22T03:46:51Z</dcterms:created>
  <dcterms:modified xsi:type="dcterms:W3CDTF">2026-10-22T03:46:51Z</dcterms:modified>
</cp:coreProperties>
</file>